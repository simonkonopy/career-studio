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f93af4ca714778" /><Relationship Type="http://schemas.openxmlformats.org/officeDocument/2006/relationships/extended-properties" Target="/docProps/app.xml" Id="R9eeb449f5697489d" /><Relationship Type="http://schemas.openxmlformats.org/officeDocument/2006/relationships/officeDocument" Target="/ppt/presentation.xml" Id="R87a465fe7d8c4a60" /></Relationships>
</file>

<file path=ppt/presentation.xml><?xml version="1.0" encoding="utf-8"?>
<p:presentation xmlns:p="http://schemas.openxmlformats.org/presentationml/2006/main">
  <p:sldMasterIdLst>
    <p:sldMasterId xmlns:r="http://schemas.openxmlformats.org/officeDocument/2006/relationships" id="2147483648" r:id="R5ea96c2c42bd43fa"/>
  </p:sldMasterIdLst>
  <p:notesMasterIdLst>
    <p:notesMasterId xmlns:r="http://schemas.openxmlformats.org/officeDocument/2006/relationships" r:id="Rf23b25b3b74a454e"/>
  </p:notesMasterIdLst>
  <p:sldIdLst>
    <p:sldId xmlns:r="http://schemas.openxmlformats.org/officeDocument/2006/relationships" id="256" r:id="R16bf381af4c440de"/>
    <p:sldId xmlns:r="http://schemas.openxmlformats.org/officeDocument/2006/relationships" id="257" r:id="R0c9837258fff4cd5"/>
    <p:sldId xmlns:r="http://schemas.openxmlformats.org/officeDocument/2006/relationships" id="258" r:id="R33f51b1ff6bc47f1"/>
    <p:sldId xmlns:r="http://schemas.openxmlformats.org/officeDocument/2006/relationships" id="259" r:id="R34408b22c2314731"/>
    <p:sldId xmlns:r="http://schemas.openxmlformats.org/officeDocument/2006/relationships" id="260" r:id="R42700fbe2ffa48d5"/>
    <p:sldId xmlns:r="http://schemas.openxmlformats.org/officeDocument/2006/relationships" id="261" r:id="Rbe757ffcf43349bd"/>
    <p:sldId xmlns:r="http://schemas.openxmlformats.org/officeDocument/2006/relationships" id="262" r:id="R9753921ce29f4089"/>
    <p:sldId xmlns:r="http://schemas.openxmlformats.org/officeDocument/2006/relationships" id="263" r:id="R53ac3cd39d2c49ef"/>
    <p:sldId xmlns:r="http://schemas.openxmlformats.org/officeDocument/2006/relationships" id="264" r:id="R1c3521340b0f40c1"/>
    <p:sldId xmlns:r="http://schemas.openxmlformats.org/officeDocument/2006/relationships" id="265" r:id="R64fbfcadef7a47b9"/>
    <p:sldId xmlns:r="http://schemas.openxmlformats.org/officeDocument/2006/relationships" id="266" r:id="R267550585ea94aee"/>
    <p:sldId xmlns:r="http://schemas.openxmlformats.org/officeDocument/2006/relationships" id="267" r:id="Rb07b7e71a36f4159"/>
    <p:sldId xmlns:r="http://schemas.openxmlformats.org/officeDocument/2006/relationships" id="268" r:id="R29d86e152a744b70"/>
    <p:sldId xmlns:r="http://schemas.openxmlformats.org/officeDocument/2006/relationships" id="269" r:id="Rf4869114cb624756"/>
    <p:sldId xmlns:r="http://schemas.openxmlformats.org/officeDocument/2006/relationships" id="270" r:id="Rd330ddc815b34f32"/>
    <p:sldId xmlns:r="http://schemas.openxmlformats.org/officeDocument/2006/relationships" id="271" r:id="Rca8ea66add184f19"/>
    <p:sldId xmlns:r="http://schemas.openxmlformats.org/officeDocument/2006/relationships" id="272" r:id="R2362250097fa4e40"/>
    <p:sldId xmlns:r="http://schemas.openxmlformats.org/officeDocument/2006/relationships" id="273" r:id="R4d9044d03d5143d1"/>
    <p:sldId xmlns:r="http://schemas.openxmlformats.org/officeDocument/2006/relationships" id="274" r:id="R77397d3cb7064854"/>
    <p:sldId xmlns:r="http://schemas.openxmlformats.org/officeDocument/2006/relationships" id="275" r:id="R1b791fe482e84f58"/>
    <p:sldId xmlns:r="http://schemas.openxmlformats.org/officeDocument/2006/relationships" id="276" r:id="Re19d9ef4dbce44b3"/>
    <p:sldId xmlns:r="http://schemas.openxmlformats.org/officeDocument/2006/relationships" id="277" r:id="R5384c3c29c05424e"/>
    <p:sldId xmlns:r="http://schemas.openxmlformats.org/officeDocument/2006/relationships" id="278" r:id="R14e187caf7ea4c34"/>
    <p:sldId xmlns:r="http://schemas.openxmlformats.org/officeDocument/2006/relationships" id="279" r:id="R9cd71e715f604d66"/>
    <p:sldId xmlns:r="http://schemas.openxmlformats.org/officeDocument/2006/relationships" id="280" r:id="Rf706cd5f1488478c"/>
    <p:sldId xmlns:r="http://schemas.openxmlformats.org/officeDocument/2006/relationships" id="281" r:id="R519306b4e62e4e34"/>
    <p:sldId xmlns:r="http://schemas.openxmlformats.org/officeDocument/2006/relationships" id="282" r:id="R3be72427c90c42d9"/>
    <p:sldId xmlns:r="http://schemas.openxmlformats.org/officeDocument/2006/relationships" id="283" r:id="R683cb8cef2cd4ee6"/>
    <p:sldId xmlns:r="http://schemas.openxmlformats.org/officeDocument/2006/relationships" id="284" r:id="R98d6aea9b02a40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0865eb239df47ed" /><Relationship Type="http://schemas.openxmlformats.org/officeDocument/2006/relationships/slideMaster" Target="/ppt/slideMasters/slideMaster1.xml" Id="R5ea96c2c42bd43fa" /><Relationship Type="http://schemas.openxmlformats.org/officeDocument/2006/relationships/notesMaster" Target="/ppt/notesMasters/notesMaster1.xml" Id="Rf23b25b3b74a454e" /><Relationship Type="http://schemas.openxmlformats.org/officeDocument/2006/relationships/presProps" Target="/ppt/presProps.xml" Id="R6290cc93bc13435a" /><Relationship Type="http://schemas.openxmlformats.org/officeDocument/2006/relationships/viewProps" Target="/ppt/viewProps.xml" Id="R0f70cbff36f54b45" /><Relationship Type="http://schemas.openxmlformats.org/officeDocument/2006/relationships/tableStyles" Target="/ppt/tableStyles.xml" Id="Rac57913cb2064070" /><Relationship Type="http://schemas.openxmlformats.org/officeDocument/2006/relationships/slide" Target="/ppt/slides/slide1.xml" Id="R16bf381af4c440de" /><Relationship Type="http://schemas.openxmlformats.org/officeDocument/2006/relationships/slide" Target="/ppt/slides/slide2.xml" Id="R0c9837258fff4cd5" /><Relationship Type="http://schemas.openxmlformats.org/officeDocument/2006/relationships/slide" Target="/ppt/slides/slide3.xml" Id="R33f51b1ff6bc47f1" /><Relationship Type="http://schemas.openxmlformats.org/officeDocument/2006/relationships/slide" Target="/ppt/slides/slide4.xml" Id="R34408b22c2314731" /><Relationship Type="http://schemas.openxmlformats.org/officeDocument/2006/relationships/slide" Target="/ppt/slides/slide5.xml" Id="R42700fbe2ffa48d5" /><Relationship Type="http://schemas.openxmlformats.org/officeDocument/2006/relationships/slide" Target="/ppt/slides/slide6.xml" Id="Rbe757ffcf43349bd" /><Relationship Type="http://schemas.openxmlformats.org/officeDocument/2006/relationships/slide" Target="/ppt/slides/slide7.xml" Id="R9753921ce29f4089" /><Relationship Type="http://schemas.openxmlformats.org/officeDocument/2006/relationships/slide" Target="/ppt/slides/slide8.xml" Id="R53ac3cd39d2c49ef" /><Relationship Type="http://schemas.openxmlformats.org/officeDocument/2006/relationships/slide" Target="/ppt/slides/slide9.xml" Id="R1c3521340b0f40c1" /><Relationship Type="http://schemas.openxmlformats.org/officeDocument/2006/relationships/slide" Target="/ppt/slides/slide10.xml" Id="R64fbfcadef7a47b9" /><Relationship Type="http://schemas.openxmlformats.org/officeDocument/2006/relationships/slide" Target="/ppt/slides/slide11.xml" Id="R267550585ea94aee" /><Relationship Type="http://schemas.openxmlformats.org/officeDocument/2006/relationships/slide" Target="/ppt/slides/slide12.xml" Id="Rb07b7e71a36f4159" /><Relationship Type="http://schemas.openxmlformats.org/officeDocument/2006/relationships/slide" Target="/ppt/slides/slide13.xml" Id="R29d86e152a744b70" /><Relationship Type="http://schemas.openxmlformats.org/officeDocument/2006/relationships/slide" Target="/ppt/slides/slide14.xml" Id="Rf4869114cb624756" /><Relationship Type="http://schemas.openxmlformats.org/officeDocument/2006/relationships/slide" Target="/ppt/slides/slide15.xml" Id="Rd330ddc815b34f32" /><Relationship Type="http://schemas.openxmlformats.org/officeDocument/2006/relationships/slide" Target="/ppt/slides/slide16.xml" Id="Rca8ea66add184f19" /><Relationship Type="http://schemas.openxmlformats.org/officeDocument/2006/relationships/slide" Target="/ppt/slides/slide17.xml" Id="R2362250097fa4e40" /><Relationship Type="http://schemas.openxmlformats.org/officeDocument/2006/relationships/slide" Target="/ppt/slides/slide18.xml" Id="R4d9044d03d5143d1" /><Relationship Type="http://schemas.openxmlformats.org/officeDocument/2006/relationships/slide" Target="/ppt/slides/slide19.xml" Id="R77397d3cb7064854" /><Relationship Type="http://schemas.openxmlformats.org/officeDocument/2006/relationships/slide" Target="/ppt/slides/slide20.xml" Id="R1b791fe482e84f58" /><Relationship Type="http://schemas.openxmlformats.org/officeDocument/2006/relationships/slide" Target="/ppt/slides/slide21.xml" Id="Re19d9ef4dbce44b3" /><Relationship Type="http://schemas.openxmlformats.org/officeDocument/2006/relationships/slide" Target="/ppt/slides/slide22.xml" Id="R5384c3c29c05424e" /><Relationship Type="http://schemas.openxmlformats.org/officeDocument/2006/relationships/slide" Target="/ppt/slides/slide23.xml" Id="R14e187caf7ea4c34" /><Relationship Type="http://schemas.openxmlformats.org/officeDocument/2006/relationships/slide" Target="/ppt/slides/slide24.xml" Id="R9cd71e715f604d66" /><Relationship Type="http://schemas.openxmlformats.org/officeDocument/2006/relationships/slide" Target="/ppt/slides/slide25.xml" Id="Rf706cd5f1488478c" /><Relationship Type="http://schemas.openxmlformats.org/officeDocument/2006/relationships/slide" Target="/ppt/slides/slide26.xml" Id="R519306b4e62e4e34" /><Relationship Type="http://schemas.openxmlformats.org/officeDocument/2006/relationships/slide" Target="/ppt/slides/slide27.xml" Id="R3be72427c90c42d9" /><Relationship Type="http://schemas.openxmlformats.org/officeDocument/2006/relationships/slide" Target="/ppt/slides/slide28.xml" Id="R683cb8cef2cd4ee6" /><Relationship Type="http://schemas.openxmlformats.org/officeDocument/2006/relationships/slide" Target="/ppt/slides/slide29.xml" Id="R98d6aea9b02a40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25a0b7f64f4d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31a119cd054d50" /><Relationship Type="http://schemas.openxmlformats.org/officeDocument/2006/relationships/notesMaster" Target="/ppt/notesMasters/notesMaster1.xml" Id="R326c764ba83648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e217034850412d" /><Relationship Type="http://schemas.openxmlformats.org/officeDocument/2006/relationships/notesMaster" Target="/ppt/notesMasters/notesMaster1.xml" Id="R1b11bda609e045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837f6bc12a428e" /><Relationship Type="http://schemas.openxmlformats.org/officeDocument/2006/relationships/notesMaster" Target="/ppt/notesMasters/notesMaster1.xml" Id="R6b2afe4cff634c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f5bc6771e44e75" /><Relationship Type="http://schemas.openxmlformats.org/officeDocument/2006/relationships/notesMaster" Target="/ppt/notesMasters/notesMaster1.xml" Id="R05b374680c734d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f8427079e94cee" /><Relationship Type="http://schemas.openxmlformats.org/officeDocument/2006/relationships/notesMaster" Target="/ppt/notesMasters/notesMaster1.xml" Id="R92c46a81078943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aac30726cd4654" /><Relationship Type="http://schemas.openxmlformats.org/officeDocument/2006/relationships/notesMaster" Target="/ppt/notesMasters/notesMaster1.xml" Id="R3296a949fb3643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976c43e4814851" /><Relationship Type="http://schemas.openxmlformats.org/officeDocument/2006/relationships/notesMaster" Target="/ppt/notesMasters/notesMaster1.xml" Id="R174a3a00106c4d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5fd849dbca4a76" /><Relationship Type="http://schemas.openxmlformats.org/officeDocument/2006/relationships/notesMaster" Target="/ppt/notesMasters/notesMaster1.xml" Id="Re663fc52308d42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08e9023c8d4642" /><Relationship Type="http://schemas.openxmlformats.org/officeDocument/2006/relationships/notesMaster" Target="/ppt/notesMasters/notesMaster1.xml" Id="Ra11d1fbf8ec14c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8baf503b9a49b4" /><Relationship Type="http://schemas.openxmlformats.org/officeDocument/2006/relationships/notesMaster" Target="/ppt/notesMasters/notesMaster1.xml" Id="Rdd08700191e84c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2550acb15140f9" /><Relationship Type="http://schemas.openxmlformats.org/officeDocument/2006/relationships/notesMaster" Target="/ppt/notesMasters/notesMaster1.xml" Id="R615edcbf0d4745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2fc1da54e44361" /><Relationship Type="http://schemas.openxmlformats.org/officeDocument/2006/relationships/notesMaster" Target="/ppt/notesMasters/notesMaster1.xml" Id="R2802e629b9e249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d4eddb413640b3" /><Relationship Type="http://schemas.openxmlformats.org/officeDocument/2006/relationships/notesMaster" Target="/ppt/notesMasters/notesMaster1.xml" Id="R69583173e4ba45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82cf945bf24844" /><Relationship Type="http://schemas.openxmlformats.org/officeDocument/2006/relationships/notesMaster" Target="/ppt/notesMasters/notesMaster1.xml" Id="R7a41785c2c2b48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c827ad711945fe" /><Relationship Type="http://schemas.openxmlformats.org/officeDocument/2006/relationships/notesMaster" Target="/ppt/notesMasters/notesMaster1.xml" Id="Rfe35fa3ae0054e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7abe9779634bcf" /><Relationship Type="http://schemas.openxmlformats.org/officeDocument/2006/relationships/notesMaster" Target="/ppt/notesMasters/notesMaster1.xml" Id="R766c3b3e3bc442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e5117810b443ef" /><Relationship Type="http://schemas.openxmlformats.org/officeDocument/2006/relationships/notesMaster" Target="/ppt/notesMasters/notesMaster1.xml" Id="R641fb1a6f8334b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8c129c0d24472b" /><Relationship Type="http://schemas.openxmlformats.org/officeDocument/2006/relationships/notesMaster" Target="/ppt/notesMasters/notesMaster1.xml" Id="R2738262fa66241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f21408cfb2426a" /><Relationship Type="http://schemas.openxmlformats.org/officeDocument/2006/relationships/notesMaster" Target="/ppt/notesMasters/notesMaster1.xml" Id="R06c4f8f8e65749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9f55b28bf0430e" /><Relationship Type="http://schemas.openxmlformats.org/officeDocument/2006/relationships/notesMaster" Target="/ppt/notesMasters/notesMaster1.xml" Id="R82de87bbaf3943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90db4f3aef4f07" /><Relationship Type="http://schemas.openxmlformats.org/officeDocument/2006/relationships/notesMaster" Target="/ppt/notesMasters/notesMaster1.xml" Id="Rc5425482820948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feab28d3524d5a" /><Relationship Type="http://schemas.openxmlformats.org/officeDocument/2006/relationships/notesMaster" Target="/ppt/notesMasters/notesMaster1.xml" Id="R069cf82c940f46b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dd1786da67434e" /><Relationship Type="http://schemas.openxmlformats.org/officeDocument/2006/relationships/notesMaster" Target="/ppt/notesMasters/notesMaster1.xml" Id="R359bc686e9cc47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08b0d8142d74950" /><Relationship Type="http://schemas.openxmlformats.org/officeDocument/2006/relationships/notesMaster" Target="/ppt/notesMasters/notesMaster1.xml" Id="R45a0e3bed41b41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2cde12c2b614cea" /><Relationship Type="http://schemas.openxmlformats.org/officeDocument/2006/relationships/notesMaster" Target="/ppt/notesMasters/notesMaster1.xml" Id="Rc0d6f4b3e4184d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ef10a1e9b24dda" /><Relationship Type="http://schemas.openxmlformats.org/officeDocument/2006/relationships/notesMaster" Target="/ppt/notesMasters/notesMaster1.xml" Id="R1e11d92c9d1b46a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b6365ee10b49e4" /><Relationship Type="http://schemas.openxmlformats.org/officeDocument/2006/relationships/notesMaster" Target="/ppt/notesMasters/notesMaster1.xml" Id="R379fa9d23e184b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e30101ca5404b1b" /><Relationship Type="http://schemas.openxmlformats.org/officeDocument/2006/relationships/notesMaster" Target="/ppt/notesMasters/notesMaster1.xml" Id="Rcea94aa4e19d45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1a3c2dbb08e49bd" /><Relationship Type="http://schemas.openxmlformats.org/officeDocument/2006/relationships/notesMaster" Target="/ppt/notesMasters/notesMaster1.xml" Id="Rf597c35e69b74b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docs/OPERATIONS.md; docs/ENGINEERING_HANDOFF.md; docs/SALES_PLAYBOOK.md. The accepted launch model uses the operator’s OpenAI API account. Customer subscription linking is deferred. The current deck preserves 29 slides: navigation on 2–3, product and customer experience on 4–13, implementation and launch on 14–22, pilot and selling plan on 23–29. The September 9 clarification makes every entered skill, including custom skills, part of the detailed interview.</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slide added in this version. It tells each of the two readers which slides to read first and which guide to open, so a new reader is never left guessing where to start.</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slide added in this version. It sets the three-part shape of the deck and the slide range for each part, so a reader can jump straight to the part they need.</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slide added in this version. It opens Part 1 and lists the slides in it, so the reader can see the product story as one block.</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User product brief and September 9, 2026 clarification; README.md; docs/SALES_PLAYBOOK.md. This is the founder’s problem hypothesis and proposed positioning, not a measured market finding. Excel illustrated the original requirement. Any entered skill is in scope, with AI, accounting and programming explicitly named by the founder. No customer traction, revenue, or hiring outcomes have been established. Suggested spoken pitch: “Start with your resume or a blank page. We ask what you actually did for every skill you add, help you build a resume you can explain, and keep your job search organized.”</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docs/SALES_PLAYBOOK.md, “Why the workflow matters” and the objection “Why not just use ChatGPT?”. The slide compares workflow choices and states the intended advantage as a pilot hypothesis. Capabilities differ across chat, resume and job-search products. Do not claim they cannot ask follow-ups, retain information or compare job requirements. No comparative study or proven superiority exists. Honest answer: “You can use ChatGPT directly. We are testing whether this structure saves enough effort to be worth paying for.”</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Customer journey; public/app.js; lib/resume-model.js; lib/ai.js. Supported upload formats are text-based PDF, DOCX and TXT. Scanned/image-only resumes require manual text or a future OCR feature. Import and AI outputs remain subject to customer review.</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Actual localhost /demo screenshot; public/app.js demoActivity; public/demo.js. Jamie Morgan and all employers/openings are fictional. The demo uses in-memory data and makes no /api requests. Reload restores the sample. Real customer records require authentication and persist in SQLite. Demo: http://127.0.0.1:4174/demo while the local server is running.</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User clarification, September 9, 2026; lib/resume-model.js skill task catalog and custom skill support; lib/ai.js interview instructions; public/app.js skill interview. Excel is one example, not the product’s scope. For all entered or imported skills, ask about specific tasks, tools, independence or assistance, recent use, scale, outcomes and a concrete example. Ask relevant follow-ups in manageable steps. A person can use AI well without independently knowing the underlying programming or accounting task. Preserve both capabilities accurately. Assistance may come from a colleague, documentation or AI. Self-reported levels are not certified assessments. These questions are illustrative, not facts about Jamie.</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Actual /demo interview screenshot; public/app.js skill chooser; lib/ai.js interview and applyProposals; server.js proposal routes. Select an entered skill or type another skill for detailed follow-ups. AI, accounting and programming quick examples make the breadth visible. Choosing an example starts a question and does not save a profile claim. Demo replies are scripted. The real adapter sends consented career context to OpenAI and returns structured proposed changes with evidence. Separate independent work, assisted work and learning for each task, with recent examples. Customers accept or reject each suggestion. Validation checks allowed fields, supporting quotes and revisions. Human review is still required. Accepting a suggestion marks the profile unreviewed. Review again before generating a resume.</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Actual /demo resume screenshot; server.js resume routes; lib/documents.js; public/app.js. The authenticated product exports approved versions to DOCX and supports browser print/PDF. The demo substitutes a local sample text download. Approved versions cannot be overwritten. Tailoring draws on the reviewed profile and remains a draft. Demo tailoring is simulated. No ATS performance or hiring outcome guarantee.</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Actual /demo job review screenshot; lib/ai.js assess; lib/jobs.js. “Job review” is the product’s own term for comparing a posting with the reviewed profile; it is not an employer review. Fictional listings have no apply URLs. Real discovery currently uses public Remotive remote postings and user-pasted job descriptions, not a comprehensive local job index. Source conditions checked September 8, 2026: https://github.com/remotive-com/remote-jobs-api . Public feed has source-link/attribution requirements and a 24-hour delay. Keep public access. Relevance is not employer eligibility verification.</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Actual /demo applications screenshot; server.js application routes; lib/store.js. Stages represent customer-entered progress. The product does not submit applications, email employers or verify that an application occurred. External actions need separate authorization and are outside the current build.</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slide added in this version. It opens Part 2 and lists the build-and-run slides, the block the next engineer should read closely.</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docs/OPERATIONS.md; docs/ENGINEERING_HANDOFF.md; tests/*.test.js. The automated suite passed on September 9, 2026. See docs/ENGINEERING_HANDOFF.md for the current test count and validation details. AI tests use a mock provider. The included Dockerfile and CI workflow require execution in the destination environment. Tests do not certify production security or commercial readiness. Authentication currently uses passwords and one-time recovery codes, with unverified email identifiers.</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Chosen product model; docs/ENGINEERING_HANDOFF.md launch gates. Sequence represents dependency gates, not promised dates or engineering estimates. User accepted the staged product-funded API approach after discussing subscription linking. Customer API keys and ChatGPT subscriptions are not launch prerequisites.</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docs/OPERATIONS.md. Official integration status checked September 8, 2026: https://learn.chatgpt.com/docs/app-server describes embedding, but labels app-server and WebSocket experimental and unsupported for production workloads. https://learn.chatgpt.com/docs/auth documents authentication. The proposed link is a research track, not a production-approved integration. Never collect OpenAI passwords, browser cookies or copied tokens. Do not silently switch a connected customer to billed API usage.</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server.js; lib/store.js; lib/ai.js; lib/jobs.js; public/app.js; public/demo.js. Customer browser sends authenticated HTTPS requests to the product server. The server queries owner-scoped rows and makes bounded provider calls. Imported documents are processed by workers in lib/documents.js. SQLite schema version 2 and file-backed quotas assume one app process. AI is stateless at the provider interface, with product-owned conversation persistence.</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docs/ENGINEERING_HANDOFF.md. Paths are relative to product/ after it becomes the new repository root. Each row points to code, not a new implementation task. Additional operations instructions: docs/OPERATIONS.md.</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lib/auth.js; lib/store.js; lib/ai.js; server.js; tests/server.test.js and tests/ai.test.js. Also preserve prompt-injection boundaries: uploads and job postings are untrusted data, not instructions or authority. Best-effort redaction does not anonymize career history. Never expose secrets, raw provider errors or resume contents in diagnostics.</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docs/OPERATIONS.md; Dockerfile; .env.example; scripts/backup.js. Use Node 24 or newer. Production requires an HTTPS APP_ORIGIN, a pilot invitation code at least 16 characters, and exact trusted proxy IPs. Preserve Host/Origin. Proxy must overwrite X-Forwarded-For with one actual client IP. Bind app port privately. Default daily attempt limits are 40 per customer, 400 service-wide, and 3 concurrent AI requests. They are not a dollar-spend cap. Backups need scheduling, encryption, off-host transfer, retention and restore testing.</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docs/ENGINEERING_HANDOFF.md contains eight detailed launch gates with acceptance criteria and owners. This slide groups them into four milestones. Founder owns commercial, source and privacy decisions. Engineer owns implementation and technical verification. No dates are committed.</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slide added in this version. It opens Part 3 and lists the pilot and commercial slides, the block the product owner has to decide on.</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docs/OPERATIONS.md (AI_DAILY_LIMIT 40, AI_GLOBAL_DAILY_LIMIT 400, AI_CONCURRENCY 3; attempt counts are not dollar caps); docs/ENGINEERING_HANDOFF.md job-discovery boundary and gate 6 measures; docs/SALES_PLAYBOOK.md friction review after three participants and the claim-accuracy measure. These are the founder’s current assessment, not a formal risk register. Add an owner and a numeric threshold to each risk before the cohort starts. Single-process hosting is a known constraint covered on slide 21, not a pilot risk.</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docs/SALES_PLAYBOOK.md. Proposed experiment, not validated market demand or committed partnership. Begin live customer intake only after pilot readiness and privacy gates. Avoid mass outreach. The current remote-only feed may not serve local operations roles well, so test user-pasted postings and evaluate licensed local coverage. Accessible onboarding, mobile usability and support effort belong in pilot research.</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docs/SALES_PLAYBOOK.md for the full five-minute demo and discovery questions. Open /demo, use Reset demo, and disclose that Jamie, jobs and interview replies are fictional/scripted. Show the skill chooser and an example such as AI, accounting or programming. The same process applies to every entered skill, including custom skills. Example prompts start questions and never save claims automatically. Show tasks, tools, assistance and evidence. The initial Excel suggestion remains an independent-versus-assisted example. Accept that supported suggestion, then use Your story &gt; Review &gt; accuracy checkbox &gt; Save before another assessment. Show an approved resume and application note. Ask what the customer would use again and propose observing a pilot session after readiness gates. Never present a sample job as an opening or offer application submission.</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docs/SALES_PLAYBOOK.md pricing hypotheses table. These are proposed packaging experiments, not established pricing. Compare willingness to pay with measured contribution margin: collected revenue less AI, job-data, processing, hosting allocation, payment fees and support costs. Set actual prices only after measuring representative heavy use and failure/retry costs. Preserve export and customer access expectations. Do not claim unlimited AI, comprehensive jobs or guaranteed interviews.</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docs/SALES_PLAYBOOK.md. Metrics are proposed instrumentation and research measures, not current product analytics. Set targets before the cohort. Collect metadata and consented feedback instead of raw resume text in analytics. Track sample size and denominators. Application/interview outcomes are customer-reported and cannot establish causal hiring impact in a small pilot.</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scope: README.md; docs/ENGINEERING_HANDOFF.md; docs/OPERATIONS.md; docs/SALES_PLAYBOOK.md. Begin by unpacking career-studio-source.zip into a fresh private repository with new history. Do not transfer the parent personal job-search repository or its Git history. Run npm ci, copy .env.example to private .env, npm run check, npm test and npm start. Browser tests require Chromium or CHROMIUM_PATH. /demo needs no account or provider key. Then complete the engineering handoff launch gates. Full guides accompany this deck under docs/. No GitHub transfer or server deployment has occurred as part of deck creation.</a:t>
            </a:r>
            <a:endParaRPr/>
          </a:p>
          <a:p xmlns:a="http://schemas.openxmlformats.org/drawingml/2006/main">
            <a:r>
              <a:t>Product scope updated September 9, 2026. Dated integration checks retain their original review dates. Product paths are relative to the new repository root. Screenshots show fictional demo data, with scripted AI. This deck describes a pilot foundation, not a paid production 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a797be131f43d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368fb114c4760" /><Relationship Type="http://schemas.openxmlformats.org/officeDocument/2006/relationships/slideLayout" Target="/ppt/slideLayouts/slideLayout1.xml" Id="Red4f7202e767404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4f7202e767404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29f66b7c724010" /><Relationship Type="http://schemas.openxmlformats.org/officeDocument/2006/relationships/image" Target="/ppt/media/image.jpeg" Id="Reac895e7739a4104" /><Relationship Type="http://schemas.openxmlformats.org/officeDocument/2006/relationships/notesSlide" Target="/ppt/notesSlides/notesSlide1.xml" Id="Rf937bd917c1541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e4500aa7c1497d" /><Relationship Type="http://schemas.openxmlformats.org/officeDocument/2006/relationships/notesSlide" Target="/ppt/notesSlides/notesSlide2.xml" Id="R091f8d2cbee045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8156efafce4c95" /><Relationship Type="http://schemas.openxmlformats.org/officeDocument/2006/relationships/notesSlide" Target="/ppt/notesSlides/notesSlide3.xml" Id="R61da5325cfd64c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6eadeca6a4478a" /><Relationship Type="http://schemas.openxmlformats.org/officeDocument/2006/relationships/image" Target="/ppt/media/image2.jpeg" Id="R349df7caa24a414d" /><Relationship Type="http://schemas.openxmlformats.org/officeDocument/2006/relationships/notesSlide" Target="/ppt/notesSlides/notesSlide4.xml" Id="R490ba7a28a7646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3d62d2b1b34bb3" /><Relationship Type="http://schemas.openxmlformats.org/officeDocument/2006/relationships/notesSlide" Target="/ppt/notesSlides/notesSlide5.xml" Id="R6ec9c9bbfe4948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8061c3c50f4d18" /><Relationship Type="http://schemas.openxmlformats.org/officeDocument/2006/relationships/notesSlide" Target="/ppt/notesSlides/notesSlide6.xml" Id="Rf973c57603be40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a25c873d3f4471" /><Relationship Type="http://schemas.openxmlformats.org/officeDocument/2006/relationships/notesSlide" Target="/ppt/notesSlides/notesSlide7.xml" Id="R24d2311cc43c48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f52b0e7b4345da" /><Relationship Type="http://schemas.openxmlformats.org/officeDocument/2006/relationships/image" Target="/ppt/media/image.png" Id="Ra835b90375614544" /><Relationship Type="http://schemas.openxmlformats.org/officeDocument/2006/relationships/notesSlide" Target="/ppt/notesSlides/notesSlide8.xml" Id="R56b6e52f1f3a4e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7dc0af47384512" /><Relationship Type="http://schemas.openxmlformats.org/officeDocument/2006/relationships/notesSlide" Target="/ppt/notesSlides/notesSlide9.xml" Id="R3fc4cbff4e4243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3435d156c44104" /><Relationship Type="http://schemas.openxmlformats.org/officeDocument/2006/relationships/image" Target="/ppt/media/image2.png" Id="Re691e25b2c7247fb" /><Relationship Type="http://schemas.openxmlformats.org/officeDocument/2006/relationships/notesSlide" Target="/ppt/notesSlides/notesSlide10.xml" Id="Rbde80411ce6242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61bd164f1647f8" /><Relationship Type="http://schemas.openxmlformats.org/officeDocument/2006/relationships/image" Target="/ppt/media/image3.png" Id="R0d5b0904deeb4369" /><Relationship Type="http://schemas.openxmlformats.org/officeDocument/2006/relationships/notesSlide" Target="/ppt/notesSlides/notesSlide11.xml" Id="Rffe84dbbd2d34c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530adb39944603" /><Relationship Type="http://schemas.openxmlformats.org/officeDocument/2006/relationships/image" Target="/ppt/media/image4.png" Id="Ra2d452e2eede44f7" /><Relationship Type="http://schemas.openxmlformats.org/officeDocument/2006/relationships/notesSlide" Target="/ppt/notesSlides/notesSlide12.xml" Id="Rd34a506558b748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8a0d28d22824cff" /><Relationship Type="http://schemas.openxmlformats.org/officeDocument/2006/relationships/image" Target="/ppt/media/image5.png" Id="R27b7c11b11d844d3" /><Relationship Type="http://schemas.openxmlformats.org/officeDocument/2006/relationships/notesSlide" Target="/ppt/notesSlides/notesSlide13.xml" Id="R2ccdf178111d4b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18b607c7704c14" /><Relationship Type="http://schemas.openxmlformats.org/officeDocument/2006/relationships/image" Target="/ppt/media/image3.jpeg" Id="R9ffb050733bf4f49" /><Relationship Type="http://schemas.openxmlformats.org/officeDocument/2006/relationships/notesSlide" Target="/ppt/notesSlides/notesSlide14.xml" Id="Rfd5423d0a90d43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35e44a85f54a5a" /><Relationship Type="http://schemas.openxmlformats.org/officeDocument/2006/relationships/notesSlide" Target="/ppt/notesSlides/notesSlide15.xml" Id="R325a89703fe848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32844cf89ba4f90" /><Relationship Type="http://schemas.openxmlformats.org/officeDocument/2006/relationships/notesSlide" Target="/ppt/notesSlides/notesSlide16.xml" Id="R01b88b5fd44e44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25492cf40ce40b9" /><Relationship Type="http://schemas.openxmlformats.org/officeDocument/2006/relationships/notesSlide" Target="/ppt/notesSlides/notesSlide17.xml" Id="R6da2590ce74a47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ff081fd46d1477d" /><Relationship Type="http://schemas.openxmlformats.org/officeDocument/2006/relationships/notesSlide" Target="/ppt/notesSlides/notesSlide18.xml" Id="Rf052f1d177234c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94f3b570ad4352" /><Relationship Type="http://schemas.openxmlformats.org/officeDocument/2006/relationships/notesSlide" Target="/ppt/notesSlides/notesSlide19.xml" Id="Rf598f7f8a38f42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bd83b3ca7f4d75" /><Relationship Type="http://schemas.openxmlformats.org/officeDocument/2006/relationships/notesSlide" Target="/ppt/notesSlides/notesSlide20.xml" Id="R4db92b3d75f649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8d0cb80903645de" /><Relationship Type="http://schemas.openxmlformats.org/officeDocument/2006/relationships/notesSlide" Target="/ppt/notesSlides/notesSlide21.xml" Id="Ra0b727945df746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7ae7aa46a3a464c" /><Relationship Type="http://schemas.openxmlformats.org/officeDocument/2006/relationships/notesSlide" Target="/ppt/notesSlides/notesSlide22.xml" Id="Rb46c2c60520640e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3ece2c540a4482d" /><Relationship Type="http://schemas.openxmlformats.org/officeDocument/2006/relationships/image" Target="/ppt/media/image4.jpeg" Id="R8c3ee10f12ff4ddb" /><Relationship Type="http://schemas.openxmlformats.org/officeDocument/2006/relationships/notesSlide" Target="/ppt/notesSlides/notesSlide23.xml" Id="R43923c524a0349c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ceb788040fa4f29" /><Relationship Type="http://schemas.openxmlformats.org/officeDocument/2006/relationships/notesSlide" Target="/ppt/notesSlides/notesSlide24.xml" Id="R8cafe6d9bd8640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bcf2280702142b5" /><Relationship Type="http://schemas.openxmlformats.org/officeDocument/2006/relationships/notesSlide" Target="/ppt/notesSlides/notesSlide25.xml" Id="R9f0ff49a2aa543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00e987fdec24131" /><Relationship Type="http://schemas.openxmlformats.org/officeDocument/2006/relationships/notesSlide" Target="/ppt/notesSlides/notesSlide26.xml" Id="Rf69b15e35687444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c00f1b72dc4f52" /><Relationship Type="http://schemas.openxmlformats.org/officeDocument/2006/relationships/notesSlide" Target="/ppt/notesSlides/notesSlide27.xml" Id="R12dfdf4e05d0416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bc3702a316b4711" /><Relationship Type="http://schemas.openxmlformats.org/officeDocument/2006/relationships/notesSlide" Target="/ppt/notesSlides/notesSlide28.xml" Id="Re17a6ec0fade4f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5f73e8583094e30" /><Relationship Type="http://schemas.openxmlformats.org/officeDocument/2006/relationships/notesSlide" Target="/ppt/notesSlides/notesSlide29.xml" Id="R5aeb4760d6864b01" /></Relationships>
</file>

<file path=ppt/slides/slide1.xml><?xml version="1.0" encoding="utf-8"?>
<p:sld xmlns:p="http://schemas.openxmlformats.org/presentationml/2006/main">
  <p:cSld>
    <p:bg>
      <p:bgPr>
        <a:solidFill xmlns:a="http://schemas.openxmlformats.org/drawingml/2006/main">
          <a:srgbClr val="102D4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eac895e7739a4104"/>
          <a:srcRect xmlns:a="http://schemas.openxmlformats.org/drawingml/2006/main" l="0" t="0" r="0" b="0"/>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F34EA577-1B7A-49B4-9457-51DD01CFF5C8}"/>
              </a:ext>
            </a:extLst>
          </p:cNvPr>
          <p:cNvSpPr>
            <a:spLocks xmlns:a="http://schemas.openxmlformats.org/drawingml/2006/main" noGrp="1"/>
          </p:cNvSpPr>
          <p:nvPr/>
        </p:nvSpPr>
        <p:spPr>
          <a:xfrm xmlns:a="http://schemas.openxmlformats.org/drawingml/2006/main">
            <a:off x="822960" y="1417320"/>
            <a:ext cx="49377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5FC79E"/>
                </a:solidFill>
                <a:latin typeface="Helvetica Neue"/>
                <a:ea typeface="Helvetica Neue"/>
                <a:cs typeface="Helvetica Neue"/>
              </a:rPr>
              <a:t>CAREER STUDIO</a:t>
            </a:r>
            <a:endParaRPr sz="1200"/>
          </a:p>
        </p:txBody>
      </p:sp>
      <p:sp>
        <p:nvSpPr>
          <p:cNvPr id="5" name="Text 1">
            <a:extLst xmlns:a="http://schemas.openxmlformats.org/drawingml/2006/main">
              <a:ext uri="{FF2B5EF4-FFF2-40B4-BE49-F238E27FC236}">
                <a16:creationId xmlns:a16="http://schemas.microsoft.com/office/drawing/2014/main" id="{B00CBB1F-1123-4819-BA32-FC8F189CEE4A}"/>
              </a:ext>
            </a:extLst>
          </p:cNvPr>
          <p:cNvSpPr>
            <a:spLocks xmlns:a="http://schemas.openxmlformats.org/drawingml/2006/main" noGrp="1"/>
          </p:cNvSpPr>
          <p:nvPr/>
        </p:nvSpPr>
        <p:spPr>
          <a:xfrm xmlns:a="http://schemas.openxmlformats.org/drawingml/2006/main">
            <a:off x="822960" y="1847088"/>
            <a:ext cx="5852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rgbClr val="FFFFFF"/>
                </a:solidFill>
                <a:latin typeface="Helvetica Neue"/>
                <a:ea typeface="Helvetica Neue"/>
                <a:cs typeface="Helvetica Neue"/>
              </a:rPr>
              <a:t>Career Studio</a:t>
            </a:r>
            <a:endParaRPr sz="4400"/>
          </a:p>
        </p:txBody>
      </p:sp>
      <p:sp>
        <p:nvSpPr>
          <p:cNvPr id="6" name="Text 2">
            <a:extLst xmlns:a="http://schemas.openxmlformats.org/drawingml/2006/main">
              <a:ext uri="{FF2B5EF4-FFF2-40B4-BE49-F238E27FC236}">
                <a16:creationId xmlns:a16="http://schemas.microsoft.com/office/drawing/2014/main" id="{EE84B160-85C6-46BA-A759-6756A83A3465}"/>
              </a:ext>
            </a:extLst>
          </p:cNvPr>
          <p:cNvSpPr>
            <a:spLocks xmlns:a="http://schemas.openxmlformats.org/drawingml/2006/main" noGrp="1"/>
          </p:cNvSpPr>
          <p:nvPr/>
        </p:nvSpPr>
        <p:spPr>
          <a:xfrm xmlns:a="http://schemas.openxmlformats.org/drawingml/2006/main">
            <a:off x="822960" y="2578608"/>
            <a:ext cx="5852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rgbClr val="FFFFFF"/>
                </a:solidFill>
                <a:latin typeface="Helvetica Neue"/>
                <a:ea typeface="Helvetica Neue"/>
                <a:cs typeface="Helvetica Neue"/>
              </a:rPr>
              <a:t>Product handoff</a:t>
            </a:r>
            <a:endParaRPr sz="4400"/>
          </a:p>
        </p:txBody>
      </p:sp>
      <p:sp>
        <p:nvSpPr>
          <p:cNvPr id="7" name="Shape 3">
            <a:extLst xmlns:a="http://schemas.openxmlformats.org/drawingml/2006/main">
              <a:ext uri="{FF2B5EF4-FFF2-40B4-BE49-F238E27FC236}">
                <a16:creationId xmlns:a16="http://schemas.microsoft.com/office/drawing/2014/main" id="{15A0DDAB-7742-4115-8762-3D100002B00D}"/>
              </a:ext>
            </a:extLst>
          </p:cNvPr>
          <p:cNvSpPr>
            <a:spLocks xmlns:a="http://schemas.openxmlformats.org/drawingml/2006/main" noGrp="1"/>
          </p:cNvSpPr>
          <p:nvPr/>
        </p:nvSpPr>
        <p:spPr>
          <a:xfrm xmlns:a="http://schemas.openxmlformats.org/drawingml/2006/main">
            <a:off x="822960" y="3566160"/>
            <a:ext cx="2011680" cy="0"/>
          </a:xfrm>
          <a:prstGeom xmlns:a="http://schemas.openxmlformats.org/drawingml/2006/main" prst="line">
            <a:avLst/>
          </a:prstGeom>
          <a:noFill xmlns:a="http://schemas.openxmlformats.org/drawingml/2006/main"/>
          <a:ln xmlns:a="http://schemas.openxmlformats.org/drawingml/2006/main" w="25400">
            <a:solidFill>
              <a:srgbClr val="54667C"/>
            </a:solidFill>
            <a:prstDash val="solid"/>
          </a:ln>
        </p:spPr>
      </p:sp>
      <p:sp>
        <p:nvSpPr>
          <p:cNvPr id="8" name="Text 4">
            <a:extLst xmlns:a="http://schemas.openxmlformats.org/drawingml/2006/main">
              <a:ext uri="{FF2B5EF4-FFF2-40B4-BE49-F238E27FC236}">
                <a16:creationId xmlns:a16="http://schemas.microsoft.com/office/drawing/2014/main" id="{D1B64A5F-3448-4FF8-B00A-A68738666DFA}"/>
              </a:ext>
            </a:extLst>
          </p:cNvPr>
          <p:cNvSpPr>
            <a:spLocks xmlns:a="http://schemas.openxmlformats.org/drawingml/2006/main" noGrp="1"/>
          </p:cNvSpPr>
          <p:nvPr/>
        </p:nvSpPr>
        <p:spPr>
          <a:xfrm xmlns:a="http://schemas.openxmlformats.org/drawingml/2006/main">
            <a:off x="822960" y="3767328"/>
            <a:ext cx="5120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C6D5E8"/>
                </a:solidFill>
                <a:latin typeface="Helvetica Neue"/>
                <a:ea typeface="Helvetica Neue"/>
                <a:cs typeface="Helvetica Neue"/>
              </a:rPr>
              <a:t>Product pitch and launch plan</a:t>
            </a:r>
            <a:endParaRPr sz="1800"/>
          </a:p>
        </p:txBody>
      </p:sp>
      <p:sp>
        <p:nvSpPr>
          <p:cNvPr id="9" name="Text 5">
            <a:extLst xmlns:a="http://schemas.openxmlformats.org/drawingml/2006/main">
              <a:ext uri="{FF2B5EF4-FFF2-40B4-BE49-F238E27FC236}">
                <a16:creationId xmlns:a16="http://schemas.microsoft.com/office/drawing/2014/main" id="{A7DD4586-8870-4056-BC8A-104C87133964}"/>
              </a:ext>
            </a:extLst>
          </p:cNvPr>
          <p:cNvSpPr>
            <a:spLocks xmlns:a="http://schemas.openxmlformats.org/drawingml/2006/main" noGrp="1"/>
          </p:cNvSpPr>
          <p:nvPr/>
        </p:nvSpPr>
        <p:spPr>
          <a:xfrm xmlns:a="http://schemas.openxmlformats.org/drawingml/2006/main">
            <a:off x="822960" y="4169664"/>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8FA6C4"/>
                </a:solidFill>
                <a:latin typeface="Helvetica Neue"/>
                <a:ea typeface="Helvetica Neue"/>
                <a:cs typeface="Helvetica Neue"/>
              </a:rPr>
              <a:t>September 9, 2026</a:t>
            </a:r>
            <a:endParaRPr sz="1500"/>
          </a:p>
        </p:txBody>
      </p:sp>
      <p:sp>
        <p:nvSpPr>
          <p:cNvPr id="10" name="Text 6">
            <a:extLst xmlns:a="http://schemas.openxmlformats.org/drawingml/2006/main">
              <a:ext uri="{FF2B5EF4-FFF2-40B4-BE49-F238E27FC236}">
                <a16:creationId xmlns:a16="http://schemas.microsoft.com/office/drawing/2014/main" id="{DC4B4290-5C6E-4BA3-8642-C0B2C89782F1}"/>
              </a:ext>
            </a:extLst>
          </p:cNvPr>
          <p:cNvSpPr>
            <a:spLocks xmlns:a="http://schemas.openxmlformats.org/drawingml/2006/main" noGrp="1"/>
          </p:cNvSpPr>
          <p:nvPr/>
        </p:nvSpPr>
        <p:spPr>
          <a:xfrm xmlns:a="http://schemas.openxmlformats.org/drawingml/2006/main">
            <a:off x="822960" y="4517136"/>
            <a:ext cx="5120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8FA6C4"/>
                </a:solidFill>
                <a:latin typeface="Helvetica Neue"/>
                <a:ea typeface="Helvetica Neue"/>
                <a:cs typeface="Helvetica Neue"/>
              </a:rPr>
              <a:t>For the next engineer and product owner</a:t>
            </a:r>
            <a:endParaRPr sz="1500"/>
          </a:p>
        </p:txBody>
      </p:sp>
      <p:sp>
        <p:nvSpPr>
          <p:cNvPr id="11" name="Shape 7">
            <a:extLst xmlns:a="http://schemas.openxmlformats.org/drawingml/2006/main">
              <a:ext uri="{FF2B5EF4-FFF2-40B4-BE49-F238E27FC236}">
                <a16:creationId xmlns:a16="http://schemas.microsoft.com/office/drawing/2014/main" id="{844689C0-1280-4FE6-9B95-4F5AEA1C4B67}"/>
              </a:ext>
            </a:extLst>
          </p:cNvPr>
          <p:cNvSpPr>
            <a:spLocks xmlns:a="http://schemas.openxmlformats.org/drawingml/2006/main" noGrp="1"/>
          </p:cNvSpPr>
          <p:nvPr/>
        </p:nvSpPr>
        <p:spPr>
          <a:xfrm xmlns:a="http://schemas.openxmlformats.org/drawingml/2006/main">
            <a:off x="822960" y="5074920"/>
            <a:ext cx="1965960" cy="384048"/>
          </a:xfrm>
          <a:prstGeom xmlns:a="http://schemas.openxmlformats.org/drawingml/2006/main" prst="roundRect">
            <a:avLst>
              <a:gd name="adj" fmla="val 50000"/>
            </a:avLst>
          </a:prstGeom>
          <a:solidFill xmlns:a="http://schemas.openxmlformats.org/drawingml/2006/main">
            <a:srgbClr val="54667C"/>
          </a:solidFill>
          <a:ln xmlns:a="http://schemas.openxmlformats.org/drawingml/2006/main" w="12700">
            <a:solidFill>
              <a:srgbClr val="54667C"/>
            </a:solidFill>
            <a:prstDash val="solid"/>
          </a:ln>
        </p:spPr>
      </p:sp>
      <p:sp>
        <p:nvSpPr>
          <p:cNvPr id="12" name="Text 8">
            <a:extLst xmlns:a="http://schemas.openxmlformats.org/drawingml/2006/main">
              <a:ext uri="{FF2B5EF4-FFF2-40B4-BE49-F238E27FC236}">
                <a16:creationId xmlns:a16="http://schemas.microsoft.com/office/drawing/2014/main" id="{E172B19C-68B7-4A46-B6E6-956CE056188C}"/>
              </a:ext>
            </a:extLst>
          </p:cNvPr>
          <p:cNvSpPr>
            <a:spLocks xmlns:a="http://schemas.openxmlformats.org/drawingml/2006/main" noGrp="1"/>
          </p:cNvSpPr>
          <p:nvPr/>
        </p:nvSpPr>
        <p:spPr>
          <a:xfrm xmlns:a="http://schemas.openxmlformats.org/drawingml/2006/main">
            <a:off x="822960" y="5170932"/>
            <a:ext cx="1965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spc="100">
                <a:solidFill>
                  <a:srgbClr val="FFFFFF"/>
                </a:solidFill>
                <a:latin typeface="Helvetica Neue"/>
                <a:ea typeface="Helvetica Neue"/>
                <a:cs typeface="Helvetica Neue"/>
              </a:rPr>
              <a:t>Pilot foundation</a:t>
            </a:r>
            <a:endParaRPr sz="1200"/>
          </a:p>
        </p:txBody>
      </p:sp>
      <p:sp>
        <p:nvSpPr>
          <p:cNvPr id="13" name="Text 9">
            <a:extLst xmlns:a="http://schemas.openxmlformats.org/drawingml/2006/main">
              <a:ext uri="{FF2B5EF4-FFF2-40B4-BE49-F238E27FC236}">
                <a16:creationId xmlns:a16="http://schemas.microsoft.com/office/drawing/2014/main" id="{FE15E6DB-CD22-4B6F-91AA-5608E4EC4D35}"/>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FA6C4"/>
                </a:solidFill>
                <a:latin typeface="Helvetica Neue"/>
                <a:ea typeface="Helvetica Neue"/>
                <a:cs typeface="Helvetica Neue"/>
              </a:rPr>
              <a:t>Career Studio · Product handoff · September 9, 2026</a:t>
            </a:r>
            <a:endParaRPr sz="900"/>
          </a:p>
        </p:txBody>
      </p:sp>
      <p:sp>
        <p:nvSpPr>
          <p:cNvPr id="14" name="Text 10">
            <a:extLst xmlns:a="http://schemas.openxmlformats.org/drawingml/2006/main">
              <a:ext uri="{FF2B5EF4-FFF2-40B4-BE49-F238E27FC236}">
                <a16:creationId xmlns:a16="http://schemas.microsoft.com/office/drawing/2014/main" id="{1A70A8C7-D695-4457-BBE1-0092DAFB93E1}"/>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FA6C4"/>
                </a:solidFill>
                <a:latin typeface="Helvetica Neue"/>
                <a:ea typeface="Helvetica Neue"/>
                <a:cs typeface="Helvetica Neue"/>
              </a:rPr>
              <a:t>1 / 29</a:t>
            </a:r>
            <a:endParaRPr sz="900"/>
          </a:p>
        </p:txBody>
      </p:sp>
    </p:spTree>
    <p:extLst>
      <p:ext uri="{BB962C8B-B14F-4D97-AF65-F5344CB8AC3E}">
        <p14:creationId xmlns:p14="http://schemas.microsoft.com/office/powerpoint/2010/main" val="598405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CD74FA0-2949-4980-A1A5-357EB2FBBB9F}"/>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0B2545"/>
                </a:solidFill>
                <a:latin typeface="Helvetica Neue"/>
                <a:ea typeface="Helvetica Neue"/>
                <a:cs typeface="Helvetica Neue"/>
              </a:rPr>
              <a:t>CAREER STUDIO · PRODUCT HANDOFF</a:t>
            </a:r>
            <a:endParaRPr sz="1100"/>
          </a:p>
        </p:txBody>
      </p:sp>
      <p:sp>
        <p:nvSpPr>
          <p:cNvPr id="4" name="Shape 1">
            <a:extLst xmlns:a="http://schemas.openxmlformats.org/drawingml/2006/main">
              <a:ext uri="{FF2B5EF4-FFF2-40B4-BE49-F238E27FC236}">
                <a16:creationId xmlns:a16="http://schemas.microsoft.com/office/drawing/2014/main" id="{F6CD9909-7C46-4FDF-A978-7246BC192639}"/>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493B8075-7FE9-4B5E-B951-639D929E5F7E}"/>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7F3C00FF-A4F1-4AAF-893F-FD213D4C9328}"/>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Start here</a:t>
            </a:r>
            <a:endParaRPr sz="3000"/>
          </a:p>
        </p:txBody>
      </p:sp>
      <p:sp>
        <p:nvSpPr>
          <p:cNvPr id="7" name="Text 4">
            <a:extLst xmlns:a="http://schemas.openxmlformats.org/drawingml/2006/main">
              <a:ext uri="{FF2B5EF4-FFF2-40B4-BE49-F238E27FC236}">
                <a16:creationId xmlns:a16="http://schemas.microsoft.com/office/drawing/2014/main" id="{11FE4927-1625-4A44-905C-191081BC5D9B}"/>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Two readers, two paths. Pick yours, then read the part that answers your questions first.</a:t>
            </a:r>
            <a:endParaRPr sz="1500"/>
          </a:p>
        </p:txBody>
      </p:sp>
      <p:sp>
        <p:nvSpPr>
          <p:cNvPr id="8" name="Shape 5">
            <a:extLst xmlns:a="http://schemas.openxmlformats.org/drawingml/2006/main">
              <a:ext uri="{FF2B5EF4-FFF2-40B4-BE49-F238E27FC236}">
                <a16:creationId xmlns:a16="http://schemas.microsoft.com/office/drawing/2014/main" id="{A3E20E14-647B-46B9-B45E-48791E34B677}"/>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3A615CF4-E64A-42A5-BA1B-F323167FDA6F}"/>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8A0A8F10-65D9-45CC-8C4F-1ECFE7172A19}"/>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 / 29</a:t>
            </a:r>
            <a:endParaRPr sz="900"/>
          </a:p>
        </p:txBody>
      </p:sp>
      <p:sp>
        <p:nvSpPr>
          <p:cNvPr id="11" name="Shape 8">
            <a:extLst xmlns:a="http://schemas.openxmlformats.org/drawingml/2006/main">
              <a:ext uri="{FF2B5EF4-FFF2-40B4-BE49-F238E27FC236}">
                <a16:creationId xmlns:a16="http://schemas.microsoft.com/office/drawing/2014/main" id="{9B70DAA9-46B0-4489-945F-9A1FFDD5AE98}"/>
              </a:ext>
            </a:extLst>
          </p:cNvPr>
          <p:cNvSpPr>
            <a:spLocks xmlns:a="http://schemas.openxmlformats.org/drawingml/2006/main" noGrp="1"/>
          </p:cNvSpPr>
          <p:nvPr/>
        </p:nvSpPr>
        <p:spPr>
          <a:xfrm xmlns:a="http://schemas.openxmlformats.org/drawingml/2006/main">
            <a:off x="548640" y="3630168"/>
            <a:ext cx="1737360" cy="1051560"/>
          </a:xfrm>
          <a:prstGeom xmlns:a="http://schemas.openxmlformats.org/drawingml/2006/main" prst="roundRect">
            <a:avLst>
              <a:gd name="adj" fmla="val 6957"/>
            </a:avLst>
          </a:prstGeom>
          <a:solidFill xmlns:a="http://schemas.openxmlformats.org/drawingml/2006/main">
            <a:srgbClr val="0B2545"/>
          </a:solidFill>
          <a:ln xmlns:a="http://schemas.openxmlformats.org/drawingml/2006/main" w="15875">
            <a:solidFill>
              <a:srgbClr val="0B2545"/>
            </a:solidFill>
            <a:prstDash val="solid"/>
          </a:ln>
        </p:spPr>
      </p:sp>
      <p:sp>
        <p:nvSpPr>
          <p:cNvPr id="12" name="Text 9">
            <a:extLst xmlns:a="http://schemas.openxmlformats.org/drawingml/2006/main">
              <a:ext uri="{FF2B5EF4-FFF2-40B4-BE49-F238E27FC236}">
                <a16:creationId xmlns:a16="http://schemas.microsoft.com/office/drawing/2014/main" id="{2FAA09BD-FBFF-4F3F-A20F-0B05994F0D58}"/>
              </a:ext>
            </a:extLst>
          </p:cNvPr>
          <p:cNvSpPr>
            <a:spLocks xmlns:a="http://schemas.openxmlformats.org/drawingml/2006/main" noGrp="1"/>
          </p:cNvSpPr>
          <p:nvPr/>
        </p:nvSpPr>
        <p:spPr>
          <a:xfrm xmlns:a="http://schemas.openxmlformats.org/drawingml/2006/main">
            <a:off x="676656" y="3758184"/>
            <a:ext cx="1481328" cy="7955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40"/>
              </a:lnSpc>
              <a:buNone/>
            </a:pPr>
            <a:r>
              <a:rPr sz="1500" b="1">
                <a:solidFill>
                  <a:srgbClr val="FFFFFF"/>
                </a:solidFill>
                <a:latin typeface="Helvetica Neue"/>
                <a:ea typeface="Helvetica Neue"/>
                <a:cs typeface="Helvetica Neue"/>
              </a:rPr>
              <a:t>Who are you?</a:t>
            </a:r>
            <a:endParaRPr sz="1500"/>
          </a:p>
        </p:txBody>
      </p:sp>
      <p:sp>
        <p:nvSpPr>
          <p:cNvPr id="13" name="Shape 10">
            <a:extLst xmlns:a="http://schemas.openxmlformats.org/drawingml/2006/main">
              <a:ext uri="{FF2B5EF4-FFF2-40B4-BE49-F238E27FC236}">
                <a16:creationId xmlns:a16="http://schemas.microsoft.com/office/drawing/2014/main" id="{8B4F6F0E-3B25-4E55-9CE8-A2C9DC9492E1}"/>
              </a:ext>
            </a:extLst>
          </p:cNvPr>
          <p:cNvSpPr>
            <a:spLocks xmlns:a="http://schemas.openxmlformats.org/drawingml/2006/main" noGrp="1"/>
          </p:cNvSpPr>
          <p:nvPr/>
        </p:nvSpPr>
        <p:spPr>
          <a:xfrm xmlns:a="http://schemas.openxmlformats.org/drawingml/2006/main">
            <a:off x="2286000" y="4155948"/>
            <a:ext cx="16459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ln>
        </p:spPr>
      </p:sp>
      <p:sp>
        <p:nvSpPr>
          <p:cNvPr id="14" name="Shape 11">
            <a:extLst xmlns:a="http://schemas.openxmlformats.org/drawingml/2006/main">
              <a:ext uri="{FF2B5EF4-FFF2-40B4-BE49-F238E27FC236}">
                <a16:creationId xmlns:a16="http://schemas.microsoft.com/office/drawing/2014/main" id="{23E2E11D-9CFB-4499-AC2B-A87FD360F953}"/>
              </a:ext>
            </a:extLst>
          </p:cNvPr>
          <p:cNvSpPr>
            <a:spLocks xmlns:a="http://schemas.openxmlformats.org/drawingml/2006/main" noGrp="1"/>
          </p:cNvSpPr>
          <p:nvPr/>
        </p:nvSpPr>
        <p:spPr>
          <a:xfrm xmlns:a="http://schemas.openxmlformats.org/drawingml/2006/main">
            <a:off x="2450592" y="2478024"/>
            <a:ext cx="0" cy="3355848"/>
          </a:xfrm>
          <a:prstGeom xmlns:a="http://schemas.openxmlformats.org/drawingml/2006/main" prst="line">
            <a:avLst/>
          </a:prstGeom>
          <a:noFill xmlns:a="http://schemas.openxmlformats.org/drawingml/2006/main"/>
          <a:ln xmlns:a="http://schemas.openxmlformats.org/drawingml/2006/main" w="28575">
            <a:solidFill>
              <a:srgbClr val="52677F"/>
            </a:solidFill>
            <a:prstDash val="solid"/>
          </a:ln>
        </p:spPr>
      </p:sp>
      <p:sp>
        <p:nvSpPr>
          <p:cNvPr id="15" name="Shape 12">
            <a:extLst xmlns:a="http://schemas.openxmlformats.org/drawingml/2006/main">
              <a:ext uri="{FF2B5EF4-FFF2-40B4-BE49-F238E27FC236}">
                <a16:creationId xmlns:a16="http://schemas.microsoft.com/office/drawing/2014/main" id="{684CAE64-3C92-4BF5-80C2-2941A2F8B23A}"/>
              </a:ext>
            </a:extLst>
          </p:cNvPr>
          <p:cNvSpPr>
            <a:spLocks xmlns:a="http://schemas.openxmlformats.org/drawingml/2006/main" noGrp="1"/>
          </p:cNvSpPr>
          <p:nvPr/>
        </p:nvSpPr>
        <p:spPr>
          <a:xfrm xmlns:a="http://schemas.openxmlformats.org/drawingml/2006/main">
            <a:off x="2450592" y="2478024"/>
            <a:ext cx="38404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6" name="Shape 13">
            <a:extLst xmlns:a="http://schemas.openxmlformats.org/drawingml/2006/main">
              <a:ext uri="{FF2B5EF4-FFF2-40B4-BE49-F238E27FC236}">
                <a16:creationId xmlns:a16="http://schemas.microsoft.com/office/drawing/2014/main" id="{64767FC1-C675-46CE-AC49-34A6DC910FC1}"/>
              </a:ext>
            </a:extLst>
          </p:cNvPr>
          <p:cNvSpPr>
            <a:spLocks xmlns:a="http://schemas.openxmlformats.org/drawingml/2006/main" noGrp="1"/>
          </p:cNvSpPr>
          <p:nvPr/>
        </p:nvSpPr>
        <p:spPr>
          <a:xfrm xmlns:a="http://schemas.openxmlformats.org/drawingml/2006/main">
            <a:off x="2450592" y="4489704"/>
            <a:ext cx="38404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7" name="Shape 14">
            <a:extLst xmlns:a="http://schemas.openxmlformats.org/drawingml/2006/main">
              <a:ext uri="{FF2B5EF4-FFF2-40B4-BE49-F238E27FC236}">
                <a16:creationId xmlns:a16="http://schemas.microsoft.com/office/drawing/2014/main" id="{09E02C4B-ACF2-4271-A3D9-2B80AF187E5A}"/>
              </a:ext>
            </a:extLst>
          </p:cNvPr>
          <p:cNvSpPr>
            <a:spLocks xmlns:a="http://schemas.openxmlformats.org/drawingml/2006/main" noGrp="1"/>
          </p:cNvSpPr>
          <p:nvPr/>
        </p:nvSpPr>
        <p:spPr>
          <a:xfrm xmlns:a="http://schemas.openxmlformats.org/drawingml/2006/main">
            <a:off x="2450592" y="5833872"/>
            <a:ext cx="38404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8" name="Shape 15">
            <a:extLst xmlns:a="http://schemas.openxmlformats.org/drawingml/2006/main">
              <a:ext uri="{FF2B5EF4-FFF2-40B4-BE49-F238E27FC236}">
                <a16:creationId xmlns:a16="http://schemas.microsoft.com/office/drawing/2014/main" id="{6CC0B6DA-1A87-44CB-931C-1FD24AFE5125}"/>
              </a:ext>
            </a:extLst>
          </p:cNvPr>
          <p:cNvSpPr>
            <a:spLocks xmlns:a="http://schemas.openxmlformats.org/drawingml/2006/main" noGrp="1"/>
          </p:cNvSpPr>
          <p:nvPr/>
        </p:nvSpPr>
        <p:spPr>
          <a:xfrm xmlns:a="http://schemas.openxmlformats.org/drawingml/2006/main">
            <a:off x="2834640" y="2103120"/>
            <a:ext cx="1645920" cy="749808"/>
          </a:xfrm>
          <a:prstGeom xmlns:a="http://schemas.openxmlformats.org/drawingml/2006/main" prst="roundRect">
            <a:avLst>
              <a:gd name="adj" fmla="val 9756"/>
            </a:avLst>
          </a:prstGeom>
          <a:solidFill xmlns:a="http://schemas.openxmlformats.org/drawingml/2006/main">
            <a:srgbClr val="175CD4"/>
          </a:solidFill>
          <a:ln xmlns:a="http://schemas.openxmlformats.org/drawingml/2006/main" w="15875">
            <a:solidFill>
              <a:srgbClr val="175CD4"/>
            </a:solidFill>
            <a:prstDash val="solid"/>
          </a:ln>
        </p:spPr>
      </p:sp>
      <p:sp>
        <p:nvSpPr>
          <p:cNvPr id="19" name="Text 16">
            <a:extLst xmlns:a="http://schemas.openxmlformats.org/drawingml/2006/main">
              <a:ext uri="{FF2B5EF4-FFF2-40B4-BE49-F238E27FC236}">
                <a16:creationId xmlns:a16="http://schemas.microsoft.com/office/drawing/2014/main" id="{738C762B-7463-45EB-B07B-63CE22D7CA42}"/>
              </a:ext>
            </a:extLst>
          </p:cNvPr>
          <p:cNvSpPr>
            <a:spLocks xmlns:a="http://schemas.openxmlformats.org/drawingml/2006/main" noGrp="1"/>
          </p:cNvSpPr>
          <p:nvPr/>
        </p:nvSpPr>
        <p:spPr>
          <a:xfrm xmlns:a="http://schemas.openxmlformats.org/drawingml/2006/main">
            <a:off x="2962656" y="2231136"/>
            <a:ext cx="138988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566"/>
              </a:lnSpc>
              <a:buNone/>
            </a:pPr>
            <a:r>
              <a:rPr sz="1350" b="1">
                <a:solidFill>
                  <a:srgbClr val="FFFFFF"/>
                </a:solidFill>
                <a:latin typeface="Helvetica Neue"/>
                <a:ea typeface="Helvetica Neue"/>
                <a:cs typeface="Helvetica Neue"/>
              </a:rPr>
              <a:t>ENGINEER</a:t>
            </a:r>
            <a:endParaRPr sz="1350"/>
          </a:p>
        </p:txBody>
      </p:sp>
      <p:sp>
        <p:nvSpPr>
          <p:cNvPr id="20" name="Shape 17">
            <a:extLst xmlns:a="http://schemas.openxmlformats.org/drawingml/2006/main">
              <a:ext uri="{FF2B5EF4-FFF2-40B4-BE49-F238E27FC236}">
                <a16:creationId xmlns:a16="http://schemas.microsoft.com/office/drawing/2014/main" id="{1C86EDB8-1E1F-41B7-A5D3-8D36A2936561}"/>
              </a:ext>
            </a:extLst>
          </p:cNvPr>
          <p:cNvSpPr>
            <a:spLocks xmlns:a="http://schemas.openxmlformats.org/drawingml/2006/main" noGrp="1"/>
          </p:cNvSpPr>
          <p:nvPr/>
        </p:nvSpPr>
        <p:spPr>
          <a:xfrm xmlns:a="http://schemas.openxmlformats.org/drawingml/2006/main">
            <a:off x="4480560" y="2478024"/>
            <a:ext cx="34747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1" name="Shape 18">
            <a:extLst xmlns:a="http://schemas.openxmlformats.org/drawingml/2006/main">
              <a:ext uri="{FF2B5EF4-FFF2-40B4-BE49-F238E27FC236}">
                <a16:creationId xmlns:a16="http://schemas.microsoft.com/office/drawing/2014/main" id="{744B3D68-446E-4026-A92C-B484F43D7525}"/>
              </a:ext>
            </a:extLst>
          </p:cNvPr>
          <p:cNvSpPr>
            <a:spLocks xmlns:a="http://schemas.openxmlformats.org/drawingml/2006/main" noGrp="1"/>
          </p:cNvSpPr>
          <p:nvPr/>
        </p:nvSpPr>
        <p:spPr>
          <a:xfrm xmlns:a="http://schemas.openxmlformats.org/drawingml/2006/main">
            <a:off x="4828032" y="1554480"/>
            <a:ext cx="3703320" cy="1847088"/>
          </a:xfrm>
          <a:prstGeom xmlns:a="http://schemas.openxmlformats.org/drawingml/2006/main" prst="roundRect">
            <a:avLst>
              <a:gd name="adj" fmla="val 3960"/>
            </a:avLst>
          </a:prstGeom>
          <a:solidFill xmlns:a="http://schemas.openxmlformats.org/drawingml/2006/main">
            <a:srgbClr val="F3F6FB"/>
          </a:solidFill>
          <a:ln xmlns:a="http://schemas.openxmlformats.org/drawingml/2006/main" w="15875">
            <a:solidFill>
              <a:srgbClr val="175CD4"/>
            </a:solidFill>
            <a:prstDash val="solid"/>
          </a:ln>
        </p:spPr>
      </p:sp>
      <p:sp>
        <p:nvSpPr>
          <p:cNvPr id="22" name="Text 19">
            <a:extLst xmlns:a="http://schemas.openxmlformats.org/drawingml/2006/main">
              <a:ext uri="{FF2B5EF4-FFF2-40B4-BE49-F238E27FC236}">
                <a16:creationId xmlns:a16="http://schemas.microsoft.com/office/drawing/2014/main" id="{07EEAC66-4446-4FCB-BE42-8D6CC87DF709}"/>
              </a:ext>
            </a:extLst>
          </p:cNvPr>
          <p:cNvSpPr>
            <a:spLocks xmlns:a="http://schemas.openxmlformats.org/drawingml/2006/main" noGrp="1"/>
          </p:cNvSpPr>
          <p:nvPr/>
        </p:nvSpPr>
        <p:spPr>
          <a:xfrm xmlns:a="http://schemas.openxmlformats.org/drawingml/2006/main">
            <a:off x="4956048" y="1682496"/>
            <a:ext cx="34472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b="1" spc="80">
                <a:solidFill>
                  <a:srgbClr val="52677F"/>
                </a:solidFill>
                <a:latin typeface="Helvetica Neue"/>
                <a:ea typeface="Helvetica Neue"/>
                <a:cs typeface="Helvetica Neue"/>
              </a:rPr>
              <a:t>READ THESE FIRST</a:t>
            </a:r>
            <a:endParaRPr sz="950"/>
          </a:p>
        </p:txBody>
      </p:sp>
      <p:sp>
        <p:nvSpPr>
          <p:cNvPr id="23" name="Text 20">
            <a:extLst xmlns:a="http://schemas.openxmlformats.org/drawingml/2006/main">
              <a:ext uri="{FF2B5EF4-FFF2-40B4-BE49-F238E27FC236}">
                <a16:creationId xmlns:a16="http://schemas.microsoft.com/office/drawing/2014/main" id="{59A203DE-D22F-4ECC-ACE9-885980C1267C}"/>
              </a:ext>
            </a:extLst>
          </p:cNvPr>
          <p:cNvSpPr>
            <a:spLocks xmlns:a="http://schemas.openxmlformats.org/drawingml/2006/main" noGrp="1"/>
          </p:cNvSpPr>
          <p:nvPr/>
        </p:nvSpPr>
        <p:spPr>
          <a:xfrm xmlns:a="http://schemas.openxmlformats.org/drawingml/2006/main">
            <a:off x="4956048" y="1936814"/>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15 · What is built and what remains</a:t>
            </a:r>
            <a:endParaRPr sz="1150"/>
          </a:p>
        </p:txBody>
      </p:sp>
      <p:sp>
        <p:nvSpPr>
          <p:cNvPr id="24" name="Text 21">
            <a:extLst xmlns:a="http://schemas.openxmlformats.org/drawingml/2006/main">
              <a:ext uri="{FF2B5EF4-FFF2-40B4-BE49-F238E27FC236}">
                <a16:creationId xmlns:a16="http://schemas.microsoft.com/office/drawing/2014/main" id="{5B38FB22-40F4-4768-B59E-BBC0C96FA594}"/>
              </a:ext>
            </a:extLst>
          </p:cNvPr>
          <p:cNvSpPr>
            <a:spLocks xmlns:a="http://schemas.openxmlformats.org/drawingml/2006/main" noGrp="1"/>
          </p:cNvSpPr>
          <p:nvPr/>
        </p:nvSpPr>
        <p:spPr>
          <a:xfrm xmlns:a="http://schemas.openxmlformats.org/drawingml/2006/main">
            <a:off x="4956048" y="2201990"/>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18 · The current system</a:t>
            </a:r>
            <a:endParaRPr sz="1150"/>
          </a:p>
        </p:txBody>
      </p:sp>
      <p:sp>
        <p:nvSpPr>
          <p:cNvPr id="25" name="Text 22">
            <a:extLst xmlns:a="http://schemas.openxmlformats.org/drawingml/2006/main">
              <a:ext uri="{FF2B5EF4-FFF2-40B4-BE49-F238E27FC236}">
                <a16:creationId xmlns:a16="http://schemas.microsoft.com/office/drawing/2014/main" id="{7317BC07-2CFD-4A1E-BB18-1857B679C936}"/>
              </a:ext>
            </a:extLst>
          </p:cNvPr>
          <p:cNvSpPr>
            <a:spLocks xmlns:a="http://schemas.openxmlformats.org/drawingml/2006/main" noGrp="1"/>
          </p:cNvSpPr>
          <p:nvPr/>
        </p:nvSpPr>
        <p:spPr>
          <a:xfrm xmlns:a="http://schemas.openxmlformats.org/drawingml/2006/main">
            <a:off x="4956048" y="2467166"/>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19 · Where the next engineer works</a:t>
            </a:r>
            <a:endParaRPr sz="1150"/>
          </a:p>
        </p:txBody>
      </p:sp>
      <p:sp>
        <p:nvSpPr>
          <p:cNvPr id="26" name="Text 23">
            <a:extLst xmlns:a="http://schemas.openxmlformats.org/drawingml/2006/main">
              <a:ext uri="{FF2B5EF4-FFF2-40B4-BE49-F238E27FC236}">
                <a16:creationId xmlns:a16="http://schemas.microsoft.com/office/drawing/2014/main" id="{04B0BE2E-F68E-4CE9-BF6F-8BF4CB2678D2}"/>
              </a:ext>
            </a:extLst>
          </p:cNvPr>
          <p:cNvSpPr>
            <a:spLocks xmlns:a="http://schemas.openxmlformats.org/drawingml/2006/main" noGrp="1"/>
          </p:cNvSpPr>
          <p:nvPr/>
        </p:nvSpPr>
        <p:spPr>
          <a:xfrm xmlns:a="http://schemas.openxmlformats.org/drawingml/2006/main">
            <a:off x="4956048" y="2732342"/>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21 · The pilot hosting model</a:t>
            </a:r>
            <a:endParaRPr sz="1150"/>
          </a:p>
        </p:txBody>
      </p:sp>
      <p:sp>
        <p:nvSpPr>
          <p:cNvPr id="27" name="Text 24">
            <a:extLst xmlns:a="http://schemas.openxmlformats.org/drawingml/2006/main">
              <a:ext uri="{FF2B5EF4-FFF2-40B4-BE49-F238E27FC236}">
                <a16:creationId xmlns:a16="http://schemas.microsoft.com/office/drawing/2014/main" id="{2C8C1FEA-F2E8-4ED5-A0C6-2F9BF150EAF2}"/>
              </a:ext>
            </a:extLst>
          </p:cNvPr>
          <p:cNvSpPr>
            <a:spLocks xmlns:a="http://schemas.openxmlformats.org/drawingml/2006/main" noGrp="1"/>
          </p:cNvSpPr>
          <p:nvPr/>
        </p:nvSpPr>
        <p:spPr>
          <a:xfrm xmlns:a="http://schemas.openxmlformats.org/drawingml/2006/main">
            <a:off x="4956048" y="2997518"/>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22 · Launch work in dependency order</a:t>
            </a:r>
            <a:endParaRPr sz="1150"/>
          </a:p>
        </p:txBody>
      </p:sp>
      <p:sp>
        <p:nvSpPr>
          <p:cNvPr id="28" name="Shape 25">
            <a:extLst xmlns:a="http://schemas.openxmlformats.org/drawingml/2006/main">
              <a:ext uri="{FF2B5EF4-FFF2-40B4-BE49-F238E27FC236}">
                <a16:creationId xmlns:a16="http://schemas.microsoft.com/office/drawing/2014/main" id="{76ECFFDC-9C68-46E6-A7A9-C51255FEBDFA}"/>
              </a:ext>
            </a:extLst>
          </p:cNvPr>
          <p:cNvSpPr>
            <a:spLocks xmlns:a="http://schemas.openxmlformats.org/drawingml/2006/main" noGrp="1"/>
          </p:cNvSpPr>
          <p:nvPr/>
        </p:nvSpPr>
        <p:spPr>
          <a:xfrm xmlns:a="http://schemas.openxmlformats.org/drawingml/2006/main">
            <a:off x="8531352" y="2478024"/>
            <a:ext cx="34747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9" name="Shape 26">
            <a:extLst xmlns:a="http://schemas.openxmlformats.org/drawingml/2006/main">
              <a:ext uri="{FF2B5EF4-FFF2-40B4-BE49-F238E27FC236}">
                <a16:creationId xmlns:a16="http://schemas.microsoft.com/office/drawing/2014/main" id="{EEA43E63-E27E-49C1-8FC6-A06E0FF58385}"/>
              </a:ext>
            </a:extLst>
          </p:cNvPr>
          <p:cNvSpPr>
            <a:spLocks xmlns:a="http://schemas.openxmlformats.org/drawingml/2006/main" noGrp="1"/>
          </p:cNvSpPr>
          <p:nvPr/>
        </p:nvSpPr>
        <p:spPr>
          <a:xfrm xmlns:a="http://schemas.openxmlformats.org/drawingml/2006/main">
            <a:off x="8878824" y="1554480"/>
            <a:ext cx="2761488" cy="822960"/>
          </a:xfrm>
          <a:prstGeom xmlns:a="http://schemas.openxmlformats.org/drawingml/2006/main" prst="roundRect">
            <a:avLst>
              <a:gd name="adj" fmla="val 8889"/>
            </a:avLst>
          </a:prstGeom>
          <a:solidFill xmlns:a="http://schemas.openxmlformats.org/drawingml/2006/main">
            <a:srgbClr val="F3F6FB"/>
          </a:solidFill>
          <a:ln xmlns:a="http://schemas.openxmlformats.org/drawingml/2006/main" w="15875">
            <a:solidFill>
              <a:srgbClr val="175CD4"/>
            </a:solidFill>
            <a:prstDash val="solid"/>
          </a:ln>
        </p:spPr>
      </p:sp>
      <p:sp>
        <p:nvSpPr>
          <p:cNvPr id="30" name="Text 27">
            <a:extLst xmlns:a="http://schemas.openxmlformats.org/drawingml/2006/main">
              <a:ext uri="{FF2B5EF4-FFF2-40B4-BE49-F238E27FC236}">
                <a16:creationId xmlns:a16="http://schemas.microsoft.com/office/drawing/2014/main" id="{8F79C1F3-4D61-47B4-AFE3-358A9B731ACC}"/>
              </a:ext>
            </a:extLst>
          </p:cNvPr>
          <p:cNvSpPr>
            <a:spLocks xmlns:a="http://schemas.openxmlformats.org/drawingml/2006/main" noGrp="1"/>
          </p:cNvSpPr>
          <p:nvPr/>
        </p:nvSpPr>
        <p:spPr>
          <a:xfrm xmlns:a="http://schemas.openxmlformats.org/drawingml/2006/main">
            <a:off x="9006840" y="1682496"/>
            <a:ext cx="25054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175CD4"/>
                </a:solidFill>
                <a:latin typeface="Helvetica Neue"/>
                <a:ea typeface="Helvetica Neue"/>
                <a:cs typeface="Helvetica Neue"/>
              </a:rPr>
              <a:t>THEN OPEN</a:t>
            </a:r>
            <a:endParaRPr sz="950"/>
          </a:p>
        </p:txBody>
      </p:sp>
      <p:sp>
        <p:nvSpPr>
          <p:cNvPr id="31" name="Text 28">
            <a:extLst xmlns:a="http://schemas.openxmlformats.org/drawingml/2006/main">
              <a:ext uri="{FF2B5EF4-FFF2-40B4-BE49-F238E27FC236}">
                <a16:creationId xmlns:a16="http://schemas.microsoft.com/office/drawing/2014/main" id="{0170D22A-285A-469C-8B4B-4C6EA8A089A4}"/>
              </a:ext>
            </a:extLst>
          </p:cNvPr>
          <p:cNvSpPr>
            <a:spLocks xmlns:a="http://schemas.openxmlformats.org/drawingml/2006/main" noGrp="1"/>
          </p:cNvSpPr>
          <p:nvPr/>
        </p:nvSpPr>
        <p:spPr>
          <a:xfrm xmlns:a="http://schemas.openxmlformats.org/drawingml/2006/main">
            <a:off x="9006840" y="1936814"/>
            <a:ext cx="2505456" cy="3126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92"/>
              </a:lnSpc>
              <a:buNone/>
            </a:pPr>
            <a:r>
              <a:rPr sz="1200" b="1">
                <a:solidFill>
                  <a:srgbClr val="0B2545"/>
                </a:solidFill>
                <a:latin typeface="Helvetica Neue"/>
                <a:ea typeface="Helvetica Neue"/>
                <a:cs typeface="Helvetica Neue"/>
              </a:rPr>
              <a:t>docs/</a:t>
            </a:r>
            <a:endParaRPr sz="1200"/>
          </a:p>
          <a:p xmlns:a="http://schemas.openxmlformats.org/drawingml/2006/main">
            <a:pPr marL="0" indent="0" algn="ctr">
              <a:lnSpc>
                <a:spcPts val="1392"/>
              </a:lnSpc>
              <a:buNone/>
            </a:pPr>
            <a:r>
              <a:rPr sz="1200" b="1">
                <a:solidFill>
                  <a:srgbClr val="0B2545"/>
                </a:solidFill>
                <a:latin typeface="Helvetica Neue"/>
                <a:ea typeface="Helvetica Neue"/>
                <a:cs typeface="Helvetica Neue"/>
              </a:rPr>
              <a:t>ENGINEERING_HANDOFF.md</a:t>
            </a:r>
            <a:endParaRPr sz="1200"/>
          </a:p>
        </p:txBody>
      </p:sp>
      <p:sp>
        <p:nvSpPr>
          <p:cNvPr id="32" name="Shape 29">
            <a:extLst xmlns:a="http://schemas.openxmlformats.org/drawingml/2006/main">
              <a:ext uri="{FF2B5EF4-FFF2-40B4-BE49-F238E27FC236}">
                <a16:creationId xmlns:a16="http://schemas.microsoft.com/office/drawing/2014/main" id="{1A7D7313-1EA5-4406-BDA4-DFD1A1DB3F7E}"/>
              </a:ext>
            </a:extLst>
          </p:cNvPr>
          <p:cNvSpPr>
            <a:spLocks xmlns:a="http://schemas.openxmlformats.org/drawingml/2006/main" noGrp="1"/>
          </p:cNvSpPr>
          <p:nvPr/>
        </p:nvSpPr>
        <p:spPr>
          <a:xfrm xmlns:a="http://schemas.openxmlformats.org/drawingml/2006/main">
            <a:off x="10259568" y="2395728"/>
            <a:ext cx="0" cy="256032"/>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33" name="Shape 30">
            <a:extLst xmlns:a="http://schemas.openxmlformats.org/drawingml/2006/main">
              <a:ext uri="{FF2B5EF4-FFF2-40B4-BE49-F238E27FC236}">
                <a16:creationId xmlns:a16="http://schemas.microsoft.com/office/drawing/2014/main" id="{BF53387D-F85A-4D7F-8AF7-0648D1F4B774}"/>
              </a:ext>
            </a:extLst>
          </p:cNvPr>
          <p:cNvSpPr>
            <a:spLocks xmlns:a="http://schemas.openxmlformats.org/drawingml/2006/main" noGrp="1"/>
          </p:cNvSpPr>
          <p:nvPr/>
        </p:nvSpPr>
        <p:spPr>
          <a:xfrm xmlns:a="http://schemas.openxmlformats.org/drawingml/2006/main">
            <a:off x="8878824" y="2670048"/>
            <a:ext cx="2761488" cy="731520"/>
          </a:xfrm>
          <a:prstGeom xmlns:a="http://schemas.openxmlformats.org/drawingml/2006/main" prst="roundRect">
            <a:avLst>
              <a:gd name="adj" fmla="val 10000"/>
            </a:avLst>
          </a:prstGeom>
          <a:solidFill xmlns:a="http://schemas.openxmlformats.org/drawingml/2006/main">
            <a:srgbClr val="0B2545"/>
          </a:solidFill>
          <a:ln xmlns:a="http://schemas.openxmlformats.org/drawingml/2006/main" w="15875">
            <a:solidFill>
              <a:srgbClr val="0B2545"/>
            </a:solidFill>
            <a:prstDash val="solid"/>
          </a:ln>
        </p:spPr>
      </p:sp>
      <p:sp>
        <p:nvSpPr>
          <p:cNvPr id="34" name="Text 31">
            <a:extLst xmlns:a="http://schemas.openxmlformats.org/drawingml/2006/main">
              <a:ext uri="{FF2B5EF4-FFF2-40B4-BE49-F238E27FC236}">
                <a16:creationId xmlns:a16="http://schemas.microsoft.com/office/drawing/2014/main" id="{CB4096CC-3746-41C3-B9A0-4D12B4C1685D}"/>
              </a:ext>
            </a:extLst>
          </p:cNvPr>
          <p:cNvSpPr>
            <a:spLocks xmlns:a="http://schemas.openxmlformats.org/drawingml/2006/main" noGrp="1"/>
          </p:cNvSpPr>
          <p:nvPr/>
        </p:nvSpPr>
        <p:spPr>
          <a:xfrm xmlns:a="http://schemas.openxmlformats.org/drawingml/2006/main">
            <a:off x="9006840" y="2798064"/>
            <a:ext cx="25054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C6D5E8"/>
                </a:solidFill>
                <a:latin typeface="Helvetica Neue"/>
                <a:ea typeface="Helvetica Neue"/>
                <a:cs typeface="Helvetica Neue"/>
              </a:rPr>
              <a:t>FIRST ACTION</a:t>
            </a:r>
            <a:endParaRPr sz="950"/>
          </a:p>
        </p:txBody>
      </p:sp>
      <p:sp>
        <p:nvSpPr>
          <p:cNvPr id="35" name="Text 32">
            <a:extLst xmlns:a="http://schemas.openxmlformats.org/drawingml/2006/main">
              <a:ext uri="{FF2B5EF4-FFF2-40B4-BE49-F238E27FC236}">
                <a16:creationId xmlns:a16="http://schemas.microsoft.com/office/drawing/2014/main" id="{39F20E5E-9010-4874-9741-4F6583269DCD}"/>
              </a:ext>
            </a:extLst>
          </p:cNvPr>
          <p:cNvSpPr>
            <a:spLocks xmlns:a="http://schemas.openxmlformats.org/drawingml/2006/main" noGrp="1"/>
          </p:cNvSpPr>
          <p:nvPr/>
        </p:nvSpPr>
        <p:spPr>
          <a:xfrm xmlns:a="http://schemas.openxmlformats.org/drawingml/2006/main">
            <a:off x="9006840" y="3052382"/>
            <a:ext cx="2505456" cy="22117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Start gate 01 · Transfer</a:t>
            </a:r>
            <a:endParaRPr sz="1250"/>
          </a:p>
        </p:txBody>
      </p:sp>
      <p:sp>
        <p:nvSpPr>
          <p:cNvPr id="36" name="Shape 33">
            <a:extLst xmlns:a="http://schemas.openxmlformats.org/drawingml/2006/main">
              <a:ext uri="{FF2B5EF4-FFF2-40B4-BE49-F238E27FC236}">
                <a16:creationId xmlns:a16="http://schemas.microsoft.com/office/drawing/2014/main" id="{3D0BB5A2-1146-4594-B030-2D33C55BCE06}"/>
              </a:ext>
            </a:extLst>
          </p:cNvPr>
          <p:cNvSpPr>
            <a:spLocks xmlns:a="http://schemas.openxmlformats.org/drawingml/2006/main" noGrp="1"/>
          </p:cNvSpPr>
          <p:nvPr/>
        </p:nvSpPr>
        <p:spPr>
          <a:xfrm xmlns:a="http://schemas.openxmlformats.org/drawingml/2006/main">
            <a:off x="2834640" y="4114800"/>
            <a:ext cx="1645920" cy="749808"/>
          </a:xfrm>
          <a:prstGeom xmlns:a="http://schemas.openxmlformats.org/drawingml/2006/main" prst="roundRect">
            <a:avLst>
              <a:gd name="adj" fmla="val 9756"/>
            </a:avLst>
          </a:prstGeom>
          <a:solidFill xmlns:a="http://schemas.openxmlformats.org/drawingml/2006/main">
            <a:srgbClr val="C2410C"/>
          </a:solidFill>
          <a:ln xmlns:a="http://schemas.openxmlformats.org/drawingml/2006/main" w="15875">
            <a:solidFill>
              <a:srgbClr val="C2410C"/>
            </a:solidFill>
            <a:prstDash val="solid"/>
          </a:ln>
        </p:spPr>
      </p:sp>
      <p:sp>
        <p:nvSpPr>
          <p:cNvPr id="37" name="Text 34">
            <a:extLst xmlns:a="http://schemas.openxmlformats.org/drawingml/2006/main">
              <a:ext uri="{FF2B5EF4-FFF2-40B4-BE49-F238E27FC236}">
                <a16:creationId xmlns:a16="http://schemas.microsoft.com/office/drawing/2014/main" id="{B73E0367-BFE3-4019-8535-18367078899F}"/>
              </a:ext>
            </a:extLst>
          </p:cNvPr>
          <p:cNvSpPr>
            <a:spLocks xmlns:a="http://schemas.openxmlformats.org/drawingml/2006/main" noGrp="1"/>
          </p:cNvSpPr>
          <p:nvPr/>
        </p:nvSpPr>
        <p:spPr>
          <a:xfrm xmlns:a="http://schemas.openxmlformats.org/drawingml/2006/main">
            <a:off x="2962656" y="4242816"/>
            <a:ext cx="138988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566"/>
              </a:lnSpc>
              <a:buNone/>
            </a:pPr>
            <a:r>
              <a:rPr sz="1350" b="1">
                <a:solidFill>
                  <a:srgbClr val="FFFFFF"/>
                </a:solidFill>
                <a:latin typeface="Helvetica Neue"/>
                <a:ea typeface="Helvetica Neue"/>
                <a:cs typeface="Helvetica Neue"/>
              </a:rPr>
              <a:t>PRODUCT OWNER</a:t>
            </a:r>
            <a:endParaRPr sz="1350"/>
          </a:p>
        </p:txBody>
      </p:sp>
      <p:sp>
        <p:nvSpPr>
          <p:cNvPr id="38" name="Shape 35">
            <a:extLst xmlns:a="http://schemas.openxmlformats.org/drawingml/2006/main">
              <a:ext uri="{FF2B5EF4-FFF2-40B4-BE49-F238E27FC236}">
                <a16:creationId xmlns:a16="http://schemas.microsoft.com/office/drawing/2014/main" id="{8D0EB1BE-FD0B-4CEF-9349-1CDAF75ED29B}"/>
              </a:ext>
            </a:extLst>
          </p:cNvPr>
          <p:cNvSpPr>
            <a:spLocks xmlns:a="http://schemas.openxmlformats.org/drawingml/2006/main" noGrp="1"/>
          </p:cNvSpPr>
          <p:nvPr/>
        </p:nvSpPr>
        <p:spPr>
          <a:xfrm xmlns:a="http://schemas.openxmlformats.org/drawingml/2006/main">
            <a:off x="4480560" y="4489704"/>
            <a:ext cx="34747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39" name="Shape 36">
            <a:extLst xmlns:a="http://schemas.openxmlformats.org/drawingml/2006/main">
              <a:ext uri="{FF2B5EF4-FFF2-40B4-BE49-F238E27FC236}">
                <a16:creationId xmlns:a16="http://schemas.microsoft.com/office/drawing/2014/main" id="{BB4D0E1D-727A-4736-A927-96A691D73FA8}"/>
              </a:ext>
            </a:extLst>
          </p:cNvPr>
          <p:cNvSpPr>
            <a:spLocks xmlns:a="http://schemas.openxmlformats.org/drawingml/2006/main" noGrp="1"/>
          </p:cNvSpPr>
          <p:nvPr/>
        </p:nvSpPr>
        <p:spPr>
          <a:xfrm xmlns:a="http://schemas.openxmlformats.org/drawingml/2006/main">
            <a:off x="4828032" y="3566160"/>
            <a:ext cx="3703320" cy="1847088"/>
          </a:xfrm>
          <a:prstGeom xmlns:a="http://schemas.openxmlformats.org/drawingml/2006/main" prst="roundRect">
            <a:avLst>
              <a:gd name="adj" fmla="val 3960"/>
            </a:avLst>
          </a:prstGeom>
          <a:solidFill xmlns:a="http://schemas.openxmlformats.org/drawingml/2006/main">
            <a:srgbClr val="F3F6FB"/>
          </a:solidFill>
          <a:ln xmlns:a="http://schemas.openxmlformats.org/drawingml/2006/main" w="15875">
            <a:solidFill>
              <a:srgbClr val="C2410C"/>
            </a:solidFill>
            <a:prstDash val="solid"/>
          </a:ln>
        </p:spPr>
      </p:sp>
      <p:sp>
        <p:nvSpPr>
          <p:cNvPr id="40" name="Text 37">
            <a:extLst xmlns:a="http://schemas.openxmlformats.org/drawingml/2006/main">
              <a:ext uri="{FF2B5EF4-FFF2-40B4-BE49-F238E27FC236}">
                <a16:creationId xmlns:a16="http://schemas.microsoft.com/office/drawing/2014/main" id="{7127FD78-3E21-440A-AF0D-088412611B03}"/>
              </a:ext>
            </a:extLst>
          </p:cNvPr>
          <p:cNvSpPr>
            <a:spLocks xmlns:a="http://schemas.openxmlformats.org/drawingml/2006/main" noGrp="1"/>
          </p:cNvSpPr>
          <p:nvPr/>
        </p:nvSpPr>
        <p:spPr>
          <a:xfrm xmlns:a="http://schemas.openxmlformats.org/drawingml/2006/main">
            <a:off x="4956048" y="3694176"/>
            <a:ext cx="34472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b="1" spc="80">
                <a:solidFill>
                  <a:srgbClr val="52677F"/>
                </a:solidFill>
                <a:latin typeface="Helvetica Neue"/>
                <a:ea typeface="Helvetica Neue"/>
                <a:cs typeface="Helvetica Neue"/>
              </a:rPr>
              <a:t>READ THESE FIRST</a:t>
            </a:r>
            <a:endParaRPr sz="950"/>
          </a:p>
        </p:txBody>
      </p:sp>
      <p:sp>
        <p:nvSpPr>
          <p:cNvPr id="41" name="Text 38">
            <a:extLst xmlns:a="http://schemas.openxmlformats.org/drawingml/2006/main">
              <a:ext uri="{FF2B5EF4-FFF2-40B4-BE49-F238E27FC236}">
                <a16:creationId xmlns:a16="http://schemas.microsoft.com/office/drawing/2014/main" id="{D0757DBF-7F09-4871-BDE7-329852760F15}"/>
              </a:ext>
            </a:extLst>
          </p:cNvPr>
          <p:cNvSpPr>
            <a:spLocks xmlns:a="http://schemas.openxmlformats.org/drawingml/2006/main" noGrp="1"/>
          </p:cNvSpPr>
          <p:nvPr/>
        </p:nvSpPr>
        <p:spPr>
          <a:xfrm xmlns:a="http://schemas.openxmlformats.org/drawingml/2006/main">
            <a:off x="4956048" y="3948494"/>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5 · The problem and where it came from</a:t>
            </a:r>
            <a:endParaRPr sz="1150"/>
          </a:p>
        </p:txBody>
      </p:sp>
      <p:sp>
        <p:nvSpPr>
          <p:cNvPr id="42" name="Text 39">
            <a:extLst xmlns:a="http://schemas.openxmlformats.org/drawingml/2006/main">
              <a:ext uri="{FF2B5EF4-FFF2-40B4-BE49-F238E27FC236}">
                <a16:creationId xmlns:a16="http://schemas.microsoft.com/office/drawing/2014/main" id="{7CED066E-CF9A-4F0E-9203-CE2FF695D7F6}"/>
              </a:ext>
            </a:extLst>
          </p:cNvPr>
          <p:cNvSpPr>
            <a:spLocks xmlns:a="http://schemas.openxmlformats.org/drawingml/2006/main" noGrp="1"/>
          </p:cNvSpPr>
          <p:nvPr/>
        </p:nvSpPr>
        <p:spPr>
          <a:xfrm xmlns:a="http://schemas.openxmlformats.org/drawingml/2006/main">
            <a:off x="4956048" y="4213670"/>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17 · AI access at launch and later</a:t>
            </a:r>
            <a:endParaRPr sz="1150"/>
          </a:p>
        </p:txBody>
      </p:sp>
      <p:sp>
        <p:nvSpPr>
          <p:cNvPr id="43" name="Text 40">
            <a:extLst xmlns:a="http://schemas.openxmlformats.org/drawingml/2006/main">
              <a:ext uri="{FF2B5EF4-FFF2-40B4-BE49-F238E27FC236}">
                <a16:creationId xmlns:a16="http://schemas.microsoft.com/office/drawing/2014/main" id="{4F2ED5B6-3608-47FE-A423-886D6D53220C}"/>
              </a:ext>
            </a:extLst>
          </p:cNvPr>
          <p:cNvSpPr>
            <a:spLocks xmlns:a="http://schemas.openxmlformats.org/drawingml/2006/main" noGrp="1"/>
          </p:cNvSpPr>
          <p:nvPr/>
        </p:nvSpPr>
        <p:spPr>
          <a:xfrm xmlns:a="http://schemas.openxmlformats.org/drawingml/2006/main">
            <a:off x="4956048" y="4478846"/>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24 · Known risks and how the pilot tests them</a:t>
            </a:r>
            <a:endParaRPr sz="1150"/>
          </a:p>
        </p:txBody>
      </p:sp>
      <p:sp>
        <p:nvSpPr>
          <p:cNvPr id="44" name="Text 41">
            <a:extLst xmlns:a="http://schemas.openxmlformats.org/drawingml/2006/main">
              <a:ext uri="{FF2B5EF4-FFF2-40B4-BE49-F238E27FC236}">
                <a16:creationId xmlns:a16="http://schemas.microsoft.com/office/drawing/2014/main" id="{0F59CF49-C333-4EF0-B7FB-A64B90560557}"/>
              </a:ext>
            </a:extLst>
          </p:cNvPr>
          <p:cNvSpPr>
            <a:spLocks xmlns:a="http://schemas.openxmlformats.org/drawingml/2006/main" noGrp="1"/>
          </p:cNvSpPr>
          <p:nvPr/>
        </p:nvSpPr>
        <p:spPr>
          <a:xfrm xmlns:a="http://schemas.openxmlformats.org/drawingml/2006/main">
            <a:off x="4956048" y="4744022"/>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25 · The first customer experiment</a:t>
            </a:r>
            <a:endParaRPr sz="1150"/>
          </a:p>
        </p:txBody>
      </p:sp>
      <p:sp>
        <p:nvSpPr>
          <p:cNvPr id="45" name="Text 42">
            <a:extLst xmlns:a="http://schemas.openxmlformats.org/drawingml/2006/main">
              <a:ext uri="{FF2B5EF4-FFF2-40B4-BE49-F238E27FC236}">
                <a16:creationId xmlns:a16="http://schemas.microsoft.com/office/drawing/2014/main" id="{19F4C52E-0EF6-4FDB-B51E-40E12273C132}"/>
              </a:ext>
            </a:extLst>
          </p:cNvPr>
          <p:cNvSpPr>
            <a:spLocks xmlns:a="http://schemas.openxmlformats.org/drawingml/2006/main" noGrp="1"/>
          </p:cNvSpPr>
          <p:nvPr/>
        </p:nvSpPr>
        <p:spPr>
          <a:xfrm xmlns:a="http://schemas.openxmlformats.org/drawingml/2006/main">
            <a:off x="4956048" y="5009198"/>
            <a:ext cx="344728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80"/>
              </a:lnSpc>
              <a:buNone/>
            </a:pPr>
            <a:r>
              <a:rPr sz="1150">
                <a:solidFill>
                  <a:srgbClr val="171717"/>
                </a:solidFill>
                <a:latin typeface="Helvetica Neue"/>
                <a:ea typeface="Helvetica Neue"/>
                <a:cs typeface="Helvetica Neue"/>
              </a:rPr>
              <a:t>27 · Packaging and pricing experiments</a:t>
            </a:r>
            <a:endParaRPr sz="1150"/>
          </a:p>
        </p:txBody>
      </p:sp>
      <p:sp>
        <p:nvSpPr>
          <p:cNvPr id="46" name="Shape 43">
            <a:extLst xmlns:a="http://schemas.openxmlformats.org/drawingml/2006/main">
              <a:ext uri="{FF2B5EF4-FFF2-40B4-BE49-F238E27FC236}">
                <a16:creationId xmlns:a16="http://schemas.microsoft.com/office/drawing/2014/main" id="{C7C624A6-D318-42C4-B501-E8C8396707A6}"/>
              </a:ext>
            </a:extLst>
          </p:cNvPr>
          <p:cNvSpPr>
            <a:spLocks xmlns:a="http://schemas.openxmlformats.org/drawingml/2006/main" noGrp="1"/>
          </p:cNvSpPr>
          <p:nvPr/>
        </p:nvSpPr>
        <p:spPr>
          <a:xfrm xmlns:a="http://schemas.openxmlformats.org/drawingml/2006/main">
            <a:off x="8531352" y="4489704"/>
            <a:ext cx="34747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47" name="Shape 44">
            <a:extLst xmlns:a="http://schemas.openxmlformats.org/drawingml/2006/main">
              <a:ext uri="{FF2B5EF4-FFF2-40B4-BE49-F238E27FC236}">
                <a16:creationId xmlns:a16="http://schemas.microsoft.com/office/drawing/2014/main" id="{78FA5FA4-671B-4182-A2A3-4DCFD5248941}"/>
              </a:ext>
            </a:extLst>
          </p:cNvPr>
          <p:cNvSpPr>
            <a:spLocks xmlns:a="http://schemas.openxmlformats.org/drawingml/2006/main" noGrp="1"/>
          </p:cNvSpPr>
          <p:nvPr/>
        </p:nvSpPr>
        <p:spPr>
          <a:xfrm xmlns:a="http://schemas.openxmlformats.org/drawingml/2006/main">
            <a:off x="8878824" y="3566160"/>
            <a:ext cx="2761488" cy="822960"/>
          </a:xfrm>
          <a:prstGeom xmlns:a="http://schemas.openxmlformats.org/drawingml/2006/main" prst="roundRect">
            <a:avLst>
              <a:gd name="adj" fmla="val 8889"/>
            </a:avLst>
          </a:prstGeom>
          <a:solidFill xmlns:a="http://schemas.openxmlformats.org/drawingml/2006/main">
            <a:srgbClr val="F3F6FB"/>
          </a:solidFill>
          <a:ln xmlns:a="http://schemas.openxmlformats.org/drawingml/2006/main" w="15875">
            <a:solidFill>
              <a:srgbClr val="C2410C"/>
            </a:solidFill>
            <a:prstDash val="solid"/>
          </a:ln>
        </p:spPr>
      </p:sp>
      <p:sp>
        <p:nvSpPr>
          <p:cNvPr id="48" name="Text 45">
            <a:extLst xmlns:a="http://schemas.openxmlformats.org/drawingml/2006/main">
              <a:ext uri="{FF2B5EF4-FFF2-40B4-BE49-F238E27FC236}">
                <a16:creationId xmlns:a16="http://schemas.microsoft.com/office/drawing/2014/main" id="{221E6AA8-8F39-4828-8E40-9A26477966FD}"/>
              </a:ext>
            </a:extLst>
          </p:cNvPr>
          <p:cNvSpPr>
            <a:spLocks xmlns:a="http://schemas.openxmlformats.org/drawingml/2006/main" noGrp="1"/>
          </p:cNvSpPr>
          <p:nvPr/>
        </p:nvSpPr>
        <p:spPr>
          <a:xfrm xmlns:a="http://schemas.openxmlformats.org/drawingml/2006/main">
            <a:off x="9006840" y="3694176"/>
            <a:ext cx="25054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C2410C"/>
                </a:solidFill>
                <a:latin typeface="Helvetica Neue"/>
                <a:ea typeface="Helvetica Neue"/>
                <a:cs typeface="Helvetica Neue"/>
              </a:rPr>
              <a:t>THEN OPEN</a:t>
            </a:r>
            <a:endParaRPr sz="950"/>
          </a:p>
        </p:txBody>
      </p:sp>
      <p:sp>
        <p:nvSpPr>
          <p:cNvPr id="49" name="Text 46">
            <a:extLst xmlns:a="http://schemas.openxmlformats.org/drawingml/2006/main">
              <a:ext uri="{FF2B5EF4-FFF2-40B4-BE49-F238E27FC236}">
                <a16:creationId xmlns:a16="http://schemas.microsoft.com/office/drawing/2014/main" id="{1F621B68-19CE-413E-AD5B-64967158506C}"/>
              </a:ext>
            </a:extLst>
          </p:cNvPr>
          <p:cNvSpPr>
            <a:spLocks xmlns:a="http://schemas.openxmlformats.org/drawingml/2006/main" noGrp="1"/>
          </p:cNvSpPr>
          <p:nvPr/>
        </p:nvSpPr>
        <p:spPr>
          <a:xfrm xmlns:a="http://schemas.openxmlformats.org/drawingml/2006/main">
            <a:off x="9006840" y="3948494"/>
            <a:ext cx="2505456" cy="31261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92"/>
              </a:lnSpc>
              <a:buNone/>
            </a:pPr>
            <a:r>
              <a:rPr sz="1200" b="1">
                <a:solidFill>
                  <a:srgbClr val="0B2545"/>
                </a:solidFill>
                <a:latin typeface="Helvetica Neue"/>
                <a:ea typeface="Helvetica Neue"/>
                <a:cs typeface="Helvetica Neue"/>
              </a:rPr>
              <a:t>docs/SALES_PLAYBOOK.md</a:t>
            </a:r>
            <a:endParaRPr sz="1200"/>
          </a:p>
        </p:txBody>
      </p:sp>
      <p:sp>
        <p:nvSpPr>
          <p:cNvPr id="50" name="Shape 47">
            <a:extLst xmlns:a="http://schemas.openxmlformats.org/drawingml/2006/main">
              <a:ext uri="{FF2B5EF4-FFF2-40B4-BE49-F238E27FC236}">
                <a16:creationId xmlns:a16="http://schemas.microsoft.com/office/drawing/2014/main" id="{A63AA409-4AA6-4324-9C59-9B4B6A20887F}"/>
              </a:ext>
            </a:extLst>
          </p:cNvPr>
          <p:cNvSpPr>
            <a:spLocks xmlns:a="http://schemas.openxmlformats.org/drawingml/2006/main" noGrp="1"/>
          </p:cNvSpPr>
          <p:nvPr/>
        </p:nvSpPr>
        <p:spPr>
          <a:xfrm xmlns:a="http://schemas.openxmlformats.org/drawingml/2006/main">
            <a:off x="10259568" y="4407408"/>
            <a:ext cx="0" cy="256032"/>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51" name="Shape 48">
            <a:extLst xmlns:a="http://schemas.openxmlformats.org/drawingml/2006/main">
              <a:ext uri="{FF2B5EF4-FFF2-40B4-BE49-F238E27FC236}">
                <a16:creationId xmlns:a16="http://schemas.microsoft.com/office/drawing/2014/main" id="{EF08B6B7-37B6-4BDE-B14F-D70F2877E607}"/>
              </a:ext>
            </a:extLst>
          </p:cNvPr>
          <p:cNvSpPr>
            <a:spLocks xmlns:a="http://schemas.openxmlformats.org/drawingml/2006/main" noGrp="1"/>
          </p:cNvSpPr>
          <p:nvPr/>
        </p:nvSpPr>
        <p:spPr>
          <a:xfrm xmlns:a="http://schemas.openxmlformats.org/drawingml/2006/main">
            <a:off x="8878824" y="4681728"/>
            <a:ext cx="2761488" cy="731520"/>
          </a:xfrm>
          <a:prstGeom xmlns:a="http://schemas.openxmlformats.org/drawingml/2006/main" prst="roundRect">
            <a:avLst>
              <a:gd name="adj" fmla="val 10000"/>
            </a:avLst>
          </a:prstGeom>
          <a:solidFill xmlns:a="http://schemas.openxmlformats.org/drawingml/2006/main">
            <a:srgbClr val="0B2545"/>
          </a:solidFill>
          <a:ln xmlns:a="http://schemas.openxmlformats.org/drawingml/2006/main" w="15875">
            <a:solidFill>
              <a:srgbClr val="0B2545"/>
            </a:solidFill>
            <a:prstDash val="solid"/>
          </a:ln>
        </p:spPr>
      </p:sp>
      <p:sp>
        <p:nvSpPr>
          <p:cNvPr id="52" name="Text 49">
            <a:extLst xmlns:a="http://schemas.openxmlformats.org/drawingml/2006/main">
              <a:ext uri="{FF2B5EF4-FFF2-40B4-BE49-F238E27FC236}">
                <a16:creationId xmlns:a16="http://schemas.microsoft.com/office/drawing/2014/main" id="{97B3CB7A-B3AE-44EC-A3CE-35DC401BE995}"/>
              </a:ext>
            </a:extLst>
          </p:cNvPr>
          <p:cNvSpPr>
            <a:spLocks xmlns:a="http://schemas.openxmlformats.org/drawingml/2006/main" noGrp="1"/>
          </p:cNvSpPr>
          <p:nvPr/>
        </p:nvSpPr>
        <p:spPr>
          <a:xfrm xmlns:a="http://schemas.openxmlformats.org/drawingml/2006/main">
            <a:off x="9006840" y="4809744"/>
            <a:ext cx="25054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C6D5E8"/>
                </a:solidFill>
                <a:latin typeface="Helvetica Neue"/>
                <a:ea typeface="Helvetica Neue"/>
                <a:cs typeface="Helvetica Neue"/>
              </a:rPr>
              <a:t>FIRST ACTION</a:t>
            </a:r>
            <a:endParaRPr sz="950"/>
          </a:p>
        </p:txBody>
      </p:sp>
      <p:sp>
        <p:nvSpPr>
          <p:cNvPr id="53" name="Text 50">
            <a:extLst xmlns:a="http://schemas.openxmlformats.org/drawingml/2006/main">
              <a:ext uri="{FF2B5EF4-FFF2-40B4-BE49-F238E27FC236}">
                <a16:creationId xmlns:a16="http://schemas.microsoft.com/office/drawing/2014/main" id="{283D4D45-362A-4737-AAC5-42B4AF7C6580}"/>
              </a:ext>
            </a:extLst>
          </p:cNvPr>
          <p:cNvSpPr>
            <a:spLocks xmlns:a="http://schemas.openxmlformats.org/drawingml/2006/main" noGrp="1"/>
          </p:cNvSpPr>
          <p:nvPr/>
        </p:nvSpPr>
        <p:spPr>
          <a:xfrm xmlns:a="http://schemas.openxmlformats.org/drawingml/2006/main">
            <a:off x="9006840" y="5064062"/>
            <a:ext cx="2505456" cy="22117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Choose the pilot audience</a:t>
            </a:r>
            <a:endParaRPr sz="1250"/>
          </a:p>
        </p:txBody>
      </p:sp>
      <p:sp>
        <p:nvSpPr>
          <p:cNvPr id="54" name="Shape 51">
            <a:extLst xmlns:a="http://schemas.openxmlformats.org/drawingml/2006/main">
              <a:ext uri="{FF2B5EF4-FFF2-40B4-BE49-F238E27FC236}">
                <a16:creationId xmlns:a16="http://schemas.microsoft.com/office/drawing/2014/main" id="{9584640A-9B22-494C-9AE2-39754963B865}"/>
              </a:ext>
            </a:extLst>
          </p:cNvPr>
          <p:cNvSpPr>
            <a:spLocks xmlns:a="http://schemas.openxmlformats.org/drawingml/2006/main" noGrp="1"/>
          </p:cNvSpPr>
          <p:nvPr/>
        </p:nvSpPr>
        <p:spPr>
          <a:xfrm xmlns:a="http://schemas.openxmlformats.org/drawingml/2006/main">
            <a:off x="2834640" y="5559552"/>
            <a:ext cx="1645920" cy="548640"/>
          </a:xfrm>
          <a:prstGeom xmlns:a="http://schemas.openxmlformats.org/drawingml/2006/main" prst="roundRect">
            <a:avLst>
              <a:gd name="adj" fmla="val 13333"/>
            </a:avLst>
          </a:prstGeom>
          <a:solidFill xmlns:a="http://schemas.openxmlformats.org/drawingml/2006/main">
            <a:srgbClr val="52677F"/>
          </a:solidFill>
          <a:ln xmlns:a="http://schemas.openxmlformats.org/drawingml/2006/main" w="15875">
            <a:solidFill>
              <a:srgbClr val="52677F"/>
            </a:solidFill>
            <a:prstDash val="solid"/>
          </a:ln>
        </p:spPr>
      </p:sp>
      <p:sp>
        <p:nvSpPr>
          <p:cNvPr id="55" name="Text 52">
            <a:extLst xmlns:a="http://schemas.openxmlformats.org/drawingml/2006/main">
              <a:ext uri="{FF2B5EF4-FFF2-40B4-BE49-F238E27FC236}">
                <a16:creationId xmlns:a16="http://schemas.microsoft.com/office/drawing/2014/main" id="{70B1BC68-7A14-487D-9102-252978CA9600}"/>
              </a:ext>
            </a:extLst>
          </p:cNvPr>
          <p:cNvSpPr>
            <a:spLocks xmlns:a="http://schemas.openxmlformats.org/drawingml/2006/main" noGrp="1"/>
          </p:cNvSpPr>
          <p:nvPr/>
        </p:nvSpPr>
        <p:spPr>
          <a:xfrm xmlns:a="http://schemas.openxmlformats.org/drawingml/2006/main">
            <a:off x="2962656" y="5687568"/>
            <a:ext cx="13898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566"/>
              </a:lnSpc>
              <a:buNone/>
            </a:pPr>
            <a:r>
              <a:rPr sz="1350" b="1">
                <a:solidFill>
                  <a:srgbClr val="FFFFFF"/>
                </a:solidFill>
                <a:latin typeface="Helvetica Neue"/>
                <a:ea typeface="Helvetica Neue"/>
                <a:cs typeface="Helvetica Neue"/>
              </a:rPr>
              <a:t>EVERYONE</a:t>
            </a:r>
            <a:endParaRPr sz="1350"/>
          </a:p>
        </p:txBody>
      </p:sp>
      <p:sp>
        <p:nvSpPr>
          <p:cNvPr id="56" name="Shape 53">
            <a:extLst xmlns:a="http://schemas.openxmlformats.org/drawingml/2006/main">
              <a:ext uri="{FF2B5EF4-FFF2-40B4-BE49-F238E27FC236}">
                <a16:creationId xmlns:a16="http://schemas.microsoft.com/office/drawing/2014/main" id="{3C0C55C9-6840-4495-B283-B12BDD1DD779}"/>
              </a:ext>
            </a:extLst>
          </p:cNvPr>
          <p:cNvSpPr>
            <a:spLocks xmlns:a="http://schemas.openxmlformats.org/drawingml/2006/main" noGrp="1"/>
          </p:cNvSpPr>
          <p:nvPr/>
        </p:nvSpPr>
        <p:spPr>
          <a:xfrm xmlns:a="http://schemas.openxmlformats.org/drawingml/2006/main">
            <a:off x="4480560" y="5833872"/>
            <a:ext cx="34747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57" name="Shape 54">
            <a:extLst xmlns:a="http://schemas.openxmlformats.org/drawingml/2006/main">
              <a:ext uri="{FF2B5EF4-FFF2-40B4-BE49-F238E27FC236}">
                <a16:creationId xmlns:a16="http://schemas.microsoft.com/office/drawing/2014/main" id="{A6565CAA-C5BE-4771-B0E8-5054A4E30262}"/>
              </a:ext>
            </a:extLst>
          </p:cNvPr>
          <p:cNvSpPr>
            <a:spLocks xmlns:a="http://schemas.openxmlformats.org/drawingml/2006/main" noGrp="1"/>
          </p:cNvSpPr>
          <p:nvPr/>
        </p:nvSpPr>
        <p:spPr>
          <a:xfrm xmlns:a="http://schemas.openxmlformats.org/drawingml/2006/main">
            <a:off x="4828032" y="5559552"/>
            <a:ext cx="6812280" cy="548640"/>
          </a:xfrm>
          <a:prstGeom xmlns:a="http://schemas.openxmlformats.org/drawingml/2006/main" prst="roundRect">
            <a:avLst>
              <a:gd name="adj" fmla="val 13333"/>
            </a:avLst>
          </a:prstGeom>
          <a:solidFill xmlns:a="http://schemas.openxmlformats.org/drawingml/2006/main">
            <a:srgbClr val="F3F6FB"/>
          </a:solidFill>
          <a:ln xmlns:a="http://schemas.openxmlformats.org/drawingml/2006/main" w="15875">
            <a:solidFill>
              <a:srgbClr val="C9D6E8"/>
            </a:solidFill>
            <a:prstDash val="solid"/>
          </a:ln>
        </p:spPr>
      </p:sp>
      <p:sp>
        <p:nvSpPr>
          <p:cNvPr id="58" name="Text 55">
            <a:extLst xmlns:a="http://schemas.openxmlformats.org/drawingml/2006/main">
              <a:ext uri="{FF2B5EF4-FFF2-40B4-BE49-F238E27FC236}">
                <a16:creationId xmlns:a16="http://schemas.microsoft.com/office/drawing/2014/main" id="{ADA87680-EC5E-408D-860B-DB0B7341BD5B}"/>
              </a:ext>
            </a:extLst>
          </p:cNvPr>
          <p:cNvSpPr>
            <a:spLocks xmlns:a="http://schemas.openxmlformats.org/drawingml/2006/main" noGrp="1"/>
          </p:cNvSpPr>
          <p:nvPr/>
        </p:nvSpPr>
        <p:spPr>
          <a:xfrm xmlns:a="http://schemas.openxmlformats.org/drawingml/2006/main">
            <a:off x="4956048" y="5687568"/>
            <a:ext cx="655624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508"/>
              </a:lnSpc>
              <a:buNone/>
            </a:pPr>
            <a:r>
              <a:rPr sz="1300" b="1">
                <a:solidFill>
                  <a:srgbClr val="0B2545"/>
                </a:solidFill>
                <a:latin typeface="Helvetica Neue"/>
                <a:ea typeface="Helvetica Neue"/>
                <a:cs typeface="Helvetica Neue"/>
              </a:rPr>
              <a:t>Slides 4–13 explain the problem and the customer experience. Read them first if Career Studio is new to you.</a:t>
            </a:r>
            <a:endParaRPr sz="1300"/>
          </a:p>
        </p:txBody>
      </p:sp>
    </p:spTree>
    <p:extLst>
      <p:ext uri="{BB962C8B-B14F-4D97-AF65-F5344CB8AC3E}">
        <p14:creationId xmlns:p14="http://schemas.microsoft.com/office/powerpoint/2010/main" val="13251114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4D9BF548-8B72-42C3-924A-8A49E716F131}"/>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0B2545"/>
                </a:solidFill>
                <a:latin typeface="Helvetica Neue"/>
                <a:ea typeface="Helvetica Neue"/>
                <a:cs typeface="Helvetica Neue"/>
              </a:rPr>
              <a:t>CAREER STUDIO · PRODUCT HANDOFF</a:t>
            </a:r>
            <a:endParaRPr sz="1100"/>
          </a:p>
        </p:txBody>
      </p:sp>
      <p:sp>
        <p:nvSpPr>
          <p:cNvPr id="4" name="Shape 1">
            <a:extLst xmlns:a="http://schemas.openxmlformats.org/drawingml/2006/main">
              <a:ext uri="{FF2B5EF4-FFF2-40B4-BE49-F238E27FC236}">
                <a16:creationId xmlns:a16="http://schemas.microsoft.com/office/drawing/2014/main" id="{E29D8B77-E3BF-484D-B274-FC2893D36F1F}"/>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85DE0C81-2DB3-4E00-BD37-AE3AEA0F5171}"/>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DB3E6279-F8E5-4DCB-AB33-CA631E92E0E2}"/>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What this deck covers</a:t>
            </a:r>
            <a:endParaRPr sz="3000"/>
          </a:p>
        </p:txBody>
      </p:sp>
      <p:sp>
        <p:nvSpPr>
          <p:cNvPr id="7" name="Text 4">
            <a:extLst xmlns:a="http://schemas.openxmlformats.org/drawingml/2006/main">
              <a:ext uri="{FF2B5EF4-FFF2-40B4-BE49-F238E27FC236}">
                <a16:creationId xmlns:a16="http://schemas.microsoft.com/office/drawing/2014/main" id="{982D745C-56E4-4C93-BD58-697DE5392FDF}"/>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Three parts: what the product does, what is built and how to run it, how to pilot and sell it.</a:t>
            </a:r>
            <a:endParaRPr sz="1500"/>
          </a:p>
        </p:txBody>
      </p:sp>
      <p:sp>
        <p:nvSpPr>
          <p:cNvPr id="8" name="Shape 5">
            <a:extLst xmlns:a="http://schemas.openxmlformats.org/drawingml/2006/main">
              <a:ext uri="{FF2B5EF4-FFF2-40B4-BE49-F238E27FC236}">
                <a16:creationId xmlns:a16="http://schemas.microsoft.com/office/drawing/2014/main" id="{B4EFFF28-6E0D-4E01-8175-06C7FD710213}"/>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9035BF04-40D5-45EB-89F5-882C576B4E32}"/>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8908C7F6-0748-4B57-95D2-1B7380970B30}"/>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3 / 29</a:t>
            </a:r>
            <a:endParaRPr sz="900"/>
          </a:p>
        </p:txBody>
      </p:sp>
      <p:sp>
        <p:nvSpPr>
          <p:cNvPr id="11" name="Shape 8">
            <a:extLst xmlns:a="http://schemas.openxmlformats.org/drawingml/2006/main">
              <a:ext uri="{FF2B5EF4-FFF2-40B4-BE49-F238E27FC236}">
                <a16:creationId xmlns:a16="http://schemas.microsoft.com/office/drawing/2014/main" id="{C6F14BAC-6BA0-4E42-A7A9-2818D50C4F66}"/>
              </a:ext>
            </a:extLst>
          </p:cNvPr>
          <p:cNvSpPr>
            <a:spLocks xmlns:a="http://schemas.openxmlformats.org/drawingml/2006/main" noGrp="1"/>
          </p:cNvSpPr>
          <p:nvPr/>
        </p:nvSpPr>
        <p:spPr>
          <a:xfrm xmlns:a="http://schemas.openxmlformats.org/drawingml/2006/main">
            <a:off x="548640" y="1645920"/>
            <a:ext cx="3545738" cy="3611880"/>
          </a:xfrm>
          <a:prstGeom xmlns:a="http://schemas.openxmlformats.org/drawingml/2006/main" prst="roundRect">
            <a:avLst>
              <a:gd name="adj" fmla="val 2063"/>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A8E9061D-7773-478C-A9DD-6832DAC14868}"/>
              </a:ext>
            </a:extLst>
          </p:cNvPr>
          <p:cNvSpPr>
            <a:spLocks xmlns:a="http://schemas.openxmlformats.org/drawingml/2006/main" noGrp="1"/>
          </p:cNvSpPr>
          <p:nvPr/>
        </p:nvSpPr>
        <p:spPr>
          <a:xfrm xmlns:a="http://schemas.openxmlformats.org/drawingml/2006/main">
            <a:off x="557784" y="1755648"/>
            <a:ext cx="54864" cy="3392424"/>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3" name="Text 10">
            <a:extLst xmlns:a="http://schemas.openxmlformats.org/drawingml/2006/main">
              <a:ext uri="{FF2B5EF4-FFF2-40B4-BE49-F238E27FC236}">
                <a16:creationId xmlns:a16="http://schemas.microsoft.com/office/drawing/2014/main" id="{B2B587BC-047E-44A7-85CE-F5D8E4D8B2F4}"/>
              </a:ext>
            </a:extLst>
          </p:cNvPr>
          <p:cNvSpPr>
            <a:spLocks xmlns:a="http://schemas.openxmlformats.org/drawingml/2006/main" noGrp="1"/>
          </p:cNvSpPr>
          <p:nvPr/>
        </p:nvSpPr>
        <p:spPr>
          <a:xfrm xmlns:a="http://schemas.openxmlformats.org/drawingml/2006/main">
            <a:off x="822960" y="1901952"/>
            <a:ext cx="1463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600" b="1">
                <a:solidFill>
                  <a:srgbClr val="1F7A5A"/>
                </a:solidFill>
                <a:latin typeface="Helvetica Neue"/>
                <a:ea typeface="Helvetica Neue"/>
                <a:cs typeface="Helvetica Neue"/>
              </a:rPr>
              <a:t>01</a:t>
            </a:r>
            <a:endParaRPr sz="4600"/>
          </a:p>
        </p:txBody>
      </p:sp>
      <p:sp>
        <p:nvSpPr>
          <p:cNvPr id="14" name="Text 11">
            <a:extLst xmlns:a="http://schemas.openxmlformats.org/drawingml/2006/main">
              <a:ext uri="{FF2B5EF4-FFF2-40B4-BE49-F238E27FC236}">
                <a16:creationId xmlns:a16="http://schemas.microsoft.com/office/drawing/2014/main" id="{7358D05C-FEC1-44EF-9DD5-FA3A66E72FAC}"/>
              </a:ext>
            </a:extLst>
          </p:cNvPr>
          <p:cNvSpPr>
            <a:spLocks xmlns:a="http://schemas.openxmlformats.org/drawingml/2006/main" noGrp="1"/>
          </p:cNvSpPr>
          <p:nvPr/>
        </p:nvSpPr>
        <p:spPr>
          <a:xfrm xmlns:a="http://schemas.openxmlformats.org/drawingml/2006/main">
            <a:off x="822960" y="2816352"/>
            <a:ext cx="29970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500"/>
              </a:lnSpc>
              <a:buNone/>
            </a:pPr>
            <a:r>
              <a:rPr sz="1900" b="1">
                <a:solidFill>
                  <a:srgbClr val="0B2545"/>
                </a:solidFill>
                <a:latin typeface="Helvetica Neue"/>
                <a:ea typeface="Helvetica Neue"/>
                <a:cs typeface="Helvetica Neue"/>
              </a:rPr>
              <a:t>What the product does</a:t>
            </a:r>
            <a:endParaRPr sz="1900"/>
          </a:p>
        </p:txBody>
      </p:sp>
      <p:sp>
        <p:nvSpPr>
          <p:cNvPr id="15" name="Text 12">
            <a:extLst xmlns:a="http://schemas.openxmlformats.org/drawingml/2006/main">
              <a:ext uri="{FF2B5EF4-FFF2-40B4-BE49-F238E27FC236}">
                <a16:creationId xmlns:a16="http://schemas.microsoft.com/office/drawing/2014/main" id="{FFC01A37-0860-4AE6-8429-AC044FB88F93}"/>
              </a:ext>
            </a:extLst>
          </p:cNvPr>
          <p:cNvSpPr>
            <a:spLocks xmlns:a="http://schemas.openxmlformats.org/drawingml/2006/main" noGrp="1"/>
          </p:cNvSpPr>
          <p:nvPr/>
        </p:nvSpPr>
        <p:spPr>
          <a:xfrm xmlns:a="http://schemas.openxmlformats.org/drawingml/2006/main">
            <a:off x="822960" y="3694176"/>
            <a:ext cx="29970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spc="110">
                <a:solidFill>
                  <a:srgbClr val="52677F"/>
                </a:solidFill>
                <a:latin typeface="Helvetica Neue"/>
                <a:ea typeface="Helvetica Neue"/>
                <a:cs typeface="Helvetica Neue"/>
              </a:rPr>
              <a:t>Slides 4 – 13</a:t>
            </a:r>
            <a:endParaRPr sz="1150"/>
          </a:p>
        </p:txBody>
      </p:sp>
      <p:sp>
        <p:nvSpPr>
          <p:cNvPr id="16" name="Shape 13">
            <a:extLst xmlns:a="http://schemas.openxmlformats.org/drawingml/2006/main">
              <a:ext uri="{FF2B5EF4-FFF2-40B4-BE49-F238E27FC236}">
                <a16:creationId xmlns:a16="http://schemas.microsoft.com/office/drawing/2014/main" id="{5E47EF57-CE7F-4658-A3FB-C0114CBC7B12}"/>
              </a:ext>
            </a:extLst>
          </p:cNvPr>
          <p:cNvSpPr>
            <a:spLocks xmlns:a="http://schemas.openxmlformats.org/drawingml/2006/main" noGrp="1"/>
          </p:cNvSpPr>
          <p:nvPr/>
        </p:nvSpPr>
        <p:spPr>
          <a:xfrm xmlns:a="http://schemas.openxmlformats.org/drawingml/2006/main">
            <a:off x="822960" y="4023360"/>
            <a:ext cx="2997098"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17" name="Text 14">
            <a:extLst xmlns:a="http://schemas.openxmlformats.org/drawingml/2006/main">
              <a:ext uri="{FF2B5EF4-FFF2-40B4-BE49-F238E27FC236}">
                <a16:creationId xmlns:a16="http://schemas.microsoft.com/office/drawing/2014/main" id="{4FF60843-9212-4FE0-927F-B3CFB53507E0}"/>
              </a:ext>
            </a:extLst>
          </p:cNvPr>
          <p:cNvSpPr>
            <a:spLocks xmlns:a="http://schemas.openxmlformats.org/drawingml/2006/main" noGrp="1"/>
          </p:cNvSpPr>
          <p:nvPr/>
        </p:nvSpPr>
        <p:spPr>
          <a:xfrm xmlns:a="http://schemas.openxmlformats.org/drawingml/2006/main">
            <a:off x="822960" y="4169664"/>
            <a:ext cx="299709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900"/>
              </a:lnSpc>
              <a:buNone/>
            </a:pPr>
            <a:r>
              <a:rPr sz="1400">
                <a:solidFill>
                  <a:srgbClr val="171717"/>
                </a:solidFill>
                <a:latin typeface="Helvetica Neue"/>
                <a:ea typeface="Helvetica Neue"/>
                <a:cs typeface="Helvetica Neue"/>
              </a:rPr>
              <a:t>The problem, the customer journey and the product itself.</a:t>
            </a:r>
            <a:endParaRPr sz="1400"/>
          </a:p>
        </p:txBody>
      </p:sp>
      <p:sp>
        <p:nvSpPr>
          <p:cNvPr id="18" name="Shape 15">
            <a:extLst xmlns:a="http://schemas.openxmlformats.org/drawingml/2006/main">
              <a:ext uri="{FF2B5EF4-FFF2-40B4-BE49-F238E27FC236}">
                <a16:creationId xmlns:a16="http://schemas.microsoft.com/office/drawing/2014/main" id="{4098F2F7-DF53-49B1-995A-3AC1B356DC93}"/>
              </a:ext>
            </a:extLst>
          </p:cNvPr>
          <p:cNvSpPr>
            <a:spLocks xmlns:a="http://schemas.openxmlformats.org/drawingml/2006/main" noGrp="1"/>
          </p:cNvSpPr>
          <p:nvPr/>
        </p:nvSpPr>
        <p:spPr>
          <a:xfrm xmlns:a="http://schemas.openxmlformats.org/drawingml/2006/main">
            <a:off x="4322978" y="1645920"/>
            <a:ext cx="3545738" cy="3611880"/>
          </a:xfrm>
          <a:prstGeom xmlns:a="http://schemas.openxmlformats.org/drawingml/2006/main" prst="roundRect">
            <a:avLst>
              <a:gd name="adj" fmla="val 2063"/>
            </a:avLst>
          </a:prstGeom>
          <a:solidFill xmlns:a="http://schemas.openxmlformats.org/drawingml/2006/main">
            <a:srgbClr val="F3F6FB"/>
          </a:solidFill>
          <a:ln xmlns:a="http://schemas.openxmlformats.org/drawingml/2006/main" w="9525">
            <a:solidFill>
              <a:srgbClr val="C9D6E8"/>
            </a:solidFill>
            <a:prstDash val="solid"/>
          </a:ln>
        </p:spPr>
      </p:sp>
      <p:sp>
        <p:nvSpPr>
          <p:cNvPr id="19" name="Shape 16">
            <a:extLst xmlns:a="http://schemas.openxmlformats.org/drawingml/2006/main">
              <a:ext uri="{FF2B5EF4-FFF2-40B4-BE49-F238E27FC236}">
                <a16:creationId xmlns:a16="http://schemas.microsoft.com/office/drawing/2014/main" id="{C08884EC-C634-4A7A-ADDB-BE8C8B4A9CFA}"/>
              </a:ext>
            </a:extLst>
          </p:cNvPr>
          <p:cNvSpPr>
            <a:spLocks xmlns:a="http://schemas.openxmlformats.org/drawingml/2006/main" noGrp="1"/>
          </p:cNvSpPr>
          <p:nvPr/>
        </p:nvSpPr>
        <p:spPr>
          <a:xfrm xmlns:a="http://schemas.openxmlformats.org/drawingml/2006/main">
            <a:off x="4332122" y="1755648"/>
            <a:ext cx="54864" cy="33924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0" name="Text 17">
            <a:extLst xmlns:a="http://schemas.openxmlformats.org/drawingml/2006/main">
              <a:ext uri="{FF2B5EF4-FFF2-40B4-BE49-F238E27FC236}">
                <a16:creationId xmlns:a16="http://schemas.microsoft.com/office/drawing/2014/main" id="{3B2DB30A-6FD8-4C52-9CFA-621AEDBE38B3}"/>
              </a:ext>
            </a:extLst>
          </p:cNvPr>
          <p:cNvSpPr>
            <a:spLocks xmlns:a="http://schemas.openxmlformats.org/drawingml/2006/main" noGrp="1"/>
          </p:cNvSpPr>
          <p:nvPr/>
        </p:nvSpPr>
        <p:spPr>
          <a:xfrm xmlns:a="http://schemas.openxmlformats.org/drawingml/2006/main">
            <a:off x="4597298" y="1901952"/>
            <a:ext cx="1463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600" b="1">
                <a:solidFill>
                  <a:srgbClr val="175CD4"/>
                </a:solidFill>
                <a:latin typeface="Helvetica Neue"/>
                <a:ea typeface="Helvetica Neue"/>
                <a:cs typeface="Helvetica Neue"/>
              </a:rPr>
              <a:t>02</a:t>
            </a:r>
            <a:endParaRPr sz="4600"/>
          </a:p>
        </p:txBody>
      </p:sp>
      <p:sp>
        <p:nvSpPr>
          <p:cNvPr id="21" name="Text 18">
            <a:extLst xmlns:a="http://schemas.openxmlformats.org/drawingml/2006/main">
              <a:ext uri="{FF2B5EF4-FFF2-40B4-BE49-F238E27FC236}">
                <a16:creationId xmlns:a16="http://schemas.microsoft.com/office/drawing/2014/main" id="{2D2772D0-AF49-4F84-974C-91817CDB78A3}"/>
              </a:ext>
            </a:extLst>
          </p:cNvPr>
          <p:cNvSpPr>
            <a:spLocks xmlns:a="http://schemas.openxmlformats.org/drawingml/2006/main" noGrp="1"/>
          </p:cNvSpPr>
          <p:nvPr/>
        </p:nvSpPr>
        <p:spPr>
          <a:xfrm xmlns:a="http://schemas.openxmlformats.org/drawingml/2006/main">
            <a:off x="4597298" y="2816352"/>
            <a:ext cx="29970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500"/>
              </a:lnSpc>
              <a:buNone/>
            </a:pPr>
            <a:r>
              <a:rPr sz="1900" b="1">
                <a:solidFill>
                  <a:srgbClr val="0B2545"/>
                </a:solidFill>
                <a:latin typeface="Helvetica Neue"/>
                <a:ea typeface="Helvetica Neue"/>
                <a:cs typeface="Helvetica Neue"/>
              </a:rPr>
              <a:t>What is built and how to run it</a:t>
            </a:r>
            <a:endParaRPr sz="1900"/>
          </a:p>
        </p:txBody>
      </p:sp>
      <p:sp>
        <p:nvSpPr>
          <p:cNvPr id="22" name="Text 19">
            <a:extLst xmlns:a="http://schemas.openxmlformats.org/drawingml/2006/main">
              <a:ext uri="{FF2B5EF4-FFF2-40B4-BE49-F238E27FC236}">
                <a16:creationId xmlns:a16="http://schemas.microsoft.com/office/drawing/2014/main" id="{E2B0CC8B-97DD-40B5-90EF-249BD0F1C186}"/>
              </a:ext>
            </a:extLst>
          </p:cNvPr>
          <p:cNvSpPr>
            <a:spLocks xmlns:a="http://schemas.openxmlformats.org/drawingml/2006/main" noGrp="1"/>
          </p:cNvSpPr>
          <p:nvPr/>
        </p:nvSpPr>
        <p:spPr>
          <a:xfrm xmlns:a="http://schemas.openxmlformats.org/drawingml/2006/main">
            <a:off x="4597298" y="3694176"/>
            <a:ext cx="29970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spc="110">
                <a:solidFill>
                  <a:srgbClr val="52677F"/>
                </a:solidFill>
                <a:latin typeface="Helvetica Neue"/>
                <a:ea typeface="Helvetica Neue"/>
                <a:cs typeface="Helvetica Neue"/>
              </a:rPr>
              <a:t>Slides 14 – 22</a:t>
            </a:r>
            <a:endParaRPr sz="1150"/>
          </a:p>
        </p:txBody>
      </p:sp>
      <p:sp>
        <p:nvSpPr>
          <p:cNvPr id="23" name="Shape 20">
            <a:extLst xmlns:a="http://schemas.openxmlformats.org/drawingml/2006/main">
              <a:ext uri="{FF2B5EF4-FFF2-40B4-BE49-F238E27FC236}">
                <a16:creationId xmlns:a16="http://schemas.microsoft.com/office/drawing/2014/main" id="{6F290A91-2B61-4C87-B8F2-B4DBB3E3A1E4}"/>
              </a:ext>
            </a:extLst>
          </p:cNvPr>
          <p:cNvSpPr>
            <a:spLocks xmlns:a="http://schemas.openxmlformats.org/drawingml/2006/main" noGrp="1"/>
          </p:cNvSpPr>
          <p:nvPr/>
        </p:nvSpPr>
        <p:spPr>
          <a:xfrm xmlns:a="http://schemas.openxmlformats.org/drawingml/2006/main">
            <a:off x="4597298" y="4023360"/>
            <a:ext cx="2997098"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24" name="Text 21">
            <a:extLst xmlns:a="http://schemas.openxmlformats.org/drawingml/2006/main">
              <a:ext uri="{FF2B5EF4-FFF2-40B4-BE49-F238E27FC236}">
                <a16:creationId xmlns:a16="http://schemas.microsoft.com/office/drawing/2014/main" id="{102F66F6-814E-4196-B90E-B095DA43D7FF}"/>
              </a:ext>
            </a:extLst>
          </p:cNvPr>
          <p:cNvSpPr>
            <a:spLocks xmlns:a="http://schemas.openxmlformats.org/drawingml/2006/main" noGrp="1"/>
          </p:cNvSpPr>
          <p:nvPr/>
        </p:nvSpPr>
        <p:spPr>
          <a:xfrm xmlns:a="http://schemas.openxmlformats.org/drawingml/2006/main">
            <a:off x="4597298" y="4169664"/>
            <a:ext cx="299709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900"/>
              </a:lnSpc>
              <a:buNone/>
            </a:pPr>
            <a:r>
              <a:rPr sz="1400">
                <a:solidFill>
                  <a:srgbClr val="171717"/>
                </a:solidFill>
                <a:latin typeface="Helvetica Neue"/>
                <a:ea typeface="Helvetica Neue"/>
                <a:cs typeface="Helvetica Neue"/>
              </a:rPr>
              <a:t>The launch plan, the system, the code map and the gates.</a:t>
            </a:r>
            <a:endParaRPr sz="1400"/>
          </a:p>
        </p:txBody>
      </p:sp>
      <p:sp>
        <p:nvSpPr>
          <p:cNvPr id="25" name="Shape 22">
            <a:extLst xmlns:a="http://schemas.openxmlformats.org/drawingml/2006/main">
              <a:ext uri="{FF2B5EF4-FFF2-40B4-BE49-F238E27FC236}">
                <a16:creationId xmlns:a16="http://schemas.microsoft.com/office/drawing/2014/main" id="{FA0E9CA6-1821-44DF-921E-3B7329D4DD05}"/>
              </a:ext>
            </a:extLst>
          </p:cNvPr>
          <p:cNvSpPr>
            <a:spLocks xmlns:a="http://schemas.openxmlformats.org/drawingml/2006/main" noGrp="1"/>
          </p:cNvSpPr>
          <p:nvPr/>
        </p:nvSpPr>
        <p:spPr>
          <a:xfrm xmlns:a="http://schemas.openxmlformats.org/drawingml/2006/main">
            <a:off x="8097317" y="1645920"/>
            <a:ext cx="3545738" cy="3611880"/>
          </a:xfrm>
          <a:prstGeom xmlns:a="http://schemas.openxmlformats.org/drawingml/2006/main" prst="roundRect">
            <a:avLst>
              <a:gd name="adj" fmla="val 2063"/>
            </a:avLst>
          </a:prstGeom>
          <a:solidFill xmlns:a="http://schemas.openxmlformats.org/drawingml/2006/main">
            <a:srgbClr val="F3F6FB"/>
          </a:solidFill>
          <a:ln xmlns:a="http://schemas.openxmlformats.org/drawingml/2006/main" w="9525">
            <a:solidFill>
              <a:srgbClr val="C9D6E8"/>
            </a:solidFill>
            <a:prstDash val="solid"/>
          </a:ln>
        </p:spPr>
      </p:sp>
      <p:sp>
        <p:nvSpPr>
          <p:cNvPr id="26" name="Shape 23">
            <a:extLst xmlns:a="http://schemas.openxmlformats.org/drawingml/2006/main">
              <a:ext uri="{FF2B5EF4-FFF2-40B4-BE49-F238E27FC236}">
                <a16:creationId xmlns:a16="http://schemas.microsoft.com/office/drawing/2014/main" id="{65C6A6D9-D5D1-4E98-A296-A7B2E6309501}"/>
              </a:ext>
            </a:extLst>
          </p:cNvPr>
          <p:cNvSpPr>
            <a:spLocks xmlns:a="http://schemas.openxmlformats.org/drawingml/2006/main" noGrp="1"/>
          </p:cNvSpPr>
          <p:nvPr/>
        </p:nvSpPr>
        <p:spPr>
          <a:xfrm xmlns:a="http://schemas.openxmlformats.org/drawingml/2006/main">
            <a:off x="8106461" y="1755648"/>
            <a:ext cx="54864" cy="33924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27" name="Text 24">
            <a:extLst xmlns:a="http://schemas.openxmlformats.org/drawingml/2006/main">
              <a:ext uri="{FF2B5EF4-FFF2-40B4-BE49-F238E27FC236}">
                <a16:creationId xmlns:a16="http://schemas.microsoft.com/office/drawing/2014/main" id="{75EF7375-6FCA-4EE4-939B-87C6D7D1F828}"/>
              </a:ext>
            </a:extLst>
          </p:cNvPr>
          <p:cNvSpPr>
            <a:spLocks xmlns:a="http://schemas.openxmlformats.org/drawingml/2006/main" noGrp="1"/>
          </p:cNvSpPr>
          <p:nvPr/>
        </p:nvSpPr>
        <p:spPr>
          <a:xfrm xmlns:a="http://schemas.openxmlformats.org/drawingml/2006/main">
            <a:off x="8371637" y="1901952"/>
            <a:ext cx="1463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600" b="1">
                <a:solidFill>
                  <a:srgbClr val="C2410C"/>
                </a:solidFill>
                <a:latin typeface="Helvetica Neue"/>
                <a:ea typeface="Helvetica Neue"/>
                <a:cs typeface="Helvetica Neue"/>
              </a:rPr>
              <a:t>03</a:t>
            </a:r>
            <a:endParaRPr sz="4600"/>
          </a:p>
        </p:txBody>
      </p:sp>
      <p:sp>
        <p:nvSpPr>
          <p:cNvPr id="28" name="Text 25">
            <a:extLst xmlns:a="http://schemas.openxmlformats.org/drawingml/2006/main">
              <a:ext uri="{FF2B5EF4-FFF2-40B4-BE49-F238E27FC236}">
                <a16:creationId xmlns:a16="http://schemas.microsoft.com/office/drawing/2014/main" id="{F61D796F-B719-42EA-8990-7255CDF62329}"/>
              </a:ext>
            </a:extLst>
          </p:cNvPr>
          <p:cNvSpPr>
            <a:spLocks xmlns:a="http://schemas.openxmlformats.org/drawingml/2006/main" noGrp="1"/>
          </p:cNvSpPr>
          <p:nvPr/>
        </p:nvSpPr>
        <p:spPr>
          <a:xfrm xmlns:a="http://schemas.openxmlformats.org/drawingml/2006/main">
            <a:off x="8371637" y="2816352"/>
            <a:ext cx="29970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500"/>
              </a:lnSpc>
              <a:buNone/>
            </a:pPr>
            <a:r>
              <a:rPr sz="1900" b="1">
                <a:solidFill>
                  <a:srgbClr val="0B2545"/>
                </a:solidFill>
                <a:latin typeface="Helvetica Neue"/>
                <a:ea typeface="Helvetica Neue"/>
                <a:cs typeface="Helvetica Neue"/>
              </a:rPr>
              <a:t>How to pilot and sell it</a:t>
            </a:r>
            <a:endParaRPr sz="1900"/>
          </a:p>
        </p:txBody>
      </p:sp>
      <p:sp>
        <p:nvSpPr>
          <p:cNvPr id="29" name="Text 26">
            <a:extLst xmlns:a="http://schemas.openxmlformats.org/drawingml/2006/main">
              <a:ext uri="{FF2B5EF4-FFF2-40B4-BE49-F238E27FC236}">
                <a16:creationId xmlns:a16="http://schemas.microsoft.com/office/drawing/2014/main" id="{4D582CD3-C803-458A-9145-C00AEB5E3840}"/>
              </a:ext>
            </a:extLst>
          </p:cNvPr>
          <p:cNvSpPr>
            <a:spLocks xmlns:a="http://schemas.openxmlformats.org/drawingml/2006/main" noGrp="1"/>
          </p:cNvSpPr>
          <p:nvPr/>
        </p:nvSpPr>
        <p:spPr>
          <a:xfrm xmlns:a="http://schemas.openxmlformats.org/drawingml/2006/main">
            <a:off x="8371637" y="3694176"/>
            <a:ext cx="29970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50" b="1" spc="110">
                <a:solidFill>
                  <a:srgbClr val="52677F"/>
                </a:solidFill>
                <a:latin typeface="Helvetica Neue"/>
                <a:ea typeface="Helvetica Neue"/>
                <a:cs typeface="Helvetica Neue"/>
              </a:rPr>
              <a:t>Slides 23 – 29</a:t>
            </a:r>
            <a:endParaRPr sz="1150"/>
          </a:p>
        </p:txBody>
      </p:sp>
      <p:sp>
        <p:nvSpPr>
          <p:cNvPr id="30" name="Shape 27">
            <a:extLst xmlns:a="http://schemas.openxmlformats.org/drawingml/2006/main">
              <a:ext uri="{FF2B5EF4-FFF2-40B4-BE49-F238E27FC236}">
                <a16:creationId xmlns:a16="http://schemas.microsoft.com/office/drawing/2014/main" id="{6CE0B098-45E6-4E2E-8102-29B921EA8872}"/>
              </a:ext>
            </a:extLst>
          </p:cNvPr>
          <p:cNvSpPr>
            <a:spLocks xmlns:a="http://schemas.openxmlformats.org/drawingml/2006/main" noGrp="1"/>
          </p:cNvSpPr>
          <p:nvPr/>
        </p:nvSpPr>
        <p:spPr>
          <a:xfrm xmlns:a="http://schemas.openxmlformats.org/drawingml/2006/main">
            <a:off x="8371637" y="4023360"/>
            <a:ext cx="2997098"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31" name="Text 28">
            <a:extLst xmlns:a="http://schemas.openxmlformats.org/drawingml/2006/main">
              <a:ext uri="{FF2B5EF4-FFF2-40B4-BE49-F238E27FC236}">
                <a16:creationId xmlns:a16="http://schemas.microsoft.com/office/drawing/2014/main" id="{EB81FCDD-8E1B-45F3-BA9F-9BDB4A8950E1}"/>
              </a:ext>
            </a:extLst>
          </p:cNvPr>
          <p:cNvSpPr>
            <a:spLocks xmlns:a="http://schemas.openxmlformats.org/drawingml/2006/main" noGrp="1"/>
          </p:cNvSpPr>
          <p:nvPr/>
        </p:nvSpPr>
        <p:spPr>
          <a:xfrm xmlns:a="http://schemas.openxmlformats.org/drawingml/2006/main">
            <a:off x="8371637" y="4169664"/>
            <a:ext cx="299709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900"/>
              </a:lnSpc>
              <a:buNone/>
            </a:pPr>
            <a:r>
              <a:rPr sz="1400">
                <a:solidFill>
                  <a:srgbClr val="171717"/>
                </a:solidFill>
                <a:latin typeface="Helvetica Neue"/>
                <a:ea typeface="Helvetica Neue"/>
                <a:cs typeface="Helvetica Neue"/>
              </a:rPr>
              <a:t>Risks, the pilot experiment, the demo, pricing and measures.</a:t>
            </a:r>
            <a:endParaRPr sz="1400"/>
          </a:p>
        </p:txBody>
      </p:sp>
    </p:spTree>
    <p:extLst>
      <p:ext uri="{BB962C8B-B14F-4D97-AF65-F5344CB8AC3E}">
        <p14:creationId xmlns:p14="http://schemas.microsoft.com/office/powerpoint/2010/main" val="915299319"/>
      </p:ext>
    </p:extLst>
  </p:cSld>
</p:sld>
</file>

<file path=ppt/slides/slide4.xml><?xml version="1.0" encoding="utf-8"?>
<p:sld xmlns:p="http://schemas.openxmlformats.org/presentationml/2006/main">
  <p:cSld>
    <p:bg>
      <p:bgPr>
        <a:solidFill xmlns:a="http://schemas.openxmlformats.org/drawingml/2006/main">
          <a:srgbClr val="0F2A47"/>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349df7caa24a414d"/>
          <a:srcRect xmlns:a="http://schemas.openxmlformats.org/drawingml/2006/main" l="0" t="0" r="0" b="0"/>
          <a:stretch xmlns:a="http://schemas.openxmlformats.org/drawingml/2006/main"/>
        </p:blipFill>
        <p:spPr>
          <a:xfrm xmlns:a="http://schemas.openxmlformats.org/drawingml/2006/main">
            <a:off x="8899855" y="0"/>
            <a:ext cx="3291840" cy="6858000"/>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F1E0A1C5-C659-49BF-AF5F-B42D00D9E482}"/>
              </a:ext>
            </a:extLst>
          </p:cNvPr>
          <p:cNvSpPr>
            <a:spLocks xmlns:a="http://schemas.openxmlformats.org/drawingml/2006/main" noGrp="1"/>
          </p:cNvSpPr>
          <p:nvPr/>
        </p:nvSpPr>
        <p:spPr>
          <a:xfrm xmlns:a="http://schemas.openxmlformats.org/drawingml/2006/main">
            <a:off x="822960" y="1005840"/>
            <a:ext cx="361188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0" b="1">
                <a:solidFill>
                  <a:srgbClr val="54667C"/>
                </a:solidFill>
                <a:latin typeface="Helvetica Neue"/>
                <a:ea typeface="Helvetica Neue"/>
                <a:cs typeface="Helvetica Neue"/>
              </a:rPr>
              <a:t>01</a:t>
            </a:r>
            <a:endParaRPr sz="9600"/>
          </a:p>
        </p:txBody>
      </p:sp>
      <p:sp>
        <p:nvSpPr>
          <p:cNvPr id="5" name="Text 1">
            <a:extLst xmlns:a="http://schemas.openxmlformats.org/drawingml/2006/main">
              <a:ext uri="{FF2B5EF4-FFF2-40B4-BE49-F238E27FC236}">
                <a16:creationId xmlns:a16="http://schemas.microsoft.com/office/drawing/2014/main" id="{81C5AA71-4BB5-4E19-9E3F-C61DE9A49E4A}"/>
              </a:ext>
            </a:extLst>
          </p:cNvPr>
          <p:cNvSpPr>
            <a:spLocks xmlns:a="http://schemas.openxmlformats.org/drawingml/2006/main" noGrp="1"/>
          </p:cNvSpPr>
          <p:nvPr/>
        </p:nvSpPr>
        <p:spPr>
          <a:xfrm xmlns:a="http://schemas.openxmlformats.org/drawingml/2006/main">
            <a:off x="822960" y="2560320"/>
            <a:ext cx="36118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4200"/>
              </a:lnSpc>
              <a:buNone/>
            </a:pPr>
            <a:r>
              <a:rPr sz="3600" b="1">
                <a:solidFill>
                  <a:srgbClr val="FFFFFF"/>
                </a:solidFill>
                <a:latin typeface="Helvetica Neue"/>
                <a:ea typeface="Helvetica Neue"/>
                <a:cs typeface="Helvetica Neue"/>
              </a:rPr>
              <a:t>What the</a:t>
            </a:r>
            <a:endParaRPr sz="3600"/>
          </a:p>
          <a:p xmlns:a="http://schemas.openxmlformats.org/drawingml/2006/main">
            <a:pPr marL="0" indent="0">
              <a:lnSpc>
                <a:spcPts val="4200"/>
              </a:lnSpc>
              <a:buNone/>
            </a:pPr>
            <a:r>
              <a:rPr sz="3600" b="1">
                <a:solidFill>
                  <a:srgbClr val="FFFFFF"/>
                </a:solidFill>
                <a:latin typeface="Helvetica Neue"/>
                <a:ea typeface="Helvetica Neue"/>
                <a:cs typeface="Helvetica Neue"/>
              </a:rPr>
              <a:t>product does</a:t>
            </a:r>
            <a:endParaRPr sz="3600"/>
          </a:p>
        </p:txBody>
      </p:sp>
      <p:sp>
        <p:nvSpPr>
          <p:cNvPr id="6" name="Text 2">
            <a:extLst xmlns:a="http://schemas.openxmlformats.org/drawingml/2006/main">
              <a:ext uri="{FF2B5EF4-FFF2-40B4-BE49-F238E27FC236}">
                <a16:creationId xmlns:a16="http://schemas.microsoft.com/office/drawing/2014/main" id="{3D22E858-457B-41E7-9268-876D8194C3A1}"/>
              </a:ext>
            </a:extLst>
          </p:cNvPr>
          <p:cNvSpPr>
            <a:spLocks xmlns:a="http://schemas.openxmlformats.org/drawingml/2006/main" noGrp="1"/>
          </p:cNvSpPr>
          <p:nvPr/>
        </p:nvSpPr>
        <p:spPr>
          <a:xfrm xmlns:a="http://schemas.openxmlformats.org/drawingml/2006/main">
            <a:off x="822960" y="4617720"/>
            <a:ext cx="36118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700">
                <a:solidFill>
                  <a:srgbClr val="C6D5E8"/>
                </a:solidFill>
                <a:latin typeface="Helvetica Neue"/>
                <a:ea typeface="Helvetica Neue"/>
                <a:cs typeface="Helvetica Neue"/>
              </a:rPr>
              <a:t>The problem, the customer journey and the product itself.</a:t>
            </a:r>
            <a:endParaRPr sz="1700"/>
          </a:p>
        </p:txBody>
      </p:sp>
      <p:sp>
        <p:nvSpPr>
          <p:cNvPr id="7" name="Text 3">
            <a:extLst xmlns:a="http://schemas.openxmlformats.org/drawingml/2006/main">
              <a:ext uri="{FF2B5EF4-FFF2-40B4-BE49-F238E27FC236}">
                <a16:creationId xmlns:a16="http://schemas.microsoft.com/office/drawing/2014/main" id="{573F3463-98A5-4537-ADC5-EFC496D1E408}"/>
              </a:ext>
            </a:extLst>
          </p:cNvPr>
          <p:cNvSpPr>
            <a:spLocks xmlns:a="http://schemas.openxmlformats.org/drawingml/2006/main" noGrp="1"/>
          </p:cNvSpPr>
          <p:nvPr/>
        </p:nvSpPr>
        <p:spPr>
          <a:xfrm xmlns:a="http://schemas.openxmlformats.org/drawingml/2006/main">
            <a:off x="4617720" y="1298448"/>
            <a:ext cx="4069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5FC79E"/>
                </a:solidFill>
                <a:latin typeface="Helvetica Neue"/>
                <a:ea typeface="Helvetica Neue"/>
                <a:cs typeface="Helvetica Neue"/>
              </a:rPr>
              <a:t>IN THIS PART</a:t>
            </a:r>
            <a:endParaRPr sz="1100"/>
          </a:p>
        </p:txBody>
      </p:sp>
      <p:sp>
        <p:nvSpPr>
          <p:cNvPr id="8" name="Text 4">
            <a:extLst xmlns:a="http://schemas.openxmlformats.org/drawingml/2006/main">
              <a:ext uri="{FF2B5EF4-FFF2-40B4-BE49-F238E27FC236}">
                <a16:creationId xmlns:a16="http://schemas.microsoft.com/office/drawing/2014/main" id="{AF44D63C-CA7E-4336-B1A6-FDECCD7A84B9}"/>
              </a:ext>
            </a:extLst>
          </p:cNvPr>
          <p:cNvSpPr>
            <a:spLocks xmlns:a="http://schemas.openxmlformats.org/drawingml/2006/main" noGrp="1"/>
          </p:cNvSpPr>
          <p:nvPr/>
        </p:nvSpPr>
        <p:spPr>
          <a:xfrm xmlns:a="http://schemas.openxmlformats.org/drawingml/2006/main">
            <a:off x="4617720" y="171907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5 · The problem and where it came from</a:t>
            </a:r>
            <a:endParaRPr sz="1250"/>
          </a:p>
        </p:txBody>
      </p:sp>
      <p:sp>
        <p:nvSpPr>
          <p:cNvPr id="9" name="Text 5">
            <a:extLst xmlns:a="http://schemas.openxmlformats.org/drawingml/2006/main">
              <a:ext uri="{FF2B5EF4-FFF2-40B4-BE49-F238E27FC236}">
                <a16:creationId xmlns:a16="http://schemas.microsoft.com/office/drawing/2014/main" id="{901E47F4-EF54-4CCF-B56A-8803FF3551D2}"/>
              </a:ext>
            </a:extLst>
          </p:cNvPr>
          <p:cNvSpPr>
            <a:spLocks xmlns:a="http://schemas.openxmlformats.org/drawingml/2006/main" noGrp="1"/>
          </p:cNvSpPr>
          <p:nvPr/>
        </p:nvSpPr>
        <p:spPr>
          <a:xfrm xmlns:a="http://schemas.openxmlformats.org/drawingml/2006/main">
            <a:off x="4617720" y="2103120"/>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6 · Why not just use ChatGPT?</a:t>
            </a:r>
            <a:endParaRPr sz="1250"/>
          </a:p>
        </p:txBody>
      </p:sp>
      <p:sp>
        <p:nvSpPr>
          <p:cNvPr id="10" name="Text 6">
            <a:extLst xmlns:a="http://schemas.openxmlformats.org/drawingml/2006/main">
              <a:ext uri="{FF2B5EF4-FFF2-40B4-BE49-F238E27FC236}">
                <a16:creationId xmlns:a16="http://schemas.microsoft.com/office/drawing/2014/main" id="{6092D08A-F1D7-48C6-ADD7-626643E9D09B}"/>
              </a:ext>
            </a:extLst>
          </p:cNvPr>
          <p:cNvSpPr>
            <a:spLocks xmlns:a="http://schemas.openxmlformats.org/drawingml/2006/main" noGrp="1"/>
          </p:cNvSpPr>
          <p:nvPr/>
        </p:nvSpPr>
        <p:spPr>
          <a:xfrm xmlns:a="http://schemas.openxmlformats.org/drawingml/2006/main">
            <a:off x="4617720" y="2487168"/>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7 · The customer journey</a:t>
            </a:r>
            <a:endParaRPr sz="1250"/>
          </a:p>
        </p:txBody>
      </p:sp>
      <p:sp>
        <p:nvSpPr>
          <p:cNvPr id="11" name="Text 7">
            <a:extLst xmlns:a="http://schemas.openxmlformats.org/drawingml/2006/main">
              <a:ext uri="{FF2B5EF4-FFF2-40B4-BE49-F238E27FC236}">
                <a16:creationId xmlns:a16="http://schemas.microsoft.com/office/drawing/2014/main" id="{1CBDEE7E-2C4F-4590-8FD3-C908A8F5B132}"/>
              </a:ext>
            </a:extLst>
          </p:cNvPr>
          <p:cNvSpPr>
            <a:spLocks xmlns:a="http://schemas.openxmlformats.org/drawingml/2006/main" noGrp="1"/>
          </p:cNvSpPr>
          <p:nvPr/>
        </p:nvSpPr>
        <p:spPr>
          <a:xfrm xmlns:a="http://schemas.openxmlformats.org/drawingml/2006/main">
            <a:off x="4617720" y="2871216"/>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8 · The signed-in dashboard</a:t>
            </a:r>
            <a:endParaRPr sz="1250"/>
          </a:p>
        </p:txBody>
      </p:sp>
      <p:sp>
        <p:nvSpPr>
          <p:cNvPr id="12" name="Text 8">
            <a:extLst xmlns:a="http://schemas.openxmlformats.org/drawingml/2006/main">
              <a:ext uri="{FF2B5EF4-FFF2-40B4-BE49-F238E27FC236}">
                <a16:creationId xmlns:a16="http://schemas.microsoft.com/office/drawing/2014/main" id="{47BFBD60-A236-4219-9D6A-C316076979C0}"/>
              </a:ext>
            </a:extLst>
          </p:cNvPr>
          <p:cNvSpPr>
            <a:spLocks xmlns:a="http://schemas.openxmlformats.org/drawingml/2006/main" noGrp="1"/>
          </p:cNvSpPr>
          <p:nvPr/>
        </p:nvSpPr>
        <p:spPr>
          <a:xfrm xmlns:a="http://schemas.openxmlformats.org/drawingml/2006/main">
            <a:off x="4617720" y="3255264"/>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9 · Detailed questions for every skill</a:t>
            </a:r>
            <a:endParaRPr sz="1250"/>
          </a:p>
        </p:txBody>
      </p:sp>
      <p:sp>
        <p:nvSpPr>
          <p:cNvPr id="13" name="Text 9">
            <a:extLst xmlns:a="http://schemas.openxmlformats.org/drawingml/2006/main">
              <a:ext uri="{FF2B5EF4-FFF2-40B4-BE49-F238E27FC236}">
                <a16:creationId xmlns:a16="http://schemas.microsoft.com/office/drawing/2014/main" id="{C6566159-1317-45C1-8072-14AF6007FF5D}"/>
              </a:ext>
            </a:extLst>
          </p:cNvPr>
          <p:cNvSpPr>
            <a:spLocks xmlns:a="http://schemas.openxmlformats.org/drawingml/2006/main" noGrp="1"/>
          </p:cNvSpPr>
          <p:nvPr/>
        </p:nvSpPr>
        <p:spPr>
          <a:xfrm xmlns:a="http://schemas.openxmlformats.org/drawingml/2006/main">
            <a:off x="4617720" y="363931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10 · The interview proposes facts</a:t>
            </a:r>
            <a:endParaRPr sz="1250"/>
          </a:p>
        </p:txBody>
      </p:sp>
      <p:sp>
        <p:nvSpPr>
          <p:cNvPr id="14" name="Text 10">
            <a:extLst xmlns:a="http://schemas.openxmlformats.org/drawingml/2006/main">
              <a:ext uri="{FF2B5EF4-FFF2-40B4-BE49-F238E27FC236}">
                <a16:creationId xmlns:a16="http://schemas.microsoft.com/office/drawing/2014/main" id="{38895F23-23D6-45BC-A857-65154EE4D8B3}"/>
              </a:ext>
            </a:extLst>
          </p:cNvPr>
          <p:cNvSpPr>
            <a:spLocks xmlns:a="http://schemas.openxmlformats.org/drawingml/2006/main" noGrp="1"/>
          </p:cNvSpPr>
          <p:nvPr/>
        </p:nvSpPr>
        <p:spPr>
          <a:xfrm xmlns:a="http://schemas.openxmlformats.org/drawingml/2006/main">
            <a:off x="4617720" y="4023360"/>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11 · Resumes keep the customer in control</a:t>
            </a:r>
            <a:endParaRPr sz="1250"/>
          </a:p>
        </p:txBody>
      </p:sp>
      <p:sp>
        <p:nvSpPr>
          <p:cNvPr id="15" name="Text 11">
            <a:extLst xmlns:a="http://schemas.openxmlformats.org/drawingml/2006/main">
              <a:ext uri="{FF2B5EF4-FFF2-40B4-BE49-F238E27FC236}">
                <a16:creationId xmlns:a16="http://schemas.microsoft.com/office/drawing/2014/main" id="{69D7E060-28FD-42EC-8AC9-3B88622A9F7B}"/>
              </a:ext>
            </a:extLst>
          </p:cNvPr>
          <p:cNvSpPr>
            <a:spLocks xmlns:a="http://schemas.openxmlformats.org/drawingml/2006/main" noGrp="1"/>
          </p:cNvSpPr>
          <p:nvPr/>
        </p:nvSpPr>
        <p:spPr>
          <a:xfrm xmlns:a="http://schemas.openxmlformats.org/drawingml/2006/main">
            <a:off x="4617720" y="4407408"/>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12 · Job reviews explain evidence and gaps</a:t>
            </a:r>
            <a:endParaRPr sz="1250"/>
          </a:p>
        </p:txBody>
      </p:sp>
      <p:sp>
        <p:nvSpPr>
          <p:cNvPr id="16" name="Text 12">
            <a:extLst xmlns:a="http://schemas.openxmlformats.org/drawingml/2006/main">
              <a:ext uri="{FF2B5EF4-FFF2-40B4-BE49-F238E27FC236}">
                <a16:creationId xmlns:a16="http://schemas.microsoft.com/office/drawing/2014/main" id="{87701D7D-A77A-41D6-BB75-37E39937AA79}"/>
              </a:ext>
            </a:extLst>
          </p:cNvPr>
          <p:cNvSpPr>
            <a:spLocks xmlns:a="http://schemas.openxmlformats.org/drawingml/2006/main" noGrp="1"/>
          </p:cNvSpPr>
          <p:nvPr/>
        </p:nvSpPr>
        <p:spPr>
          <a:xfrm xmlns:a="http://schemas.openxmlformats.org/drawingml/2006/main">
            <a:off x="4617720" y="4791456"/>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13 · The tracker preserves the next step</a:t>
            </a:r>
            <a:endParaRPr sz="1250"/>
          </a:p>
        </p:txBody>
      </p:sp>
      <p:sp>
        <p:nvSpPr>
          <p:cNvPr id="17" name="Text 13">
            <a:extLst xmlns:a="http://schemas.openxmlformats.org/drawingml/2006/main">
              <a:ext uri="{FF2B5EF4-FFF2-40B4-BE49-F238E27FC236}">
                <a16:creationId xmlns:a16="http://schemas.microsoft.com/office/drawing/2014/main" id="{F5DBF1AB-3CE5-43F7-921A-E1DAB132B005}"/>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FA6C4"/>
                </a:solidFill>
                <a:latin typeface="Helvetica Neue"/>
                <a:ea typeface="Helvetica Neue"/>
                <a:cs typeface="Helvetica Neue"/>
              </a:rPr>
              <a:t>Career Studio · Product handoff · September 9, 2026</a:t>
            </a:r>
            <a:endParaRPr sz="900"/>
          </a:p>
        </p:txBody>
      </p:sp>
      <p:sp>
        <p:nvSpPr>
          <p:cNvPr id="18" name="Text 14">
            <a:extLst xmlns:a="http://schemas.openxmlformats.org/drawingml/2006/main">
              <a:ext uri="{FF2B5EF4-FFF2-40B4-BE49-F238E27FC236}">
                <a16:creationId xmlns:a16="http://schemas.microsoft.com/office/drawing/2014/main" id="{7437D75E-12DA-41D8-BA0A-09A122B6CBE3}"/>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FA6C4"/>
                </a:solidFill>
                <a:latin typeface="Helvetica Neue"/>
                <a:ea typeface="Helvetica Neue"/>
                <a:cs typeface="Helvetica Neue"/>
              </a:rPr>
              <a:t>4 / 29</a:t>
            </a:r>
            <a:endParaRPr sz="900"/>
          </a:p>
        </p:txBody>
      </p:sp>
    </p:spTree>
    <p:extLst>
      <p:ext uri="{BB962C8B-B14F-4D97-AF65-F5344CB8AC3E}">
        <p14:creationId xmlns:p14="http://schemas.microsoft.com/office/powerpoint/2010/main" val="19753088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42B6723-CEF8-4A33-AA3D-F845499E97D1}"/>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812AECF9-5464-4258-B337-8F7C02BD6314}"/>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AA869097-321B-4B52-A593-4639A6394F0D}"/>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990D7066-DDFD-46FA-8D04-5AACB026D8A2}"/>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problem and where it came from</a:t>
            </a:r>
            <a:endParaRPr sz="3000"/>
          </a:p>
        </p:txBody>
      </p:sp>
      <p:sp>
        <p:nvSpPr>
          <p:cNvPr id="7" name="Text 4">
            <a:extLst xmlns:a="http://schemas.openxmlformats.org/drawingml/2006/main">
              <a:ext uri="{FF2B5EF4-FFF2-40B4-BE49-F238E27FC236}">
                <a16:creationId xmlns:a16="http://schemas.microsoft.com/office/drawing/2014/main" id="{D11061A2-FBB3-4A22-A5DC-B56E6E56BBA3}"/>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A skill name alone tells us little about the tasks a person can actually do.</a:t>
            </a:r>
            <a:endParaRPr sz="1500"/>
          </a:p>
        </p:txBody>
      </p:sp>
      <p:sp>
        <p:nvSpPr>
          <p:cNvPr id="8" name="Shape 5">
            <a:extLst xmlns:a="http://schemas.openxmlformats.org/drawingml/2006/main">
              <a:ext uri="{FF2B5EF4-FFF2-40B4-BE49-F238E27FC236}">
                <a16:creationId xmlns:a16="http://schemas.microsoft.com/office/drawing/2014/main" id="{EA9EA0F1-C3E3-4B9D-9C3A-6ED1F3CF2004}"/>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5573ED97-B21B-4FBD-BF70-ECB3843D66C4}"/>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26308B4A-7AFC-4917-8A75-582B3C3A865E}"/>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5 / 29</a:t>
            </a:r>
            <a:endParaRPr sz="900"/>
          </a:p>
        </p:txBody>
      </p:sp>
      <p:sp>
        <p:nvSpPr>
          <p:cNvPr id="11" name="Shape 8">
            <a:extLst xmlns:a="http://schemas.openxmlformats.org/drawingml/2006/main">
              <a:ext uri="{FF2B5EF4-FFF2-40B4-BE49-F238E27FC236}">
                <a16:creationId xmlns:a16="http://schemas.microsoft.com/office/drawing/2014/main" id="{D14CF047-7E3A-471D-9FC3-B30C52755621}"/>
              </a:ext>
            </a:extLst>
          </p:cNvPr>
          <p:cNvSpPr>
            <a:spLocks xmlns:a="http://schemas.openxmlformats.org/drawingml/2006/main" noGrp="1"/>
          </p:cNvSpPr>
          <p:nvPr/>
        </p:nvSpPr>
        <p:spPr>
          <a:xfrm xmlns:a="http://schemas.openxmlformats.org/drawingml/2006/main">
            <a:off x="548640" y="1554480"/>
            <a:ext cx="5432908" cy="2606040"/>
          </a:xfrm>
          <a:prstGeom xmlns:a="http://schemas.openxmlformats.org/drawingml/2006/main" prst="roundRect">
            <a:avLst>
              <a:gd name="adj" fmla="val 2807"/>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9408E384-AEF2-462C-A1D5-E5E52DCECE28}"/>
              </a:ext>
            </a:extLst>
          </p:cNvPr>
          <p:cNvSpPr>
            <a:spLocks xmlns:a="http://schemas.openxmlformats.org/drawingml/2006/main" noGrp="1"/>
          </p:cNvSpPr>
          <p:nvPr/>
        </p:nvSpPr>
        <p:spPr>
          <a:xfrm xmlns:a="http://schemas.openxmlformats.org/drawingml/2006/main">
            <a:off x="557784" y="1664208"/>
            <a:ext cx="54864" cy="2386584"/>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3" name="Text 10">
            <a:extLst xmlns:a="http://schemas.openxmlformats.org/drawingml/2006/main">
              <a:ext uri="{FF2B5EF4-FFF2-40B4-BE49-F238E27FC236}">
                <a16:creationId xmlns:a16="http://schemas.microsoft.com/office/drawing/2014/main" id="{120C1780-8E18-4E0A-BBD3-617E0C292573}"/>
              </a:ext>
            </a:extLst>
          </p:cNvPr>
          <p:cNvSpPr>
            <a:spLocks xmlns:a="http://schemas.openxmlformats.org/drawingml/2006/main" noGrp="1"/>
          </p:cNvSpPr>
          <p:nvPr/>
        </p:nvSpPr>
        <p:spPr>
          <a:xfrm xmlns:a="http://schemas.openxmlformats.org/drawingml/2006/main">
            <a:off x="804672"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THE PROBLEM</a:t>
            </a:r>
            <a:endParaRPr sz="1100"/>
          </a:p>
        </p:txBody>
      </p:sp>
      <p:sp>
        <p:nvSpPr>
          <p:cNvPr id="14" name="Text 11">
            <a:extLst xmlns:a="http://schemas.openxmlformats.org/drawingml/2006/main">
              <a:ext uri="{FF2B5EF4-FFF2-40B4-BE49-F238E27FC236}">
                <a16:creationId xmlns:a16="http://schemas.microsoft.com/office/drawing/2014/main" id="{1BB63D84-2AEC-43CD-950B-00866D9A82D9}"/>
              </a:ext>
            </a:extLst>
          </p:cNvPr>
          <p:cNvSpPr>
            <a:spLocks xmlns:a="http://schemas.openxmlformats.org/drawingml/2006/main" noGrp="1"/>
          </p:cNvSpPr>
          <p:nvPr/>
        </p:nvSpPr>
        <p:spPr>
          <a:xfrm xmlns:a="http://schemas.openxmlformats.org/drawingml/2006/main">
            <a:off x="804672" y="2194560"/>
            <a:ext cx="492084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00"/>
              </a:lnSpc>
              <a:spcAft>
                <a:spcPts val="1200"/>
              </a:spcAft>
              <a:buNone/>
            </a:pPr>
            <a:r>
              <a:rPr sz="1500">
                <a:solidFill>
                  <a:srgbClr val="171717"/>
                </a:solidFill>
                <a:latin typeface="Helvetica Neue"/>
                <a:ea typeface="Helvetica Neue"/>
                <a:cs typeface="Helvetica Neue"/>
              </a:rPr>
              <a:t>“AI,” “accounting,” “programming” or “Excel” tells us little about someone’s work. Which tasks can they repeat independently, and where do they need help?</a:t>
            </a:r>
            <a:endParaRPr sz="1500"/>
          </a:p>
          <a:p xmlns:a="http://schemas.openxmlformats.org/drawingml/2006/main">
            <a:pPr marL="0" indent="0">
              <a:lnSpc>
                <a:spcPts val="2000"/>
              </a:lnSpc>
              <a:spcAft>
                <a:spcPts val="1200"/>
              </a:spcAft>
              <a:buNone/>
            </a:pPr>
            <a:r>
              <a:rPr sz="1500">
                <a:solidFill>
                  <a:srgbClr val="171717"/>
                </a:solidFill>
                <a:latin typeface="Helvetica Neue"/>
                <a:ea typeface="Helvetica Neue"/>
                <a:cs typeface="Helvetica Neue"/>
              </a:rPr>
              <a:t>The details behind each skill should inform the resume and the jobs the customer considers.</a:t>
            </a:r>
            <a:endParaRPr sz="1500"/>
          </a:p>
        </p:txBody>
      </p:sp>
      <p:sp>
        <p:nvSpPr>
          <p:cNvPr id="15" name="Shape 12">
            <a:extLst xmlns:a="http://schemas.openxmlformats.org/drawingml/2006/main">
              <a:ext uri="{FF2B5EF4-FFF2-40B4-BE49-F238E27FC236}">
                <a16:creationId xmlns:a16="http://schemas.microsoft.com/office/drawing/2014/main" id="{2787CD9F-EC7D-471C-9EB6-D91853103012}"/>
              </a:ext>
            </a:extLst>
          </p:cNvPr>
          <p:cNvSpPr>
            <a:spLocks xmlns:a="http://schemas.openxmlformats.org/drawingml/2006/main" noGrp="1"/>
          </p:cNvSpPr>
          <p:nvPr/>
        </p:nvSpPr>
        <p:spPr>
          <a:xfrm xmlns:a="http://schemas.openxmlformats.org/drawingml/2006/main">
            <a:off x="6210148" y="1554480"/>
            <a:ext cx="5432908" cy="2606040"/>
          </a:xfrm>
          <a:prstGeom xmlns:a="http://schemas.openxmlformats.org/drawingml/2006/main" prst="roundRect">
            <a:avLst>
              <a:gd name="adj" fmla="val 2807"/>
            </a:avLst>
          </a:prstGeom>
          <a:solidFill xmlns:a="http://schemas.openxmlformats.org/drawingml/2006/main">
            <a:srgbClr val="F3F6FB"/>
          </a:solidFill>
          <a:ln xmlns:a="http://schemas.openxmlformats.org/drawingml/2006/main" w="9525">
            <a:solidFill>
              <a:srgbClr val="C9D6E8"/>
            </a:solidFill>
            <a:prstDash val="solid"/>
          </a:ln>
        </p:spPr>
      </p:sp>
      <p:sp>
        <p:nvSpPr>
          <p:cNvPr id="16" name="Shape 13">
            <a:extLst xmlns:a="http://schemas.openxmlformats.org/drawingml/2006/main">
              <a:ext uri="{FF2B5EF4-FFF2-40B4-BE49-F238E27FC236}">
                <a16:creationId xmlns:a16="http://schemas.microsoft.com/office/drawing/2014/main" id="{589977CD-12F4-4790-B069-2CE7820502CC}"/>
              </a:ext>
            </a:extLst>
          </p:cNvPr>
          <p:cNvSpPr>
            <a:spLocks xmlns:a="http://schemas.openxmlformats.org/drawingml/2006/main" noGrp="1"/>
          </p:cNvSpPr>
          <p:nvPr/>
        </p:nvSpPr>
        <p:spPr>
          <a:xfrm xmlns:a="http://schemas.openxmlformats.org/drawingml/2006/main">
            <a:off x="6219292" y="1664208"/>
            <a:ext cx="54864" cy="2386584"/>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7" name="Text 14">
            <a:extLst xmlns:a="http://schemas.openxmlformats.org/drawingml/2006/main">
              <a:ext uri="{FF2B5EF4-FFF2-40B4-BE49-F238E27FC236}">
                <a16:creationId xmlns:a16="http://schemas.microsoft.com/office/drawing/2014/main" id="{FCB76ECC-E973-4060-AC6C-085203B05303}"/>
              </a:ext>
            </a:extLst>
          </p:cNvPr>
          <p:cNvSpPr>
            <a:spLocks xmlns:a="http://schemas.openxmlformats.org/drawingml/2006/main" noGrp="1"/>
          </p:cNvSpPr>
          <p:nvPr/>
        </p:nvSpPr>
        <p:spPr>
          <a:xfrm xmlns:a="http://schemas.openxmlformats.org/drawingml/2006/main">
            <a:off x="6466180"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THE ORIGIN</a:t>
            </a:r>
            <a:endParaRPr sz="1100"/>
          </a:p>
        </p:txBody>
      </p:sp>
      <p:sp>
        <p:nvSpPr>
          <p:cNvPr id="18" name="Text 15">
            <a:extLst xmlns:a="http://schemas.openxmlformats.org/drawingml/2006/main">
              <a:ext uri="{FF2B5EF4-FFF2-40B4-BE49-F238E27FC236}">
                <a16:creationId xmlns:a16="http://schemas.microsoft.com/office/drawing/2014/main" id="{EF6D1298-D7D7-491B-8AA1-5361AAB6F2D5}"/>
              </a:ext>
            </a:extLst>
          </p:cNvPr>
          <p:cNvSpPr>
            <a:spLocks xmlns:a="http://schemas.openxmlformats.org/drawingml/2006/main" noGrp="1"/>
          </p:cNvSpPr>
          <p:nvPr/>
        </p:nvSpPr>
        <p:spPr>
          <a:xfrm xmlns:a="http://schemas.openxmlformats.org/drawingml/2006/main">
            <a:off x="6466180" y="2194560"/>
            <a:ext cx="492084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00"/>
              </a:lnSpc>
              <a:spcAft>
                <a:spcPts val="1200"/>
              </a:spcAft>
              <a:buNone/>
            </a:pPr>
            <a:r>
              <a:rPr sz="1500">
                <a:solidFill>
                  <a:srgbClr val="171717"/>
                </a:solidFill>
                <a:latin typeface="Helvetica Neue"/>
                <a:ea typeface="Helvetica Neue"/>
                <a:cs typeface="Helvetica Neue"/>
              </a:rPr>
              <a:t>The founder wanted to turn a personal job-search CRM and resume interview into a product.</a:t>
            </a:r>
            <a:endParaRPr sz="1500"/>
          </a:p>
          <a:p xmlns:a="http://schemas.openxmlformats.org/drawingml/2006/main">
            <a:pPr marL="0" indent="0">
              <a:lnSpc>
                <a:spcPts val="2000"/>
              </a:lnSpc>
              <a:spcAft>
                <a:spcPts val="1200"/>
              </a:spcAft>
              <a:buNone/>
            </a:pPr>
            <a:r>
              <a:rPr sz="1500">
                <a:solidFill>
                  <a:srgbClr val="171717"/>
                </a:solidFill>
                <a:latin typeface="Helvetica Neue"/>
                <a:ea typeface="Helvetica Neue"/>
                <a:cs typeface="Helvetica Neue"/>
              </a:rPr>
              <a:t>The requirement: ask detailed follow-ups for every entered skill, then reuse customer-reviewed evidence in resumes, job reviews and the tracker.</a:t>
            </a:r>
            <a:endParaRPr sz="1500"/>
          </a:p>
        </p:txBody>
      </p:sp>
    </p:spTree>
    <p:extLst>
      <p:ext uri="{BB962C8B-B14F-4D97-AF65-F5344CB8AC3E}">
        <p14:creationId xmlns:p14="http://schemas.microsoft.com/office/powerpoint/2010/main" val="3914528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F7C51FC6-AFE1-4784-821E-4B1C7581AB2A}"/>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23066759-CBEB-47FD-A224-A12E613525D2}"/>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E7EC6EA5-70A9-4DBE-89D1-24475CE02F5A}"/>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47288E5B-A39D-4C2A-80FB-C5D4FF3B48E7}"/>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Why not just use ChatGPT?</a:t>
            </a:r>
            <a:endParaRPr sz="3000"/>
          </a:p>
        </p:txBody>
      </p:sp>
      <p:sp>
        <p:nvSpPr>
          <p:cNvPr id="7" name="Text 4">
            <a:extLst xmlns:a="http://schemas.openxmlformats.org/drawingml/2006/main">
              <a:ext uri="{FF2B5EF4-FFF2-40B4-BE49-F238E27FC236}">
                <a16:creationId xmlns:a16="http://schemas.microsoft.com/office/drawing/2014/main" id="{16933CE0-6E5A-4884-96C8-EC004432DCD5}"/>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You can. Career Studio tests one hypothesis, and the pilot decides whether it holds.</a:t>
            </a:r>
            <a:endParaRPr sz="1500"/>
          </a:p>
        </p:txBody>
      </p:sp>
      <p:sp>
        <p:nvSpPr>
          <p:cNvPr id="8" name="Shape 5">
            <a:extLst xmlns:a="http://schemas.openxmlformats.org/drawingml/2006/main">
              <a:ext uri="{FF2B5EF4-FFF2-40B4-BE49-F238E27FC236}">
                <a16:creationId xmlns:a16="http://schemas.microsoft.com/office/drawing/2014/main" id="{3C2C78F6-2008-4156-A302-D8394C09A123}"/>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95186875-6409-4D2C-8B10-E02DC05B67F8}"/>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4AF897F8-EA1E-483C-9432-31D228589AC1}"/>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6 / 29</a:t>
            </a:r>
            <a:endParaRPr sz="900"/>
          </a:p>
        </p:txBody>
      </p:sp>
      <p:sp>
        <p:nvSpPr>
          <p:cNvPr id="11" name="Shape 8">
            <a:extLst xmlns:a="http://schemas.openxmlformats.org/drawingml/2006/main">
              <a:ext uri="{FF2B5EF4-FFF2-40B4-BE49-F238E27FC236}">
                <a16:creationId xmlns:a16="http://schemas.microsoft.com/office/drawing/2014/main" id="{F49EDA11-F5A0-47A7-B1CA-F54A65B43282}"/>
              </a:ext>
            </a:extLst>
          </p:cNvPr>
          <p:cNvSpPr>
            <a:spLocks xmlns:a="http://schemas.openxmlformats.org/drawingml/2006/main" noGrp="1"/>
          </p:cNvSpPr>
          <p:nvPr/>
        </p:nvSpPr>
        <p:spPr>
          <a:xfrm xmlns:a="http://schemas.openxmlformats.org/drawingml/2006/main">
            <a:off x="548640" y="1554480"/>
            <a:ext cx="3703320" cy="3417443"/>
          </a:xfrm>
          <a:prstGeom xmlns:a="http://schemas.openxmlformats.org/drawingml/2006/main" prst="roundRect">
            <a:avLst>
              <a:gd name="adj" fmla="val 2141"/>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56F24032-28B4-42D3-82CC-BA2FF101A933}"/>
              </a:ext>
            </a:extLst>
          </p:cNvPr>
          <p:cNvSpPr>
            <a:spLocks xmlns:a="http://schemas.openxmlformats.org/drawingml/2006/main" noGrp="1"/>
          </p:cNvSpPr>
          <p:nvPr/>
        </p:nvSpPr>
        <p:spPr>
          <a:xfrm xmlns:a="http://schemas.openxmlformats.org/drawingml/2006/main">
            <a:off x="557784" y="1664208"/>
            <a:ext cx="54864" cy="3197987"/>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3" name="Text 10">
            <a:extLst xmlns:a="http://schemas.openxmlformats.org/drawingml/2006/main">
              <a:ext uri="{FF2B5EF4-FFF2-40B4-BE49-F238E27FC236}">
                <a16:creationId xmlns:a16="http://schemas.microsoft.com/office/drawing/2014/main" id="{FD2CC958-2CC5-4F7A-9FCB-016C4F8C7EBF}"/>
              </a:ext>
            </a:extLst>
          </p:cNvPr>
          <p:cNvSpPr>
            <a:spLocks xmlns:a="http://schemas.openxmlformats.org/drawingml/2006/main" noGrp="1"/>
          </p:cNvSpPr>
          <p:nvPr/>
        </p:nvSpPr>
        <p:spPr>
          <a:xfrm xmlns:a="http://schemas.openxmlformats.org/drawingml/2006/main">
            <a:off x="804672"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THE HYPOTHESIS</a:t>
            </a:r>
            <a:endParaRPr sz="1100"/>
          </a:p>
        </p:txBody>
      </p:sp>
      <p:sp>
        <p:nvSpPr>
          <p:cNvPr id="14" name="Text 11">
            <a:extLst xmlns:a="http://schemas.openxmlformats.org/drawingml/2006/main">
              <a:ext uri="{FF2B5EF4-FFF2-40B4-BE49-F238E27FC236}">
                <a16:creationId xmlns:a16="http://schemas.microsoft.com/office/drawing/2014/main" id="{D5ABC0C1-EFEB-47B9-890E-118045A5A4D1}"/>
              </a:ext>
            </a:extLst>
          </p:cNvPr>
          <p:cNvSpPr>
            <a:spLocks xmlns:a="http://schemas.openxmlformats.org/drawingml/2006/main" noGrp="1"/>
          </p:cNvSpPr>
          <p:nvPr/>
        </p:nvSpPr>
        <p:spPr>
          <a:xfrm xmlns:a="http://schemas.openxmlformats.org/drawingml/2006/main">
            <a:off x="804672" y="2176272"/>
            <a:ext cx="3191256" cy="253961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275"/>
              </a:lnSpc>
              <a:buNone/>
            </a:pPr>
            <a:r>
              <a:rPr sz="1750">
                <a:solidFill>
                  <a:srgbClr val="171717"/>
                </a:solidFill>
                <a:latin typeface="Helvetica Neue"/>
                <a:ea typeface="Helvetica Neue"/>
                <a:cs typeface="Helvetica Neue"/>
              </a:rPr>
              <a:t>You can use ChatGPT directly.</a:t>
            </a:r>
            <a:endParaRPr sz="1750"/>
          </a:p>
          <a:p xmlns:a="http://schemas.openxmlformats.org/drawingml/2006/main">
            <a:pPr marL="0" indent="0">
              <a:lnSpc>
                <a:spcPts val="2275"/>
              </a:lnSpc>
              <a:buNone/>
            </a:pPr>
            <a:endParaRPr sz="1750"/>
          </a:p>
          <a:p xmlns:a="http://schemas.openxmlformats.org/drawingml/2006/main">
            <a:pPr marL="0" indent="0">
              <a:lnSpc>
                <a:spcPts val="2275"/>
              </a:lnSpc>
              <a:buNone/>
            </a:pPr>
            <a:r>
              <a:rPr sz="1750">
                <a:solidFill>
                  <a:srgbClr val="171717"/>
                </a:solidFill>
                <a:latin typeface="Helvetica Neue"/>
                <a:ea typeface="Helvetica Neue"/>
                <a:cs typeface="Helvetica Neue"/>
              </a:rPr>
              <a:t>Career Studio tests whether a reviewed record of what you can actually do, kept in one workflow, saves enough effort to be worth paying for.</a:t>
            </a:r>
            <a:endParaRPr sz="1750"/>
          </a:p>
        </p:txBody>
      </p:sp>
      <p:sp>
        <p:nvSpPr>
          <p:cNvPr id="15" name="Shape 12">
            <a:extLst xmlns:a="http://schemas.openxmlformats.org/drawingml/2006/main">
              <a:ext uri="{FF2B5EF4-FFF2-40B4-BE49-F238E27FC236}">
                <a16:creationId xmlns:a16="http://schemas.microsoft.com/office/drawing/2014/main" id="{A6A85AD1-3225-484E-9991-3DC0E24F1658}"/>
              </a:ext>
            </a:extLst>
          </p:cNvPr>
          <p:cNvSpPr>
            <a:spLocks xmlns:a="http://schemas.openxmlformats.org/drawingml/2006/main" noGrp="1"/>
          </p:cNvSpPr>
          <p:nvPr/>
        </p:nvSpPr>
        <p:spPr>
          <a:xfrm xmlns:a="http://schemas.openxmlformats.org/drawingml/2006/main">
            <a:off x="4526280" y="1554480"/>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16" name="Text 13">
            <a:extLst xmlns:a="http://schemas.openxmlformats.org/drawingml/2006/main">
              <a:ext uri="{FF2B5EF4-FFF2-40B4-BE49-F238E27FC236}">
                <a16:creationId xmlns:a16="http://schemas.microsoft.com/office/drawing/2014/main" id="{743F870E-64B3-40EC-827D-EB58972C1024}"/>
              </a:ext>
            </a:extLst>
          </p:cNvPr>
          <p:cNvSpPr>
            <a:spLocks xmlns:a="http://schemas.openxmlformats.org/drawingml/2006/main" noGrp="1"/>
          </p:cNvSpPr>
          <p:nvPr/>
        </p:nvSpPr>
        <p:spPr>
          <a:xfrm xmlns:a="http://schemas.openxmlformats.org/drawingml/2006/main">
            <a:off x="4782312" y="1700784"/>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CHATGPT DIRECTLY</a:t>
            </a:r>
            <a:endParaRPr sz="1100"/>
          </a:p>
        </p:txBody>
      </p:sp>
      <p:sp>
        <p:nvSpPr>
          <p:cNvPr id="17" name="Text 14">
            <a:extLst xmlns:a="http://schemas.openxmlformats.org/drawingml/2006/main">
              <a:ext uri="{FF2B5EF4-FFF2-40B4-BE49-F238E27FC236}">
                <a16:creationId xmlns:a16="http://schemas.microsoft.com/office/drawing/2014/main" id="{76282886-B65E-4F04-8D99-7FF7224A2FD3}"/>
              </a:ext>
            </a:extLst>
          </p:cNvPr>
          <p:cNvSpPr>
            <a:spLocks xmlns:a="http://schemas.openxmlformats.org/drawingml/2006/main" noGrp="1"/>
          </p:cNvSpPr>
          <p:nvPr/>
        </p:nvSpPr>
        <p:spPr>
          <a:xfrm xmlns:a="http://schemas.openxmlformats.org/drawingml/2006/main">
            <a:off x="6446520" y="1700784"/>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A valid option for drafting and discussing your experience in conversation.</a:t>
            </a:r>
            <a:endParaRPr sz="1500"/>
          </a:p>
        </p:txBody>
      </p:sp>
      <p:sp>
        <p:nvSpPr>
          <p:cNvPr id="18" name="Shape 15">
            <a:extLst xmlns:a="http://schemas.openxmlformats.org/drawingml/2006/main">
              <a:ext uri="{FF2B5EF4-FFF2-40B4-BE49-F238E27FC236}">
                <a16:creationId xmlns:a16="http://schemas.microsoft.com/office/drawing/2014/main" id="{79F3BBCA-001D-40BD-92DA-AB8E563023CB}"/>
              </a:ext>
            </a:extLst>
          </p:cNvPr>
          <p:cNvSpPr>
            <a:spLocks xmlns:a="http://schemas.openxmlformats.org/drawingml/2006/main" noGrp="1"/>
          </p:cNvSpPr>
          <p:nvPr/>
        </p:nvSpPr>
        <p:spPr>
          <a:xfrm xmlns:a="http://schemas.openxmlformats.org/drawingml/2006/main">
            <a:off x="4526280" y="2638044"/>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19" name="Text 16">
            <a:extLst xmlns:a="http://schemas.openxmlformats.org/drawingml/2006/main">
              <a:ext uri="{FF2B5EF4-FFF2-40B4-BE49-F238E27FC236}">
                <a16:creationId xmlns:a16="http://schemas.microsoft.com/office/drawing/2014/main" id="{9EB5989E-8B9E-4F58-AE4C-83A91C5FFD63}"/>
              </a:ext>
            </a:extLst>
          </p:cNvPr>
          <p:cNvSpPr>
            <a:spLocks xmlns:a="http://schemas.openxmlformats.org/drawingml/2006/main" noGrp="1"/>
          </p:cNvSpPr>
          <p:nvPr/>
        </p:nvSpPr>
        <p:spPr>
          <a:xfrm xmlns:a="http://schemas.openxmlformats.org/drawingml/2006/main">
            <a:off x="4782312" y="2784348"/>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RESUME DOCUMENTS</a:t>
            </a:r>
            <a:endParaRPr sz="1100"/>
          </a:p>
        </p:txBody>
      </p:sp>
      <p:sp>
        <p:nvSpPr>
          <p:cNvPr id="20" name="Text 17">
            <a:extLst xmlns:a="http://schemas.openxmlformats.org/drawingml/2006/main">
              <a:ext uri="{FF2B5EF4-FFF2-40B4-BE49-F238E27FC236}">
                <a16:creationId xmlns:a16="http://schemas.microsoft.com/office/drawing/2014/main" id="{FEC317AD-0D7D-4834-AD2F-30B795AE60FE}"/>
              </a:ext>
            </a:extLst>
          </p:cNvPr>
          <p:cNvSpPr>
            <a:spLocks xmlns:a="http://schemas.openxmlformats.org/drawingml/2006/main" noGrp="1"/>
          </p:cNvSpPr>
          <p:nvPr/>
        </p:nvSpPr>
        <p:spPr>
          <a:xfrm xmlns:a="http://schemas.openxmlformats.org/drawingml/2006/main">
            <a:off x="6446520" y="2784348"/>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Customers can create and maintain their own resumes with familiar tools.</a:t>
            </a:r>
            <a:endParaRPr sz="1500"/>
          </a:p>
        </p:txBody>
      </p:sp>
      <p:sp>
        <p:nvSpPr>
          <p:cNvPr id="21" name="Shape 18">
            <a:extLst xmlns:a="http://schemas.openxmlformats.org/drawingml/2006/main">
              <a:ext uri="{FF2B5EF4-FFF2-40B4-BE49-F238E27FC236}">
                <a16:creationId xmlns:a16="http://schemas.microsoft.com/office/drawing/2014/main" id="{3B77624F-F344-4474-8E96-50EE07043EF0}"/>
              </a:ext>
            </a:extLst>
          </p:cNvPr>
          <p:cNvSpPr>
            <a:spLocks xmlns:a="http://schemas.openxmlformats.org/drawingml/2006/main" noGrp="1"/>
          </p:cNvSpPr>
          <p:nvPr/>
        </p:nvSpPr>
        <p:spPr>
          <a:xfrm xmlns:a="http://schemas.openxmlformats.org/drawingml/2006/main">
            <a:off x="4526280" y="3721608"/>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22" name="Text 19">
            <a:extLst xmlns:a="http://schemas.openxmlformats.org/drawingml/2006/main">
              <a:ext uri="{FF2B5EF4-FFF2-40B4-BE49-F238E27FC236}">
                <a16:creationId xmlns:a16="http://schemas.microsoft.com/office/drawing/2014/main" id="{2AAA2F92-2B80-40FD-80CE-2F3E063827E0}"/>
              </a:ext>
            </a:extLst>
          </p:cNvPr>
          <p:cNvSpPr>
            <a:spLocks xmlns:a="http://schemas.openxmlformats.org/drawingml/2006/main" noGrp="1"/>
          </p:cNvSpPr>
          <p:nvPr/>
        </p:nvSpPr>
        <p:spPr>
          <a:xfrm xmlns:a="http://schemas.openxmlformats.org/drawingml/2006/main">
            <a:off x="4782312" y="3867912"/>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JOB LISTINGS</a:t>
            </a:r>
            <a:endParaRPr sz="1100"/>
          </a:p>
        </p:txBody>
      </p:sp>
      <p:sp>
        <p:nvSpPr>
          <p:cNvPr id="23" name="Text 20">
            <a:extLst xmlns:a="http://schemas.openxmlformats.org/drawingml/2006/main">
              <a:ext uri="{FF2B5EF4-FFF2-40B4-BE49-F238E27FC236}">
                <a16:creationId xmlns:a16="http://schemas.microsoft.com/office/drawing/2014/main" id="{9EA09A32-C00B-407D-B9BE-D338A1AFA3B6}"/>
              </a:ext>
            </a:extLst>
          </p:cNvPr>
          <p:cNvSpPr>
            <a:spLocks xmlns:a="http://schemas.openxmlformats.org/drawingml/2006/main" noGrp="1"/>
          </p:cNvSpPr>
          <p:nvPr/>
        </p:nvSpPr>
        <p:spPr>
          <a:xfrm xmlns:a="http://schemas.openxmlformats.org/drawingml/2006/main">
            <a:off x="6446520" y="3867912"/>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Customers can find opportunities and compare the requirements themselves.</a:t>
            </a:r>
            <a:endParaRPr sz="1500"/>
          </a:p>
        </p:txBody>
      </p:sp>
      <p:sp>
        <p:nvSpPr>
          <p:cNvPr id="24" name="Shape 21">
            <a:extLst xmlns:a="http://schemas.openxmlformats.org/drawingml/2006/main">
              <a:ext uri="{FF2B5EF4-FFF2-40B4-BE49-F238E27FC236}">
                <a16:creationId xmlns:a16="http://schemas.microsoft.com/office/drawing/2014/main" id="{F2992163-EAEE-4E15-8E19-BA01B90D3440}"/>
              </a:ext>
            </a:extLst>
          </p:cNvPr>
          <p:cNvSpPr>
            <a:spLocks xmlns:a="http://schemas.openxmlformats.org/drawingml/2006/main" noGrp="1"/>
          </p:cNvSpPr>
          <p:nvPr/>
        </p:nvSpPr>
        <p:spPr>
          <a:xfrm xmlns:a="http://schemas.openxmlformats.org/drawingml/2006/main">
            <a:off x="4526280" y="4805172"/>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25" name="Text 22">
            <a:extLst xmlns:a="http://schemas.openxmlformats.org/drawingml/2006/main">
              <a:ext uri="{FF2B5EF4-FFF2-40B4-BE49-F238E27FC236}">
                <a16:creationId xmlns:a16="http://schemas.microsoft.com/office/drawing/2014/main" id="{4C61A7F8-B813-49C8-A099-5675B0F2D62B}"/>
              </a:ext>
            </a:extLst>
          </p:cNvPr>
          <p:cNvSpPr>
            <a:spLocks xmlns:a="http://schemas.openxmlformats.org/drawingml/2006/main" noGrp="1"/>
          </p:cNvSpPr>
          <p:nvPr/>
        </p:nvSpPr>
        <p:spPr>
          <a:xfrm xmlns:a="http://schemas.openxmlformats.org/drawingml/2006/main">
            <a:off x="4782312" y="4951476"/>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CAREER STUDIO</a:t>
            </a:r>
            <a:endParaRPr sz="1100"/>
          </a:p>
        </p:txBody>
      </p:sp>
      <p:sp>
        <p:nvSpPr>
          <p:cNvPr id="26" name="Text 23">
            <a:extLst xmlns:a="http://schemas.openxmlformats.org/drawingml/2006/main">
              <a:ext uri="{FF2B5EF4-FFF2-40B4-BE49-F238E27FC236}">
                <a16:creationId xmlns:a16="http://schemas.microsoft.com/office/drawing/2014/main" id="{CF2B7CD8-038E-496E-A21D-74E9BBA2D193}"/>
              </a:ext>
            </a:extLst>
          </p:cNvPr>
          <p:cNvSpPr>
            <a:spLocks xmlns:a="http://schemas.openxmlformats.org/drawingml/2006/main" noGrp="1"/>
          </p:cNvSpPr>
          <p:nvPr/>
        </p:nvSpPr>
        <p:spPr>
          <a:xfrm xmlns:a="http://schemas.openxmlformats.org/drawingml/2006/main">
            <a:off x="6446520" y="4951476"/>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A reviewed profile of every skill feeds resume versions, job reviews and the tracker.</a:t>
            </a:r>
            <a:endParaRPr sz="1500"/>
          </a:p>
        </p:txBody>
      </p:sp>
    </p:spTree>
    <p:extLst>
      <p:ext uri="{BB962C8B-B14F-4D97-AF65-F5344CB8AC3E}">
        <p14:creationId xmlns:p14="http://schemas.microsoft.com/office/powerpoint/2010/main" val="6714382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B39EF002-38BE-47C9-90B0-43B519472015}"/>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3C65D984-FE6E-45E2-A3DA-016D8035AE5D}"/>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B979872A-4F61-4FEA-ADA8-A2ADD2436344}"/>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55F4C007-D97E-4C84-A631-32264C7F1AFE}"/>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customer journey</a:t>
            </a:r>
            <a:endParaRPr sz="3000"/>
          </a:p>
        </p:txBody>
      </p:sp>
      <p:sp>
        <p:nvSpPr>
          <p:cNvPr id="7" name="Text 4">
            <a:extLst xmlns:a="http://schemas.openxmlformats.org/drawingml/2006/main">
              <a:ext uri="{FF2B5EF4-FFF2-40B4-BE49-F238E27FC236}">
                <a16:creationId xmlns:a16="http://schemas.microsoft.com/office/drawing/2014/main" id="{1C536BBE-E9A5-4417-BEEC-EB99C70C601E}"/>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Six steps, from the experience the customer already has to a search they can keep track of.</a:t>
            </a:r>
            <a:endParaRPr sz="1500"/>
          </a:p>
        </p:txBody>
      </p:sp>
      <p:sp>
        <p:nvSpPr>
          <p:cNvPr id="8" name="Shape 5">
            <a:extLst xmlns:a="http://schemas.openxmlformats.org/drawingml/2006/main">
              <a:ext uri="{FF2B5EF4-FFF2-40B4-BE49-F238E27FC236}">
                <a16:creationId xmlns:a16="http://schemas.microsoft.com/office/drawing/2014/main" id="{42EB21B7-D009-4300-BE7A-E2B469B72E50}"/>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25242FC4-97D8-4C80-96C1-29287870337A}"/>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FD5C5797-684A-48D0-8B6A-CAAD1E237616}"/>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7 / 29</a:t>
            </a:r>
            <a:endParaRPr sz="900"/>
          </a:p>
        </p:txBody>
      </p:sp>
      <p:sp>
        <p:nvSpPr>
          <p:cNvPr id="11" name="Shape 8">
            <a:extLst xmlns:a="http://schemas.openxmlformats.org/drawingml/2006/main">
              <a:ext uri="{FF2B5EF4-FFF2-40B4-BE49-F238E27FC236}">
                <a16:creationId xmlns:a16="http://schemas.microsoft.com/office/drawing/2014/main" id="{5E95412E-D52F-4F54-93EE-6A909019659F}"/>
              </a:ext>
            </a:extLst>
          </p:cNvPr>
          <p:cNvSpPr>
            <a:spLocks xmlns:a="http://schemas.openxmlformats.org/drawingml/2006/main" noGrp="1"/>
          </p:cNvSpPr>
          <p:nvPr/>
        </p:nvSpPr>
        <p:spPr>
          <a:xfrm xmlns:a="http://schemas.openxmlformats.org/drawingml/2006/main">
            <a:off x="548640" y="1755648"/>
            <a:ext cx="1559509" cy="3364992"/>
          </a:xfrm>
          <a:prstGeom xmlns:a="http://schemas.openxmlformats.org/drawingml/2006/main" prst="roundRect">
            <a:avLst>
              <a:gd name="adj" fmla="val 4691"/>
            </a:avLst>
          </a:prstGeom>
          <a:solidFill xmlns:a="http://schemas.openxmlformats.org/drawingml/2006/main">
            <a:srgbClr val="1F7A5A"/>
          </a:solidFill>
          <a:ln xmlns:a="http://schemas.openxmlformats.org/drawingml/2006/main" w="15875">
            <a:solidFill>
              <a:srgbClr val="1F7A5A"/>
            </a:solidFill>
            <a:prstDash val="solid"/>
          </a:ln>
        </p:spPr>
      </p:sp>
      <p:sp>
        <p:nvSpPr>
          <p:cNvPr id="12" name="Text 9">
            <a:extLst xmlns:a="http://schemas.openxmlformats.org/drawingml/2006/main">
              <a:ext uri="{FF2B5EF4-FFF2-40B4-BE49-F238E27FC236}">
                <a16:creationId xmlns:a16="http://schemas.microsoft.com/office/drawing/2014/main" id="{421B2B4A-E21A-44F5-A572-FA0EB383602B}"/>
              </a:ext>
            </a:extLst>
          </p:cNvPr>
          <p:cNvSpPr>
            <a:spLocks xmlns:a="http://schemas.openxmlformats.org/drawingml/2006/main" noGrp="1"/>
          </p:cNvSpPr>
          <p:nvPr/>
        </p:nvSpPr>
        <p:spPr>
          <a:xfrm xmlns:a="http://schemas.openxmlformats.org/drawingml/2006/main">
            <a:off x="676656"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Helvetica Neue"/>
                <a:ea typeface="Helvetica Neue"/>
                <a:cs typeface="Helvetica Neue"/>
              </a:rPr>
              <a:t>Bring your experience</a:t>
            </a:r>
            <a:endParaRPr sz="1500"/>
          </a:p>
          <a:p xmlns:a="http://schemas.openxmlformats.org/drawingml/2006/main">
            <a:pPr marL="0" indent="0" algn="ctr">
              <a:spcBef>
                <a:spcPts val="500"/>
              </a:spcBef>
              <a:buNone/>
            </a:pPr>
            <a:r>
              <a:rPr sz="1300">
                <a:solidFill>
                  <a:srgbClr val="E7F0FA"/>
                </a:solidFill>
                <a:latin typeface="Helvetica Neue"/>
                <a:ea typeface="Helvetica Neue"/>
                <a:cs typeface="Helvetica Neue"/>
              </a:rPr>
              <a:t>Upload a resume or begin with a blank profile.</a:t>
            </a:r>
            <a:endParaRPr sz="1500"/>
          </a:p>
        </p:txBody>
      </p:sp>
      <p:sp>
        <p:nvSpPr>
          <p:cNvPr id="13" name="Shape 10">
            <a:extLst xmlns:a="http://schemas.openxmlformats.org/drawingml/2006/main">
              <a:ext uri="{FF2B5EF4-FFF2-40B4-BE49-F238E27FC236}">
                <a16:creationId xmlns:a16="http://schemas.microsoft.com/office/drawing/2014/main" id="{9DF00F4C-DAE8-4B63-9E72-1100515BEDBE}"/>
              </a:ext>
            </a:extLst>
          </p:cNvPr>
          <p:cNvSpPr>
            <a:spLocks xmlns:a="http://schemas.openxmlformats.org/drawingml/2006/main" noGrp="1"/>
          </p:cNvSpPr>
          <p:nvPr/>
        </p:nvSpPr>
        <p:spPr>
          <a:xfrm xmlns:a="http://schemas.openxmlformats.org/drawingml/2006/main">
            <a:off x="1154659"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14" name="Text 11">
            <a:extLst xmlns:a="http://schemas.openxmlformats.org/drawingml/2006/main">
              <a:ext uri="{FF2B5EF4-FFF2-40B4-BE49-F238E27FC236}">
                <a16:creationId xmlns:a16="http://schemas.microsoft.com/office/drawing/2014/main" id="{E67B748B-47C2-4E99-A557-E3ADDD3ACFDB}"/>
              </a:ext>
            </a:extLst>
          </p:cNvPr>
          <p:cNvSpPr>
            <a:spLocks xmlns:a="http://schemas.openxmlformats.org/drawingml/2006/main" noGrp="1"/>
          </p:cNvSpPr>
          <p:nvPr/>
        </p:nvSpPr>
        <p:spPr>
          <a:xfrm xmlns:a="http://schemas.openxmlformats.org/drawingml/2006/main">
            <a:off x="1154659"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01</a:t>
            </a:r>
            <a:endParaRPr sz="1200"/>
          </a:p>
        </p:txBody>
      </p:sp>
      <p:sp>
        <p:nvSpPr>
          <p:cNvPr id="15" name="Shape 12">
            <a:extLst xmlns:a="http://schemas.openxmlformats.org/drawingml/2006/main">
              <a:ext uri="{FF2B5EF4-FFF2-40B4-BE49-F238E27FC236}">
                <a16:creationId xmlns:a16="http://schemas.microsoft.com/office/drawing/2014/main" id="{24F70BDF-D43B-4962-8B3B-CFCD9075DE99}"/>
              </a:ext>
            </a:extLst>
          </p:cNvPr>
          <p:cNvSpPr>
            <a:spLocks xmlns:a="http://schemas.openxmlformats.org/drawingml/2006/main" noGrp="1"/>
          </p:cNvSpPr>
          <p:nvPr/>
        </p:nvSpPr>
        <p:spPr>
          <a:xfrm xmlns:a="http://schemas.openxmlformats.org/drawingml/2006/main">
            <a:off x="2153869" y="3438144"/>
            <a:ext cx="25603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6" name="Shape 13">
            <a:extLst xmlns:a="http://schemas.openxmlformats.org/drawingml/2006/main">
              <a:ext uri="{FF2B5EF4-FFF2-40B4-BE49-F238E27FC236}">
                <a16:creationId xmlns:a16="http://schemas.microsoft.com/office/drawing/2014/main" id="{78249E2A-549E-4355-9FCF-FF858D5B37FE}"/>
              </a:ext>
            </a:extLst>
          </p:cNvPr>
          <p:cNvSpPr>
            <a:spLocks xmlns:a="http://schemas.openxmlformats.org/drawingml/2006/main" noGrp="1"/>
          </p:cNvSpPr>
          <p:nvPr/>
        </p:nvSpPr>
        <p:spPr>
          <a:xfrm xmlns:a="http://schemas.openxmlformats.org/drawingml/2006/main">
            <a:off x="2455621" y="1755648"/>
            <a:ext cx="1559509" cy="3364992"/>
          </a:xfrm>
          <a:prstGeom xmlns:a="http://schemas.openxmlformats.org/drawingml/2006/main" prst="roundRect">
            <a:avLst>
              <a:gd name="adj" fmla="val 4691"/>
            </a:avLst>
          </a:prstGeom>
          <a:solidFill xmlns:a="http://schemas.openxmlformats.org/drawingml/2006/main">
            <a:srgbClr val="F3F6FB"/>
          </a:solidFill>
          <a:ln xmlns:a="http://schemas.openxmlformats.org/drawingml/2006/main" w="15875">
            <a:solidFill>
              <a:srgbClr val="1F7A5A"/>
            </a:solidFill>
            <a:prstDash val="solid"/>
          </a:ln>
        </p:spPr>
      </p:sp>
      <p:sp>
        <p:nvSpPr>
          <p:cNvPr id="17" name="Text 14">
            <a:extLst xmlns:a="http://schemas.openxmlformats.org/drawingml/2006/main">
              <a:ext uri="{FF2B5EF4-FFF2-40B4-BE49-F238E27FC236}">
                <a16:creationId xmlns:a16="http://schemas.microsoft.com/office/drawing/2014/main" id="{6E439578-2C34-4818-B8B3-111D747A5C34}"/>
              </a:ext>
            </a:extLst>
          </p:cNvPr>
          <p:cNvSpPr>
            <a:spLocks xmlns:a="http://schemas.openxmlformats.org/drawingml/2006/main" noGrp="1"/>
          </p:cNvSpPr>
          <p:nvPr/>
        </p:nvSpPr>
        <p:spPr>
          <a:xfrm xmlns:a="http://schemas.openxmlformats.org/drawingml/2006/main">
            <a:off x="2583637"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2545"/>
                </a:solidFill>
                <a:latin typeface="Helvetica Neue"/>
                <a:ea typeface="Helvetica Neue"/>
                <a:cs typeface="Helvetica Neue"/>
              </a:rPr>
              <a:t>Add the details</a:t>
            </a:r>
            <a:endParaRPr sz="1500"/>
          </a:p>
          <a:p xmlns:a="http://schemas.openxmlformats.org/drawingml/2006/main">
            <a:pPr marL="0" indent="0" algn="ctr">
              <a:spcBef>
                <a:spcPts val="500"/>
              </a:spcBef>
              <a:buNone/>
            </a:pPr>
            <a:r>
              <a:rPr sz="1300">
                <a:solidFill>
                  <a:srgbClr val="52677F"/>
                </a:solidFill>
                <a:latin typeface="Helvetica Neue"/>
                <a:ea typeface="Helvetica Neue"/>
                <a:cs typeface="Helvetica Neue"/>
              </a:rPr>
              <a:t>Record jobs, schools, projects and preferences.</a:t>
            </a:r>
            <a:endParaRPr sz="1500"/>
          </a:p>
        </p:txBody>
      </p:sp>
      <p:sp>
        <p:nvSpPr>
          <p:cNvPr id="18" name="Shape 15">
            <a:extLst xmlns:a="http://schemas.openxmlformats.org/drawingml/2006/main">
              <a:ext uri="{FF2B5EF4-FFF2-40B4-BE49-F238E27FC236}">
                <a16:creationId xmlns:a16="http://schemas.microsoft.com/office/drawing/2014/main" id="{FEEA7C2D-CAC5-495C-95A0-D930BC259655}"/>
              </a:ext>
            </a:extLst>
          </p:cNvPr>
          <p:cNvSpPr>
            <a:spLocks xmlns:a="http://schemas.openxmlformats.org/drawingml/2006/main" noGrp="1"/>
          </p:cNvSpPr>
          <p:nvPr/>
        </p:nvSpPr>
        <p:spPr>
          <a:xfrm xmlns:a="http://schemas.openxmlformats.org/drawingml/2006/main">
            <a:off x="3061640"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CAE9A8C9-50A3-4D8E-A47E-C61F5F45D010}"/>
              </a:ext>
            </a:extLst>
          </p:cNvPr>
          <p:cNvSpPr>
            <a:spLocks xmlns:a="http://schemas.openxmlformats.org/drawingml/2006/main" noGrp="1"/>
          </p:cNvSpPr>
          <p:nvPr/>
        </p:nvSpPr>
        <p:spPr>
          <a:xfrm xmlns:a="http://schemas.openxmlformats.org/drawingml/2006/main">
            <a:off x="3061640"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02</a:t>
            </a:r>
            <a:endParaRPr sz="1200"/>
          </a:p>
        </p:txBody>
      </p:sp>
      <p:sp>
        <p:nvSpPr>
          <p:cNvPr id="20" name="Shape 17">
            <a:extLst xmlns:a="http://schemas.openxmlformats.org/drawingml/2006/main">
              <a:ext uri="{FF2B5EF4-FFF2-40B4-BE49-F238E27FC236}">
                <a16:creationId xmlns:a16="http://schemas.microsoft.com/office/drawing/2014/main" id="{1FAC6B73-6A8F-4606-B37A-B2E6FD8FEDC3}"/>
              </a:ext>
            </a:extLst>
          </p:cNvPr>
          <p:cNvSpPr>
            <a:spLocks xmlns:a="http://schemas.openxmlformats.org/drawingml/2006/main" noGrp="1"/>
          </p:cNvSpPr>
          <p:nvPr/>
        </p:nvSpPr>
        <p:spPr>
          <a:xfrm xmlns:a="http://schemas.openxmlformats.org/drawingml/2006/main">
            <a:off x="4060850" y="3438144"/>
            <a:ext cx="25603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1" name="Shape 18">
            <a:extLst xmlns:a="http://schemas.openxmlformats.org/drawingml/2006/main">
              <a:ext uri="{FF2B5EF4-FFF2-40B4-BE49-F238E27FC236}">
                <a16:creationId xmlns:a16="http://schemas.microsoft.com/office/drawing/2014/main" id="{7BFE1D50-E9C3-4A44-B869-D70F14EE979F}"/>
              </a:ext>
            </a:extLst>
          </p:cNvPr>
          <p:cNvSpPr>
            <a:spLocks xmlns:a="http://schemas.openxmlformats.org/drawingml/2006/main" noGrp="1"/>
          </p:cNvSpPr>
          <p:nvPr/>
        </p:nvSpPr>
        <p:spPr>
          <a:xfrm xmlns:a="http://schemas.openxmlformats.org/drawingml/2006/main">
            <a:off x="4362602" y="1755648"/>
            <a:ext cx="1559509" cy="3364992"/>
          </a:xfrm>
          <a:prstGeom xmlns:a="http://schemas.openxmlformats.org/drawingml/2006/main" prst="roundRect">
            <a:avLst>
              <a:gd name="adj" fmla="val 4691"/>
            </a:avLst>
          </a:prstGeom>
          <a:solidFill xmlns:a="http://schemas.openxmlformats.org/drawingml/2006/main">
            <a:srgbClr val="F3F6FB"/>
          </a:solidFill>
          <a:ln xmlns:a="http://schemas.openxmlformats.org/drawingml/2006/main" w="15875">
            <a:solidFill>
              <a:srgbClr val="1F7A5A"/>
            </a:solidFill>
            <a:prstDash val="solid"/>
          </a:ln>
        </p:spPr>
      </p:sp>
      <p:sp>
        <p:nvSpPr>
          <p:cNvPr id="22" name="Text 19">
            <a:extLst xmlns:a="http://schemas.openxmlformats.org/drawingml/2006/main">
              <a:ext uri="{FF2B5EF4-FFF2-40B4-BE49-F238E27FC236}">
                <a16:creationId xmlns:a16="http://schemas.microsoft.com/office/drawing/2014/main" id="{D0D4A06C-861C-46A5-89EA-58681FA4D94A}"/>
              </a:ext>
            </a:extLst>
          </p:cNvPr>
          <p:cNvSpPr>
            <a:spLocks xmlns:a="http://schemas.openxmlformats.org/drawingml/2006/main" noGrp="1"/>
          </p:cNvSpPr>
          <p:nvPr/>
        </p:nvSpPr>
        <p:spPr>
          <a:xfrm xmlns:a="http://schemas.openxmlformats.org/drawingml/2006/main">
            <a:off x="4490618"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2545"/>
                </a:solidFill>
                <a:latin typeface="Helvetica Neue"/>
                <a:ea typeface="Helvetica Neue"/>
                <a:cs typeface="Helvetica Neue"/>
              </a:rPr>
              <a:t>Explain every skill</a:t>
            </a:r>
            <a:endParaRPr sz="1500"/>
          </a:p>
          <a:p xmlns:a="http://schemas.openxmlformats.org/drawingml/2006/main">
            <a:pPr marL="0" indent="0" algn="ctr">
              <a:spcBef>
                <a:spcPts val="500"/>
              </a:spcBef>
              <a:buNone/>
            </a:pPr>
            <a:r>
              <a:rPr sz="1300">
                <a:solidFill>
                  <a:srgbClr val="52677F"/>
                </a:solidFill>
                <a:latin typeface="Helvetica Neue"/>
                <a:ea typeface="Helvetica Neue"/>
                <a:cs typeface="Helvetica Neue"/>
              </a:rPr>
              <a:t>Answer follow-ups on tasks, tools, help and examples.</a:t>
            </a:r>
            <a:endParaRPr sz="1500"/>
          </a:p>
        </p:txBody>
      </p:sp>
      <p:sp>
        <p:nvSpPr>
          <p:cNvPr id="23" name="Shape 20">
            <a:extLst xmlns:a="http://schemas.openxmlformats.org/drawingml/2006/main">
              <a:ext uri="{FF2B5EF4-FFF2-40B4-BE49-F238E27FC236}">
                <a16:creationId xmlns:a16="http://schemas.microsoft.com/office/drawing/2014/main" id="{17B100C4-5EA0-4D5E-BEC3-8485BB1DCA25}"/>
              </a:ext>
            </a:extLst>
          </p:cNvPr>
          <p:cNvSpPr>
            <a:spLocks xmlns:a="http://schemas.openxmlformats.org/drawingml/2006/main" noGrp="1"/>
          </p:cNvSpPr>
          <p:nvPr/>
        </p:nvSpPr>
        <p:spPr>
          <a:xfrm xmlns:a="http://schemas.openxmlformats.org/drawingml/2006/main">
            <a:off x="4968621"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4" name="Text 21">
            <a:extLst xmlns:a="http://schemas.openxmlformats.org/drawingml/2006/main">
              <a:ext uri="{FF2B5EF4-FFF2-40B4-BE49-F238E27FC236}">
                <a16:creationId xmlns:a16="http://schemas.microsoft.com/office/drawing/2014/main" id="{8EC6DAD8-538D-4753-BFAC-9E9EE408B01E}"/>
              </a:ext>
            </a:extLst>
          </p:cNvPr>
          <p:cNvSpPr>
            <a:spLocks xmlns:a="http://schemas.openxmlformats.org/drawingml/2006/main" noGrp="1"/>
          </p:cNvSpPr>
          <p:nvPr/>
        </p:nvSpPr>
        <p:spPr>
          <a:xfrm xmlns:a="http://schemas.openxmlformats.org/drawingml/2006/main">
            <a:off x="4968621"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03</a:t>
            </a:r>
            <a:endParaRPr sz="1200"/>
          </a:p>
        </p:txBody>
      </p:sp>
      <p:sp>
        <p:nvSpPr>
          <p:cNvPr id="25" name="Shape 22">
            <a:extLst xmlns:a="http://schemas.openxmlformats.org/drawingml/2006/main">
              <a:ext uri="{FF2B5EF4-FFF2-40B4-BE49-F238E27FC236}">
                <a16:creationId xmlns:a16="http://schemas.microsoft.com/office/drawing/2014/main" id="{D37A70EA-17BC-460B-A8D7-A9FAFCC953ED}"/>
              </a:ext>
            </a:extLst>
          </p:cNvPr>
          <p:cNvSpPr>
            <a:spLocks xmlns:a="http://schemas.openxmlformats.org/drawingml/2006/main" noGrp="1"/>
          </p:cNvSpPr>
          <p:nvPr/>
        </p:nvSpPr>
        <p:spPr>
          <a:xfrm xmlns:a="http://schemas.openxmlformats.org/drawingml/2006/main">
            <a:off x="5967832" y="3438144"/>
            <a:ext cx="25603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6" name="Shape 23">
            <a:extLst xmlns:a="http://schemas.openxmlformats.org/drawingml/2006/main">
              <a:ext uri="{FF2B5EF4-FFF2-40B4-BE49-F238E27FC236}">
                <a16:creationId xmlns:a16="http://schemas.microsoft.com/office/drawing/2014/main" id="{2940E634-1DAE-4CCF-A4E7-7E3CDA076E8F}"/>
              </a:ext>
            </a:extLst>
          </p:cNvPr>
          <p:cNvSpPr>
            <a:spLocks xmlns:a="http://schemas.openxmlformats.org/drawingml/2006/main" noGrp="1"/>
          </p:cNvSpPr>
          <p:nvPr/>
        </p:nvSpPr>
        <p:spPr>
          <a:xfrm xmlns:a="http://schemas.openxmlformats.org/drawingml/2006/main">
            <a:off x="6269584" y="1755648"/>
            <a:ext cx="1559509" cy="3364992"/>
          </a:xfrm>
          <a:prstGeom xmlns:a="http://schemas.openxmlformats.org/drawingml/2006/main" prst="roundRect">
            <a:avLst>
              <a:gd name="adj" fmla="val 4691"/>
            </a:avLst>
          </a:prstGeom>
          <a:solidFill xmlns:a="http://schemas.openxmlformats.org/drawingml/2006/main">
            <a:srgbClr val="F3F6FB"/>
          </a:solidFill>
          <a:ln xmlns:a="http://schemas.openxmlformats.org/drawingml/2006/main" w="15875">
            <a:solidFill>
              <a:srgbClr val="1F7A5A"/>
            </a:solidFill>
            <a:prstDash val="solid"/>
          </a:ln>
        </p:spPr>
      </p:sp>
      <p:sp>
        <p:nvSpPr>
          <p:cNvPr id="27" name="Text 24">
            <a:extLst xmlns:a="http://schemas.openxmlformats.org/drawingml/2006/main">
              <a:ext uri="{FF2B5EF4-FFF2-40B4-BE49-F238E27FC236}">
                <a16:creationId xmlns:a16="http://schemas.microsoft.com/office/drawing/2014/main" id="{B5925817-7686-45BB-9FB4-A53898634435}"/>
              </a:ext>
            </a:extLst>
          </p:cNvPr>
          <p:cNvSpPr>
            <a:spLocks xmlns:a="http://schemas.openxmlformats.org/drawingml/2006/main" noGrp="1"/>
          </p:cNvSpPr>
          <p:nvPr/>
        </p:nvSpPr>
        <p:spPr>
          <a:xfrm xmlns:a="http://schemas.openxmlformats.org/drawingml/2006/main">
            <a:off x="6397600"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2545"/>
                </a:solidFill>
                <a:latin typeface="Helvetica Neue"/>
                <a:ea typeface="Helvetica Neue"/>
                <a:cs typeface="Helvetica Neue"/>
              </a:rPr>
              <a:t>Review your resume</a:t>
            </a:r>
            <a:endParaRPr sz="1500"/>
          </a:p>
          <a:p xmlns:a="http://schemas.openxmlformats.org/drawingml/2006/main">
            <a:pPr marL="0" indent="0" algn="ctr">
              <a:spcBef>
                <a:spcPts val="500"/>
              </a:spcBef>
              <a:buNone/>
            </a:pPr>
            <a:r>
              <a:rPr sz="1300">
                <a:solidFill>
                  <a:srgbClr val="52677F"/>
                </a:solidFill>
                <a:latin typeface="Helvetica Neue"/>
                <a:ea typeface="Helvetica Neue"/>
                <a:cs typeface="Helvetica Neue"/>
              </a:rPr>
              <a:t>Approve the facts and preserve a resume version.</a:t>
            </a:r>
            <a:endParaRPr sz="1500"/>
          </a:p>
        </p:txBody>
      </p:sp>
      <p:sp>
        <p:nvSpPr>
          <p:cNvPr id="28" name="Shape 25">
            <a:extLst xmlns:a="http://schemas.openxmlformats.org/drawingml/2006/main">
              <a:ext uri="{FF2B5EF4-FFF2-40B4-BE49-F238E27FC236}">
                <a16:creationId xmlns:a16="http://schemas.microsoft.com/office/drawing/2014/main" id="{D4EEF4F4-839B-462F-8756-99560B3E0699}"/>
              </a:ext>
            </a:extLst>
          </p:cNvPr>
          <p:cNvSpPr>
            <a:spLocks xmlns:a="http://schemas.openxmlformats.org/drawingml/2006/main" noGrp="1"/>
          </p:cNvSpPr>
          <p:nvPr/>
        </p:nvSpPr>
        <p:spPr>
          <a:xfrm xmlns:a="http://schemas.openxmlformats.org/drawingml/2006/main">
            <a:off x="6875602"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8A3AFB76-F66E-4A26-B745-A5FDCA6A376E}"/>
              </a:ext>
            </a:extLst>
          </p:cNvPr>
          <p:cNvSpPr>
            <a:spLocks xmlns:a="http://schemas.openxmlformats.org/drawingml/2006/main" noGrp="1"/>
          </p:cNvSpPr>
          <p:nvPr/>
        </p:nvSpPr>
        <p:spPr>
          <a:xfrm xmlns:a="http://schemas.openxmlformats.org/drawingml/2006/main">
            <a:off x="6875602"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04</a:t>
            </a:r>
            <a:endParaRPr sz="1200"/>
          </a:p>
        </p:txBody>
      </p:sp>
      <p:sp>
        <p:nvSpPr>
          <p:cNvPr id="30" name="Shape 27">
            <a:extLst xmlns:a="http://schemas.openxmlformats.org/drawingml/2006/main">
              <a:ext uri="{FF2B5EF4-FFF2-40B4-BE49-F238E27FC236}">
                <a16:creationId xmlns:a16="http://schemas.microsoft.com/office/drawing/2014/main" id="{209069F9-40D2-47EA-8F77-D4CD3A28D551}"/>
              </a:ext>
            </a:extLst>
          </p:cNvPr>
          <p:cNvSpPr>
            <a:spLocks xmlns:a="http://schemas.openxmlformats.org/drawingml/2006/main" noGrp="1"/>
          </p:cNvSpPr>
          <p:nvPr/>
        </p:nvSpPr>
        <p:spPr>
          <a:xfrm xmlns:a="http://schemas.openxmlformats.org/drawingml/2006/main">
            <a:off x="7874813" y="3438144"/>
            <a:ext cx="25603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31" name="Shape 28">
            <a:extLst xmlns:a="http://schemas.openxmlformats.org/drawingml/2006/main">
              <a:ext uri="{FF2B5EF4-FFF2-40B4-BE49-F238E27FC236}">
                <a16:creationId xmlns:a16="http://schemas.microsoft.com/office/drawing/2014/main" id="{67E4E2D7-6CC2-4D06-AF21-89348A9E1141}"/>
              </a:ext>
            </a:extLst>
          </p:cNvPr>
          <p:cNvSpPr>
            <a:spLocks xmlns:a="http://schemas.openxmlformats.org/drawingml/2006/main" noGrp="1"/>
          </p:cNvSpPr>
          <p:nvPr/>
        </p:nvSpPr>
        <p:spPr>
          <a:xfrm xmlns:a="http://schemas.openxmlformats.org/drawingml/2006/main">
            <a:off x="8176565" y="1755648"/>
            <a:ext cx="1559509" cy="3364992"/>
          </a:xfrm>
          <a:prstGeom xmlns:a="http://schemas.openxmlformats.org/drawingml/2006/main" prst="roundRect">
            <a:avLst>
              <a:gd name="adj" fmla="val 4691"/>
            </a:avLst>
          </a:prstGeom>
          <a:solidFill xmlns:a="http://schemas.openxmlformats.org/drawingml/2006/main">
            <a:srgbClr val="F3F6FB"/>
          </a:solidFill>
          <a:ln xmlns:a="http://schemas.openxmlformats.org/drawingml/2006/main" w="15875">
            <a:solidFill>
              <a:srgbClr val="1F7A5A"/>
            </a:solidFill>
            <a:prstDash val="solid"/>
          </a:ln>
        </p:spPr>
      </p:sp>
      <p:sp>
        <p:nvSpPr>
          <p:cNvPr id="32" name="Text 29">
            <a:extLst xmlns:a="http://schemas.openxmlformats.org/drawingml/2006/main">
              <a:ext uri="{FF2B5EF4-FFF2-40B4-BE49-F238E27FC236}">
                <a16:creationId xmlns:a16="http://schemas.microsoft.com/office/drawing/2014/main" id="{F65503AD-5A7F-4AA6-B174-307EF9D599B4}"/>
              </a:ext>
            </a:extLst>
          </p:cNvPr>
          <p:cNvSpPr>
            <a:spLocks xmlns:a="http://schemas.openxmlformats.org/drawingml/2006/main" noGrp="1"/>
          </p:cNvSpPr>
          <p:nvPr/>
        </p:nvSpPr>
        <p:spPr>
          <a:xfrm xmlns:a="http://schemas.openxmlformats.org/drawingml/2006/main">
            <a:off x="8304581"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2545"/>
                </a:solidFill>
                <a:latin typeface="Helvetica Neue"/>
                <a:ea typeface="Helvetica Neue"/>
                <a:cs typeface="Helvetica Neue"/>
              </a:rPr>
              <a:t>Review opportunities</a:t>
            </a:r>
            <a:endParaRPr sz="1500"/>
          </a:p>
          <a:p xmlns:a="http://schemas.openxmlformats.org/drawingml/2006/main">
            <a:pPr marL="0" indent="0" algn="ctr">
              <a:spcBef>
                <a:spcPts val="500"/>
              </a:spcBef>
              <a:buNone/>
            </a:pPr>
            <a:r>
              <a:rPr sz="1300">
                <a:solidFill>
                  <a:srgbClr val="52677F"/>
                </a:solidFill>
                <a:latin typeface="Helvetica Neue"/>
                <a:ea typeface="Helvetica Neue"/>
                <a:cs typeface="Helvetica Neue"/>
              </a:rPr>
              <a:t>Compare requirements with supported experience.</a:t>
            </a:r>
            <a:endParaRPr sz="1500"/>
          </a:p>
        </p:txBody>
      </p:sp>
      <p:sp>
        <p:nvSpPr>
          <p:cNvPr id="33" name="Shape 30">
            <a:extLst xmlns:a="http://schemas.openxmlformats.org/drawingml/2006/main">
              <a:ext uri="{FF2B5EF4-FFF2-40B4-BE49-F238E27FC236}">
                <a16:creationId xmlns:a16="http://schemas.microsoft.com/office/drawing/2014/main" id="{B1141725-110B-4316-B121-FF08D44556FC}"/>
              </a:ext>
            </a:extLst>
          </p:cNvPr>
          <p:cNvSpPr>
            <a:spLocks xmlns:a="http://schemas.openxmlformats.org/drawingml/2006/main" noGrp="1"/>
          </p:cNvSpPr>
          <p:nvPr/>
        </p:nvSpPr>
        <p:spPr>
          <a:xfrm xmlns:a="http://schemas.openxmlformats.org/drawingml/2006/main">
            <a:off x="8782583"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4" name="Text 31">
            <a:extLst xmlns:a="http://schemas.openxmlformats.org/drawingml/2006/main">
              <a:ext uri="{FF2B5EF4-FFF2-40B4-BE49-F238E27FC236}">
                <a16:creationId xmlns:a16="http://schemas.microsoft.com/office/drawing/2014/main" id="{430BCBAA-41BA-4548-93D6-8A7317A287B0}"/>
              </a:ext>
            </a:extLst>
          </p:cNvPr>
          <p:cNvSpPr>
            <a:spLocks xmlns:a="http://schemas.openxmlformats.org/drawingml/2006/main" noGrp="1"/>
          </p:cNvSpPr>
          <p:nvPr/>
        </p:nvSpPr>
        <p:spPr>
          <a:xfrm xmlns:a="http://schemas.openxmlformats.org/drawingml/2006/main">
            <a:off x="8782583"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05</a:t>
            </a:r>
            <a:endParaRPr sz="1200"/>
          </a:p>
        </p:txBody>
      </p:sp>
      <p:sp>
        <p:nvSpPr>
          <p:cNvPr id="35" name="Shape 32">
            <a:extLst xmlns:a="http://schemas.openxmlformats.org/drawingml/2006/main">
              <a:ext uri="{FF2B5EF4-FFF2-40B4-BE49-F238E27FC236}">
                <a16:creationId xmlns:a16="http://schemas.microsoft.com/office/drawing/2014/main" id="{3CFFD06C-D784-405C-AB41-C6171F9E58DA}"/>
              </a:ext>
            </a:extLst>
          </p:cNvPr>
          <p:cNvSpPr>
            <a:spLocks xmlns:a="http://schemas.openxmlformats.org/drawingml/2006/main" noGrp="1"/>
          </p:cNvSpPr>
          <p:nvPr/>
        </p:nvSpPr>
        <p:spPr>
          <a:xfrm xmlns:a="http://schemas.openxmlformats.org/drawingml/2006/main">
            <a:off x="9781794" y="3438144"/>
            <a:ext cx="256032"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36" name="Shape 33">
            <a:extLst xmlns:a="http://schemas.openxmlformats.org/drawingml/2006/main">
              <a:ext uri="{FF2B5EF4-FFF2-40B4-BE49-F238E27FC236}">
                <a16:creationId xmlns:a16="http://schemas.microsoft.com/office/drawing/2014/main" id="{E45CB1E8-93B2-4CA0-A3C7-B91421383699}"/>
              </a:ext>
            </a:extLst>
          </p:cNvPr>
          <p:cNvSpPr>
            <a:spLocks xmlns:a="http://schemas.openxmlformats.org/drawingml/2006/main" noGrp="1"/>
          </p:cNvSpPr>
          <p:nvPr/>
        </p:nvSpPr>
        <p:spPr>
          <a:xfrm xmlns:a="http://schemas.openxmlformats.org/drawingml/2006/main">
            <a:off x="10083546" y="1755648"/>
            <a:ext cx="1559509" cy="3364992"/>
          </a:xfrm>
          <a:prstGeom xmlns:a="http://schemas.openxmlformats.org/drawingml/2006/main" prst="roundRect">
            <a:avLst>
              <a:gd name="adj" fmla="val 4691"/>
            </a:avLst>
          </a:prstGeom>
          <a:solidFill xmlns:a="http://schemas.openxmlformats.org/drawingml/2006/main">
            <a:srgbClr val="0B2545"/>
          </a:solidFill>
          <a:ln xmlns:a="http://schemas.openxmlformats.org/drawingml/2006/main" w="15875">
            <a:solidFill>
              <a:srgbClr val="0B2545"/>
            </a:solidFill>
            <a:prstDash val="solid"/>
          </a:ln>
        </p:spPr>
      </p:sp>
      <p:sp>
        <p:nvSpPr>
          <p:cNvPr id="37" name="Text 34">
            <a:extLst xmlns:a="http://schemas.openxmlformats.org/drawingml/2006/main">
              <a:ext uri="{FF2B5EF4-FFF2-40B4-BE49-F238E27FC236}">
                <a16:creationId xmlns:a16="http://schemas.microsoft.com/office/drawing/2014/main" id="{EEC05718-3C0E-415E-9210-FCC8B8B79DE6}"/>
              </a:ext>
            </a:extLst>
          </p:cNvPr>
          <p:cNvSpPr>
            <a:spLocks xmlns:a="http://schemas.openxmlformats.org/drawingml/2006/main" noGrp="1"/>
          </p:cNvSpPr>
          <p:nvPr/>
        </p:nvSpPr>
        <p:spPr>
          <a:xfrm xmlns:a="http://schemas.openxmlformats.org/drawingml/2006/main">
            <a:off x="10211562" y="2002536"/>
            <a:ext cx="1303477" cy="29900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Helvetica Neue"/>
                <a:ea typeface="Helvetica Neue"/>
                <a:cs typeface="Helvetica Neue"/>
              </a:rPr>
              <a:t>Track the search</a:t>
            </a:r>
            <a:endParaRPr sz="1500"/>
          </a:p>
          <a:p xmlns:a="http://schemas.openxmlformats.org/drawingml/2006/main">
            <a:pPr marL="0" indent="0" algn="ctr">
              <a:spcBef>
                <a:spcPts val="500"/>
              </a:spcBef>
              <a:buNone/>
            </a:pPr>
            <a:r>
              <a:rPr sz="1300">
                <a:solidFill>
                  <a:srgbClr val="C6D5E8"/>
                </a:solidFill>
                <a:latin typeface="Helvetica Neue"/>
                <a:ea typeface="Helvetica Neue"/>
                <a:cs typeface="Helvetica Neue"/>
              </a:rPr>
              <a:t>Save jobs, follow-ups and the resume used.</a:t>
            </a:r>
            <a:endParaRPr sz="1500"/>
          </a:p>
        </p:txBody>
      </p:sp>
      <p:sp>
        <p:nvSpPr>
          <p:cNvPr id="38" name="Shape 35">
            <a:extLst xmlns:a="http://schemas.openxmlformats.org/drawingml/2006/main">
              <a:ext uri="{FF2B5EF4-FFF2-40B4-BE49-F238E27FC236}">
                <a16:creationId xmlns:a16="http://schemas.microsoft.com/office/drawing/2014/main" id="{8C35EA8E-B22D-4D09-88A3-A6C17832340C}"/>
              </a:ext>
            </a:extLst>
          </p:cNvPr>
          <p:cNvSpPr>
            <a:spLocks xmlns:a="http://schemas.openxmlformats.org/drawingml/2006/main" noGrp="1"/>
          </p:cNvSpPr>
          <p:nvPr/>
        </p:nvSpPr>
        <p:spPr>
          <a:xfrm xmlns:a="http://schemas.openxmlformats.org/drawingml/2006/main">
            <a:off x="10689565" y="1581912"/>
            <a:ext cx="347472" cy="347472"/>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9" name="Text 36">
            <a:extLst xmlns:a="http://schemas.openxmlformats.org/drawingml/2006/main">
              <a:ext uri="{FF2B5EF4-FFF2-40B4-BE49-F238E27FC236}">
                <a16:creationId xmlns:a16="http://schemas.microsoft.com/office/drawing/2014/main" id="{912B7A3C-EF86-487A-8015-4596E451A6D0}"/>
              </a:ext>
            </a:extLst>
          </p:cNvPr>
          <p:cNvSpPr>
            <a:spLocks xmlns:a="http://schemas.openxmlformats.org/drawingml/2006/main" noGrp="1"/>
          </p:cNvSpPr>
          <p:nvPr/>
        </p:nvSpPr>
        <p:spPr>
          <a:xfrm xmlns:a="http://schemas.openxmlformats.org/drawingml/2006/main">
            <a:off x="10689565" y="166039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06</a:t>
            </a:r>
            <a:endParaRPr sz="1200"/>
          </a:p>
        </p:txBody>
      </p:sp>
      <p:sp>
        <p:nvSpPr>
          <p:cNvPr id="40" name="Shape 37">
            <a:extLst xmlns:a="http://schemas.openxmlformats.org/drawingml/2006/main">
              <a:ext uri="{FF2B5EF4-FFF2-40B4-BE49-F238E27FC236}">
                <a16:creationId xmlns:a16="http://schemas.microsoft.com/office/drawing/2014/main" id="{8DE3F9B9-645A-4E67-8DF6-B8C9F2369E3B}"/>
              </a:ext>
            </a:extLst>
          </p:cNvPr>
          <p:cNvSpPr>
            <a:spLocks xmlns:a="http://schemas.openxmlformats.org/drawingml/2006/main" noGrp="1"/>
          </p:cNvSpPr>
          <p:nvPr/>
        </p:nvSpPr>
        <p:spPr>
          <a:xfrm xmlns:a="http://schemas.openxmlformats.org/drawingml/2006/main">
            <a:off x="566928" y="5175504"/>
            <a:ext cx="0" cy="173736"/>
          </a:xfrm>
          <a:prstGeom xmlns:a="http://schemas.openxmlformats.org/drawingml/2006/main" prst="line">
            <a:avLst/>
          </a:prstGeom>
          <a:noFill xmlns:a="http://schemas.openxmlformats.org/drawingml/2006/main"/>
          <a:ln xmlns:a="http://schemas.openxmlformats.org/drawingml/2006/main" w="19050">
            <a:solidFill>
              <a:srgbClr val="1F7A5A"/>
            </a:solidFill>
            <a:prstDash val="solid"/>
          </a:ln>
        </p:spPr>
      </p:sp>
      <p:sp>
        <p:nvSpPr>
          <p:cNvPr id="41" name="Shape 38">
            <a:extLst xmlns:a="http://schemas.openxmlformats.org/drawingml/2006/main">
              <a:ext uri="{FF2B5EF4-FFF2-40B4-BE49-F238E27FC236}">
                <a16:creationId xmlns:a16="http://schemas.microsoft.com/office/drawing/2014/main" id="{5940B8C8-0D91-4169-AD80-737F99EB7BE3}"/>
              </a:ext>
            </a:extLst>
          </p:cNvPr>
          <p:cNvSpPr>
            <a:spLocks xmlns:a="http://schemas.openxmlformats.org/drawingml/2006/main" noGrp="1"/>
          </p:cNvSpPr>
          <p:nvPr/>
        </p:nvSpPr>
        <p:spPr>
          <a:xfrm xmlns:a="http://schemas.openxmlformats.org/drawingml/2006/main">
            <a:off x="7810805" y="5175504"/>
            <a:ext cx="0" cy="173736"/>
          </a:xfrm>
          <a:prstGeom xmlns:a="http://schemas.openxmlformats.org/drawingml/2006/main" prst="line">
            <a:avLst/>
          </a:prstGeom>
          <a:noFill xmlns:a="http://schemas.openxmlformats.org/drawingml/2006/main"/>
          <a:ln xmlns:a="http://schemas.openxmlformats.org/drawingml/2006/main" w="19050">
            <a:solidFill>
              <a:srgbClr val="1F7A5A"/>
            </a:solidFill>
            <a:prstDash val="solid"/>
          </a:ln>
        </p:spPr>
      </p:sp>
      <p:sp>
        <p:nvSpPr>
          <p:cNvPr id="42" name="Shape 39">
            <a:extLst xmlns:a="http://schemas.openxmlformats.org/drawingml/2006/main">
              <a:ext uri="{FF2B5EF4-FFF2-40B4-BE49-F238E27FC236}">
                <a16:creationId xmlns:a16="http://schemas.microsoft.com/office/drawing/2014/main" id="{77144EA5-27B3-4979-91BB-240517D63A71}"/>
              </a:ext>
            </a:extLst>
          </p:cNvPr>
          <p:cNvSpPr>
            <a:spLocks xmlns:a="http://schemas.openxmlformats.org/drawingml/2006/main" noGrp="1"/>
          </p:cNvSpPr>
          <p:nvPr/>
        </p:nvSpPr>
        <p:spPr>
          <a:xfrm xmlns:a="http://schemas.openxmlformats.org/drawingml/2006/main">
            <a:off x="548640" y="5349240"/>
            <a:ext cx="7280453" cy="402336"/>
          </a:xfrm>
          <a:prstGeom xmlns:a="http://schemas.openxmlformats.org/drawingml/2006/main" prst="roundRect">
            <a:avLst>
              <a:gd name="adj" fmla="val 18182"/>
            </a:avLst>
          </a:prstGeom>
          <a:solidFill xmlns:a="http://schemas.openxmlformats.org/drawingml/2006/main">
            <a:srgbClr val="F3F6FB"/>
          </a:solidFill>
          <a:ln xmlns:a="http://schemas.openxmlformats.org/drawingml/2006/main" w="15875">
            <a:solidFill>
              <a:srgbClr val="1F7A5A"/>
            </a:solidFill>
            <a:prstDash val="solid"/>
          </a:ln>
        </p:spPr>
      </p:sp>
      <p:sp>
        <p:nvSpPr>
          <p:cNvPr id="43" name="Text 40">
            <a:extLst xmlns:a="http://schemas.openxmlformats.org/drawingml/2006/main">
              <a:ext uri="{FF2B5EF4-FFF2-40B4-BE49-F238E27FC236}">
                <a16:creationId xmlns:a16="http://schemas.microsoft.com/office/drawing/2014/main" id="{9E337CE3-7ADF-4DA0-99A8-A7812B5F69B6}"/>
              </a:ext>
            </a:extLst>
          </p:cNvPr>
          <p:cNvSpPr>
            <a:spLocks xmlns:a="http://schemas.openxmlformats.org/drawingml/2006/main" noGrp="1"/>
          </p:cNvSpPr>
          <p:nvPr/>
        </p:nvSpPr>
        <p:spPr>
          <a:xfrm xmlns:a="http://schemas.openxmlformats.org/drawingml/2006/main">
            <a:off x="676656" y="5458968"/>
            <a:ext cx="702442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spc="140">
                <a:solidFill>
                  <a:srgbClr val="1F7A5A"/>
                </a:solidFill>
                <a:latin typeface="Helvetica Neue"/>
                <a:ea typeface="Helvetica Neue"/>
                <a:cs typeface="Helvetica Neue"/>
              </a:rPr>
              <a:t>BUILD THE REVIEWED PROFILE</a:t>
            </a:r>
            <a:endParaRPr sz="1200"/>
          </a:p>
        </p:txBody>
      </p:sp>
      <p:sp>
        <p:nvSpPr>
          <p:cNvPr id="44" name="Shape 41">
            <a:extLst xmlns:a="http://schemas.openxmlformats.org/drawingml/2006/main">
              <a:ext uri="{FF2B5EF4-FFF2-40B4-BE49-F238E27FC236}">
                <a16:creationId xmlns:a16="http://schemas.microsoft.com/office/drawing/2014/main" id="{83E6620B-9A0A-4518-8BF3-6971EAFFE4F4}"/>
              </a:ext>
            </a:extLst>
          </p:cNvPr>
          <p:cNvSpPr>
            <a:spLocks xmlns:a="http://schemas.openxmlformats.org/drawingml/2006/main" noGrp="1"/>
          </p:cNvSpPr>
          <p:nvPr/>
        </p:nvSpPr>
        <p:spPr>
          <a:xfrm xmlns:a="http://schemas.openxmlformats.org/drawingml/2006/main">
            <a:off x="8194853" y="5175504"/>
            <a:ext cx="0" cy="173736"/>
          </a:xfrm>
          <a:prstGeom xmlns:a="http://schemas.openxmlformats.org/drawingml/2006/main" prst="line">
            <a:avLst/>
          </a:prstGeom>
          <a:noFill xmlns:a="http://schemas.openxmlformats.org/drawingml/2006/main"/>
          <a:ln xmlns:a="http://schemas.openxmlformats.org/drawingml/2006/main" w="19050">
            <a:solidFill>
              <a:srgbClr val="1F7A5A"/>
            </a:solidFill>
            <a:prstDash val="solid"/>
          </a:ln>
        </p:spPr>
      </p:sp>
      <p:sp>
        <p:nvSpPr>
          <p:cNvPr id="45" name="Shape 42">
            <a:extLst xmlns:a="http://schemas.openxmlformats.org/drawingml/2006/main">
              <a:ext uri="{FF2B5EF4-FFF2-40B4-BE49-F238E27FC236}">
                <a16:creationId xmlns:a16="http://schemas.microsoft.com/office/drawing/2014/main" id="{1E79C7A5-C985-4DDE-877E-8A1E963DFABB}"/>
              </a:ext>
            </a:extLst>
          </p:cNvPr>
          <p:cNvSpPr>
            <a:spLocks xmlns:a="http://schemas.openxmlformats.org/drawingml/2006/main" noGrp="1"/>
          </p:cNvSpPr>
          <p:nvPr/>
        </p:nvSpPr>
        <p:spPr>
          <a:xfrm xmlns:a="http://schemas.openxmlformats.org/drawingml/2006/main">
            <a:off x="11624767" y="5175504"/>
            <a:ext cx="0" cy="173736"/>
          </a:xfrm>
          <a:prstGeom xmlns:a="http://schemas.openxmlformats.org/drawingml/2006/main" prst="line">
            <a:avLst/>
          </a:prstGeom>
          <a:noFill xmlns:a="http://schemas.openxmlformats.org/drawingml/2006/main"/>
          <a:ln xmlns:a="http://schemas.openxmlformats.org/drawingml/2006/main" w="19050">
            <a:solidFill>
              <a:srgbClr val="1F7A5A"/>
            </a:solidFill>
            <a:prstDash val="solid"/>
          </a:ln>
        </p:spPr>
      </p:sp>
      <p:sp>
        <p:nvSpPr>
          <p:cNvPr id="46" name="Shape 43">
            <a:extLst xmlns:a="http://schemas.openxmlformats.org/drawingml/2006/main">
              <a:ext uri="{FF2B5EF4-FFF2-40B4-BE49-F238E27FC236}">
                <a16:creationId xmlns:a16="http://schemas.microsoft.com/office/drawing/2014/main" id="{2B0ED167-66EE-4E7C-8BE0-273BBB691245}"/>
              </a:ext>
            </a:extLst>
          </p:cNvPr>
          <p:cNvSpPr>
            <a:spLocks xmlns:a="http://schemas.openxmlformats.org/drawingml/2006/main" noGrp="1"/>
          </p:cNvSpPr>
          <p:nvPr/>
        </p:nvSpPr>
        <p:spPr>
          <a:xfrm xmlns:a="http://schemas.openxmlformats.org/drawingml/2006/main">
            <a:off x="8176565" y="5349240"/>
            <a:ext cx="3466490" cy="402336"/>
          </a:xfrm>
          <a:prstGeom xmlns:a="http://schemas.openxmlformats.org/drawingml/2006/main" prst="roundRect">
            <a:avLst>
              <a:gd name="adj" fmla="val 18182"/>
            </a:avLst>
          </a:prstGeom>
          <a:solidFill xmlns:a="http://schemas.openxmlformats.org/drawingml/2006/main">
            <a:srgbClr val="F3F6FB"/>
          </a:solidFill>
          <a:ln xmlns:a="http://schemas.openxmlformats.org/drawingml/2006/main" w="15875">
            <a:solidFill>
              <a:srgbClr val="1F7A5A"/>
            </a:solidFill>
            <a:prstDash val="solid"/>
          </a:ln>
        </p:spPr>
      </p:sp>
      <p:sp>
        <p:nvSpPr>
          <p:cNvPr id="47" name="Text 44">
            <a:extLst xmlns:a="http://schemas.openxmlformats.org/drawingml/2006/main">
              <a:ext uri="{FF2B5EF4-FFF2-40B4-BE49-F238E27FC236}">
                <a16:creationId xmlns:a16="http://schemas.microsoft.com/office/drawing/2014/main" id="{F409AB0A-CF99-4222-A556-21C2944BC788}"/>
              </a:ext>
            </a:extLst>
          </p:cNvPr>
          <p:cNvSpPr>
            <a:spLocks xmlns:a="http://schemas.openxmlformats.org/drawingml/2006/main" noGrp="1"/>
          </p:cNvSpPr>
          <p:nvPr/>
        </p:nvSpPr>
        <p:spPr>
          <a:xfrm xmlns:a="http://schemas.openxmlformats.org/drawingml/2006/main">
            <a:off x="8304581" y="5458968"/>
            <a:ext cx="321045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spc="140">
                <a:solidFill>
                  <a:srgbClr val="1F7A5A"/>
                </a:solidFill>
                <a:latin typeface="Helvetica Neue"/>
                <a:ea typeface="Helvetica Neue"/>
                <a:cs typeface="Helvetica Neue"/>
              </a:rPr>
              <a:t>USE IT IN THE SEARCH</a:t>
            </a:r>
            <a:endParaRPr sz="1200"/>
          </a:p>
        </p:txBody>
      </p:sp>
    </p:spTree>
    <p:extLst>
      <p:ext uri="{BB962C8B-B14F-4D97-AF65-F5344CB8AC3E}">
        <p14:creationId xmlns:p14="http://schemas.microsoft.com/office/powerpoint/2010/main" val="980176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F4F039A0-B74F-45B8-A77A-2169BBEBEA9B}"/>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CF0FF761-57F7-4735-B8E1-AAC7F719885A}"/>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2A9DC92F-2441-4F2F-A6B8-D4420BDE4686}"/>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1A2F6BFA-2C69-4E49-B770-7E7763B61328}"/>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signed-in dashboard</a:t>
            </a:r>
            <a:endParaRPr sz="3000"/>
          </a:p>
        </p:txBody>
      </p:sp>
      <p:sp>
        <p:nvSpPr>
          <p:cNvPr id="7" name="Text 4">
            <a:extLst xmlns:a="http://schemas.openxmlformats.org/drawingml/2006/main">
              <a:ext uri="{FF2B5EF4-FFF2-40B4-BE49-F238E27FC236}">
                <a16:creationId xmlns:a16="http://schemas.microsoft.com/office/drawing/2014/main" id="{E26F6D8A-E1F6-45A4-8FC0-77FFA20B2278}"/>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A populated overview brings the career profile, resume versions and next actions together.</a:t>
            </a:r>
            <a:endParaRPr sz="1500"/>
          </a:p>
        </p:txBody>
      </p:sp>
      <p:sp>
        <p:nvSpPr>
          <p:cNvPr id="8" name="Shape 5">
            <a:extLst xmlns:a="http://schemas.openxmlformats.org/drawingml/2006/main">
              <a:ext uri="{FF2B5EF4-FFF2-40B4-BE49-F238E27FC236}">
                <a16:creationId xmlns:a16="http://schemas.microsoft.com/office/drawing/2014/main" id="{C2953622-3F6D-4B7E-B1BA-8AAEE835419B}"/>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FE02713B-A119-4DA1-9B44-26D381AED818}"/>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647B1041-18D7-4F5E-B832-9DD691BED497}"/>
              </a:ext>
            </a:extLst>
          </p:cNvPr>
          <p:cNvSpPr>
            <a:spLocks xmlns:a="http://schemas.openxmlformats.org/drawingml/2006/main" noGrp="1"/>
          </p:cNvSpPr>
          <p:nvPr/>
        </p:nvSpPr>
        <p:spPr>
          <a:xfrm xmlns:a="http://schemas.openxmlformats.org/drawingml/2006/main">
            <a:off x="4160520" y="6382512"/>
            <a:ext cx="3931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52677F"/>
                </a:solidFill>
                <a:latin typeface="Helvetica Neue"/>
                <a:ea typeface="Helvetica Neue"/>
                <a:cs typeface="Helvetica Neue"/>
              </a:rPr>
              <a:t>Fictional demo. AI examples are simulated.</a:t>
            </a:r>
            <a:endParaRPr sz="900"/>
          </a:p>
        </p:txBody>
      </p:sp>
      <p:sp>
        <p:nvSpPr>
          <p:cNvPr id="11" name="Text 8">
            <a:extLst xmlns:a="http://schemas.openxmlformats.org/drawingml/2006/main">
              <a:ext uri="{FF2B5EF4-FFF2-40B4-BE49-F238E27FC236}">
                <a16:creationId xmlns:a16="http://schemas.microsoft.com/office/drawing/2014/main" id="{0F5D4994-345A-4F78-B4E0-FB68C2BFAB44}"/>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8 / 29</a:t>
            </a:r>
            <a:endParaRPr sz="900"/>
          </a:p>
        </p:txBody>
      </p:sp>
      <p:sp>
        <p:nvSpPr>
          <p:cNvPr id="12" name="Shape 9">
            <a:extLst xmlns:a="http://schemas.openxmlformats.org/drawingml/2006/main">
              <a:ext uri="{FF2B5EF4-FFF2-40B4-BE49-F238E27FC236}">
                <a16:creationId xmlns:a16="http://schemas.microsoft.com/office/drawing/2014/main" id="{696DBC5A-C057-4F51-85E6-06906C151369}"/>
              </a:ext>
            </a:extLst>
          </p:cNvPr>
          <p:cNvSpPr>
            <a:spLocks xmlns:a="http://schemas.openxmlformats.org/drawingml/2006/main" noGrp="1"/>
          </p:cNvSpPr>
          <p:nvPr/>
        </p:nvSpPr>
        <p:spPr>
          <a:xfrm xmlns:a="http://schemas.openxmlformats.org/drawingml/2006/main">
            <a:off x="548640" y="1554480"/>
            <a:ext cx="7680960" cy="3803904"/>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C9D6E8"/>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a835b90375614544"/>
          <a:stretch xmlns:a="http://schemas.openxmlformats.org/drawingml/2006/main"/>
        </p:blipFill>
        <p:spPr>
          <a:xfrm xmlns:a="http://schemas.openxmlformats.org/drawingml/2006/main">
            <a:off x="621792" y="1627632"/>
            <a:ext cx="7534656" cy="36576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DA58D813-069B-436F-A333-6C03F525E2C5}"/>
              </a:ext>
            </a:extLst>
          </p:cNvPr>
          <p:cNvSpPr>
            <a:spLocks xmlns:a="http://schemas.openxmlformats.org/drawingml/2006/main" noGrp="1"/>
          </p:cNvSpPr>
          <p:nvPr/>
        </p:nvSpPr>
        <p:spPr>
          <a:xfrm xmlns:a="http://schemas.openxmlformats.org/drawingml/2006/main">
            <a:off x="8458200" y="1554480"/>
            <a:ext cx="3184855" cy="3803904"/>
          </a:xfrm>
          <a:prstGeom xmlns:a="http://schemas.openxmlformats.org/drawingml/2006/main" prst="roundRect">
            <a:avLst>
              <a:gd name="adj" fmla="val 2297"/>
            </a:avLst>
          </a:prstGeom>
          <a:solidFill xmlns:a="http://schemas.openxmlformats.org/drawingml/2006/main">
            <a:srgbClr val="F3F6FB"/>
          </a:solidFill>
          <a:ln xmlns:a="http://schemas.openxmlformats.org/drawingml/2006/main" w="9525">
            <a:solidFill>
              <a:srgbClr val="C9D6E8"/>
            </a:solidFill>
            <a:prstDash val="solid"/>
          </a:ln>
        </p:spPr>
      </p:sp>
      <p:sp>
        <p:nvSpPr>
          <p:cNvPr id="15" name="Shape 11">
            <a:extLst xmlns:a="http://schemas.openxmlformats.org/drawingml/2006/main">
              <a:ext uri="{FF2B5EF4-FFF2-40B4-BE49-F238E27FC236}">
                <a16:creationId xmlns:a16="http://schemas.microsoft.com/office/drawing/2014/main" id="{B3DC3571-2BC7-4863-94CC-793BC6D2B07D}"/>
              </a:ext>
            </a:extLst>
          </p:cNvPr>
          <p:cNvSpPr>
            <a:spLocks xmlns:a="http://schemas.openxmlformats.org/drawingml/2006/main" noGrp="1"/>
          </p:cNvSpPr>
          <p:nvPr/>
        </p:nvSpPr>
        <p:spPr>
          <a:xfrm xmlns:a="http://schemas.openxmlformats.org/drawingml/2006/main">
            <a:off x="8467344" y="1664208"/>
            <a:ext cx="54864" cy="3584448"/>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6" name="Text 12">
            <a:extLst xmlns:a="http://schemas.openxmlformats.org/drawingml/2006/main">
              <a:ext uri="{FF2B5EF4-FFF2-40B4-BE49-F238E27FC236}">
                <a16:creationId xmlns:a16="http://schemas.microsoft.com/office/drawing/2014/main" id="{AD69F4A3-2DE4-41CB-9209-4FA2C2D76ED2}"/>
              </a:ext>
            </a:extLst>
          </p:cNvPr>
          <p:cNvSpPr>
            <a:spLocks xmlns:a="http://schemas.openxmlformats.org/drawingml/2006/main" noGrp="1"/>
          </p:cNvSpPr>
          <p:nvPr/>
        </p:nvSpPr>
        <p:spPr>
          <a:xfrm xmlns:a="http://schemas.openxmlformats.org/drawingml/2006/main">
            <a:off x="8714232" y="1773936"/>
            <a:ext cx="267279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WHAT TO LOOK AT</a:t>
            </a:r>
            <a:endParaRPr sz="1100"/>
          </a:p>
        </p:txBody>
      </p:sp>
      <p:sp>
        <p:nvSpPr>
          <p:cNvPr id="17" name="Shape 13">
            <a:extLst xmlns:a="http://schemas.openxmlformats.org/drawingml/2006/main">
              <a:ext uri="{FF2B5EF4-FFF2-40B4-BE49-F238E27FC236}">
                <a16:creationId xmlns:a16="http://schemas.microsoft.com/office/drawing/2014/main" id="{3898A12C-FEAA-465B-B161-65738AEBA431}"/>
              </a:ext>
            </a:extLst>
          </p:cNvPr>
          <p:cNvSpPr>
            <a:spLocks xmlns:a="http://schemas.openxmlformats.org/drawingml/2006/main" noGrp="1"/>
          </p:cNvSpPr>
          <p:nvPr/>
        </p:nvSpPr>
        <p:spPr>
          <a:xfrm xmlns:a="http://schemas.openxmlformats.org/drawingml/2006/main">
            <a:off x="8714232" y="229514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18" name="Text 14">
            <a:extLst xmlns:a="http://schemas.openxmlformats.org/drawingml/2006/main">
              <a:ext uri="{FF2B5EF4-FFF2-40B4-BE49-F238E27FC236}">
                <a16:creationId xmlns:a16="http://schemas.microsoft.com/office/drawing/2014/main" id="{D365B1C1-6CEE-4B19-954A-E40091622DD5}"/>
              </a:ext>
            </a:extLst>
          </p:cNvPr>
          <p:cNvSpPr>
            <a:spLocks xmlns:a="http://schemas.openxmlformats.org/drawingml/2006/main" noGrp="1"/>
          </p:cNvSpPr>
          <p:nvPr/>
        </p:nvSpPr>
        <p:spPr>
          <a:xfrm xmlns:a="http://schemas.openxmlformats.org/drawingml/2006/main">
            <a:off x="8714232" y="233705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19" name="Text 15">
            <a:extLst xmlns:a="http://schemas.openxmlformats.org/drawingml/2006/main">
              <a:ext uri="{FF2B5EF4-FFF2-40B4-BE49-F238E27FC236}">
                <a16:creationId xmlns:a16="http://schemas.microsoft.com/office/drawing/2014/main" id="{B5A8A87D-2FA2-44F5-AAE3-3A08FF7639BF}"/>
              </a:ext>
            </a:extLst>
          </p:cNvPr>
          <p:cNvSpPr>
            <a:spLocks xmlns:a="http://schemas.openxmlformats.org/drawingml/2006/main" noGrp="1"/>
          </p:cNvSpPr>
          <p:nvPr/>
        </p:nvSpPr>
        <p:spPr>
          <a:xfrm xmlns:a="http://schemas.openxmlformats.org/drawingml/2006/main">
            <a:off x="9144000" y="226771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Profile counts: experiences, skills, saved opportunities, resume versions.</a:t>
            </a:r>
            <a:endParaRPr sz="1300"/>
          </a:p>
        </p:txBody>
      </p:sp>
      <p:sp>
        <p:nvSpPr>
          <p:cNvPr id="20" name="Shape 16">
            <a:extLst xmlns:a="http://schemas.openxmlformats.org/drawingml/2006/main">
              <a:ext uri="{FF2B5EF4-FFF2-40B4-BE49-F238E27FC236}">
                <a16:creationId xmlns:a16="http://schemas.microsoft.com/office/drawing/2014/main" id="{D8A40F48-47A7-44D8-A7CF-CE631A85355C}"/>
              </a:ext>
            </a:extLst>
          </p:cNvPr>
          <p:cNvSpPr>
            <a:spLocks xmlns:a="http://schemas.openxmlformats.org/drawingml/2006/main" noGrp="1"/>
          </p:cNvSpPr>
          <p:nvPr/>
        </p:nvSpPr>
        <p:spPr>
          <a:xfrm xmlns:a="http://schemas.openxmlformats.org/drawingml/2006/main">
            <a:off x="3790737" y="2615184"/>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1" name="Text 17">
            <a:extLst xmlns:a="http://schemas.openxmlformats.org/drawingml/2006/main">
              <a:ext uri="{FF2B5EF4-FFF2-40B4-BE49-F238E27FC236}">
                <a16:creationId xmlns:a16="http://schemas.microsoft.com/office/drawing/2014/main" id="{30669A24-381A-4BF4-956A-390007E3CBE9}"/>
              </a:ext>
            </a:extLst>
          </p:cNvPr>
          <p:cNvSpPr>
            <a:spLocks xmlns:a="http://schemas.openxmlformats.org/drawingml/2006/main" noGrp="1"/>
          </p:cNvSpPr>
          <p:nvPr/>
        </p:nvSpPr>
        <p:spPr>
          <a:xfrm xmlns:a="http://schemas.openxmlformats.org/drawingml/2006/main">
            <a:off x="3790737" y="2658301"/>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1</a:t>
            </a:r>
            <a:endParaRPr sz="1300"/>
          </a:p>
        </p:txBody>
      </p:sp>
      <p:sp>
        <p:nvSpPr>
          <p:cNvPr id="22" name="Shape 18">
            <a:extLst xmlns:a="http://schemas.openxmlformats.org/drawingml/2006/main">
              <a:ext uri="{FF2B5EF4-FFF2-40B4-BE49-F238E27FC236}">
                <a16:creationId xmlns:a16="http://schemas.microsoft.com/office/drawing/2014/main" id="{9C2FDA69-4725-4E3C-B2D8-BC84A3FD6552}"/>
              </a:ext>
            </a:extLst>
          </p:cNvPr>
          <p:cNvSpPr>
            <a:spLocks xmlns:a="http://schemas.openxmlformats.org/drawingml/2006/main" noGrp="1"/>
          </p:cNvSpPr>
          <p:nvPr/>
        </p:nvSpPr>
        <p:spPr>
          <a:xfrm xmlns:a="http://schemas.openxmlformats.org/drawingml/2006/main">
            <a:off x="8714232" y="330098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3" name="Text 19">
            <a:extLst xmlns:a="http://schemas.openxmlformats.org/drawingml/2006/main">
              <a:ext uri="{FF2B5EF4-FFF2-40B4-BE49-F238E27FC236}">
                <a16:creationId xmlns:a16="http://schemas.microsoft.com/office/drawing/2014/main" id="{3C7706F6-7AFE-4494-9C53-3665F7E87AEB}"/>
              </a:ext>
            </a:extLst>
          </p:cNvPr>
          <p:cNvSpPr>
            <a:spLocks xmlns:a="http://schemas.openxmlformats.org/drawingml/2006/main" noGrp="1"/>
          </p:cNvSpPr>
          <p:nvPr/>
        </p:nvSpPr>
        <p:spPr>
          <a:xfrm xmlns:a="http://schemas.openxmlformats.org/drawingml/2006/main">
            <a:off x="8714232" y="334289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24" name="Text 20">
            <a:extLst xmlns:a="http://schemas.openxmlformats.org/drawingml/2006/main">
              <a:ext uri="{FF2B5EF4-FFF2-40B4-BE49-F238E27FC236}">
                <a16:creationId xmlns:a16="http://schemas.microsoft.com/office/drawing/2014/main" id="{424B17FA-03C7-413A-9B62-664E4EA9F5FE}"/>
              </a:ext>
            </a:extLst>
          </p:cNvPr>
          <p:cNvSpPr>
            <a:spLocks xmlns:a="http://schemas.openxmlformats.org/drawingml/2006/main" noGrp="1"/>
          </p:cNvSpPr>
          <p:nvPr/>
        </p:nvSpPr>
        <p:spPr>
          <a:xfrm xmlns:a="http://schemas.openxmlformats.org/drawingml/2006/main">
            <a:off x="9144000" y="327355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The opportunities the customer left in progress.</a:t>
            </a:r>
            <a:endParaRPr sz="1300"/>
          </a:p>
        </p:txBody>
      </p:sp>
      <p:sp>
        <p:nvSpPr>
          <p:cNvPr id="25" name="Shape 21">
            <a:extLst xmlns:a="http://schemas.openxmlformats.org/drawingml/2006/main">
              <a:ext uri="{FF2B5EF4-FFF2-40B4-BE49-F238E27FC236}">
                <a16:creationId xmlns:a16="http://schemas.microsoft.com/office/drawing/2014/main" id="{12B0713E-DBEF-433E-AAB5-39C1E58A12DF}"/>
              </a:ext>
            </a:extLst>
          </p:cNvPr>
          <p:cNvSpPr>
            <a:spLocks xmlns:a="http://schemas.openxmlformats.org/drawingml/2006/main" noGrp="1"/>
          </p:cNvSpPr>
          <p:nvPr/>
        </p:nvSpPr>
        <p:spPr>
          <a:xfrm xmlns:a="http://schemas.openxmlformats.org/drawingml/2006/main">
            <a:off x="2434499" y="3628339"/>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6" name="Text 22">
            <a:extLst xmlns:a="http://schemas.openxmlformats.org/drawingml/2006/main">
              <a:ext uri="{FF2B5EF4-FFF2-40B4-BE49-F238E27FC236}">
                <a16:creationId xmlns:a16="http://schemas.microsoft.com/office/drawing/2014/main" id="{FE628643-7FC4-471E-BCEB-57EF1E1FFA87}"/>
              </a:ext>
            </a:extLst>
          </p:cNvPr>
          <p:cNvSpPr>
            <a:spLocks xmlns:a="http://schemas.openxmlformats.org/drawingml/2006/main" noGrp="1"/>
          </p:cNvSpPr>
          <p:nvPr/>
        </p:nvSpPr>
        <p:spPr>
          <a:xfrm xmlns:a="http://schemas.openxmlformats.org/drawingml/2006/main">
            <a:off x="2434499" y="367145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2</a:t>
            </a:r>
            <a:endParaRPr sz="1300"/>
          </a:p>
        </p:txBody>
      </p:sp>
      <p:sp>
        <p:nvSpPr>
          <p:cNvPr id="27" name="Shape 23">
            <a:extLst xmlns:a="http://schemas.openxmlformats.org/drawingml/2006/main">
              <a:ext uri="{FF2B5EF4-FFF2-40B4-BE49-F238E27FC236}">
                <a16:creationId xmlns:a16="http://schemas.microsoft.com/office/drawing/2014/main" id="{4910A7E7-0C4D-4E41-B463-2EE85504AADB}"/>
              </a:ext>
            </a:extLst>
          </p:cNvPr>
          <p:cNvSpPr>
            <a:spLocks xmlns:a="http://schemas.openxmlformats.org/drawingml/2006/main" noGrp="1"/>
          </p:cNvSpPr>
          <p:nvPr/>
        </p:nvSpPr>
        <p:spPr>
          <a:xfrm xmlns:a="http://schemas.openxmlformats.org/drawingml/2006/main">
            <a:off x="8714232" y="430682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8" name="Text 24">
            <a:extLst xmlns:a="http://schemas.openxmlformats.org/drawingml/2006/main">
              <a:ext uri="{FF2B5EF4-FFF2-40B4-BE49-F238E27FC236}">
                <a16:creationId xmlns:a16="http://schemas.microsoft.com/office/drawing/2014/main" id="{A5E36394-11F5-436B-91BB-70B171FE1C00}"/>
              </a:ext>
            </a:extLst>
          </p:cNvPr>
          <p:cNvSpPr>
            <a:spLocks xmlns:a="http://schemas.openxmlformats.org/drawingml/2006/main" noGrp="1"/>
          </p:cNvSpPr>
          <p:nvPr/>
        </p:nvSpPr>
        <p:spPr>
          <a:xfrm xmlns:a="http://schemas.openxmlformats.org/drawingml/2006/main">
            <a:off x="8714232" y="434873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29" name="Text 25">
            <a:extLst xmlns:a="http://schemas.openxmlformats.org/drawingml/2006/main">
              <a:ext uri="{FF2B5EF4-FFF2-40B4-BE49-F238E27FC236}">
                <a16:creationId xmlns:a16="http://schemas.microsoft.com/office/drawing/2014/main" id="{605FCAD4-8E6E-43DE-B26C-FDB860B79039}"/>
              </a:ext>
            </a:extLst>
          </p:cNvPr>
          <p:cNvSpPr>
            <a:spLocks xmlns:a="http://schemas.openxmlformats.org/drawingml/2006/main" noGrp="1"/>
          </p:cNvSpPr>
          <p:nvPr/>
        </p:nvSpPr>
        <p:spPr>
          <a:xfrm xmlns:a="http://schemas.openxmlformats.org/drawingml/2006/main">
            <a:off x="9144000" y="427939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Each one carries its stage, note and next follow-up date.</a:t>
            </a:r>
            <a:endParaRPr sz="1300"/>
          </a:p>
        </p:txBody>
      </p:sp>
      <p:sp>
        <p:nvSpPr>
          <p:cNvPr id="30" name="Shape 26">
            <a:extLst xmlns:a="http://schemas.openxmlformats.org/drawingml/2006/main">
              <a:ext uri="{FF2B5EF4-FFF2-40B4-BE49-F238E27FC236}">
                <a16:creationId xmlns:a16="http://schemas.microsoft.com/office/drawing/2014/main" id="{2D293766-36B6-41A6-BA6F-6BB104C22CA2}"/>
              </a:ext>
            </a:extLst>
          </p:cNvPr>
          <p:cNvSpPr>
            <a:spLocks xmlns:a="http://schemas.openxmlformats.org/drawingml/2006/main" noGrp="1"/>
          </p:cNvSpPr>
          <p:nvPr/>
        </p:nvSpPr>
        <p:spPr>
          <a:xfrm xmlns:a="http://schemas.openxmlformats.org/drawingml/2006/main">
            <a:off x="1967350" y="4352544"/>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1" name="Text 27">
            <a:extLst xmlns:a="http://schemas.openxmlformats.org/drawingml/2006/main">
              <a:ext uri="{FF2B5EF4-FFF2-40B4-BE49-F238E27FC236}">
                <a16:creationId xmlns:a16="http://schemas.microsoft.com/office/drawing/2014/main" id="{7E0B33DB-1967-4706-868F-1D62EF3CAA1D}"/>
              </a:ext>
            </a:extLst>
          </p:cNvPr>
          <p:cNvSpPr>
            <a:spLocks xmlns:a="http://schemas.openxmlformats.org/drawingml/2006/main" noGrp="1"/>
          </p:cNvSpPr>
          <p:nvPr/>
        </p:nvSpPr>
        <p:spPr>
          <a:xfrm xmlns:a="http://schemas.openxmlformats.org/drawingml/2006/main">
            <a:off x="1967350" y="4395661"/>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3</a:t>
            </a:r>
            <a:endParaRPr sz="1300"/>
          </a:p>
        </p:txBody>
      </p:sp>
    </p:spTree>
    <p:extLst>
      <p:ext uri="{BB962C8B-B14F-4D97-AF65-F5344CB8AC3E}">
        <p14:creationId xmlns:p14="http://schemas.microsoft.com/office/powerpoint/2010/main" val="20541137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26AB379-3258-4CAE-B383-A0599E0A4606}"/>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CF623372-AC2C-46A8-92C9-A6FD860C6E45}"/>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99D5D8A7-E756-4922-8121-742B4E0D76D4}"/>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81064573-F47E-4140-BAE1-F9EA5171C124}"/>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Detailed questions for every skill</a:t>
            </a:r>
            <a:endParaRPr sz="3000"/>
          </a:p>
        </p:txBody>
      </p:sp>
      <p:sp>
        <p:nvSpPr>
          <p:cNvPr id="7" name="Text 4">
            <a:extLst xmlns:a="http://schemas.openxmlformats.org/drawingml/2006/main">
              <a:ext uri="{FF2B5EF4-FFF2-40B4-BE49-F238E27FC236}">
                <a16:creationId xmlns:a16="http://schemas.microsoft.com/office/drawing/2014/main" id="{6CB3944C-3F3B-47E8-8DF6-6A795267512C}"/>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AI, accounting, programming, Excel or a custom skill: each gets detailed follow-ups.</a:t>
            </a:r>
            <a:endParaRPr sz="1500"/>
          </a:p>
        </p:txBody>
      </p:sp>
      <p:sp>
        <p:nvSpPr>
          <p:cNvPr id="8" name="Shape 5">
            <a:extLst xmlns:a="http://schemas.openxmlformats.org/drawingml/2006/main">
              <a:ext uri="{FF2B5EF4-FFF2-40B4-BE49-F238E27FC236}">
                <a16:creationId xmlns:a16="http://schemas.microsoft.com/office/drawing/2014/main" id="{9667595F-6112-413F-B1CC-BF9F17F4E67B}"/>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BB2F4EA3-48FF-426D-9297-FCDFF97A74CC}"/>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98E93B6E-4A6D-4795-B3D9-52B79DF2B9AF}"/>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9 / 29</a:t>
            </a:r>
            <a:endParaRPr sz="900"/>
          </a:p>
        </p:txBody>
      </p:sp>
      <p:sp>
        <p:nvSpPr>
          <p:cNvPr id="11" name="Shape 8">
            <a:extLst xmlns:a="http://schemas.openxmlformats.org/drawingml/2006/main">
              <a:ext uri="{FF2B5EF4-FFF2-40B4-BE49-F238E27FC236}">
                <a16:creationId xmlns:a16="http://schemas.microsoft.com/office/drawing/2014/main" id="{F288FA7F-351F-4764-8BBC-964A3591B21B}"/>
              </a:ext>
            </a:extLst>
          </p:cNvPr>
          <p:cNvSpPr>
            <a:spLocks xmlns:a="http://schemas.openxmlformats.org/drawingml/2006/main" noGrp="1"/>
          </p:cNvSpPr>
          <p:nvPr/>
        </p:nvSpPr>
        <p:spPr>
          <a:xfrm xmlns:a="http://schemas.openxmlformats.org/drawingml/2006/main">
            <a:off x="548640" y="1554480"/>
            <a:ext cx="3703320" cy="2839593"/>
          </a:xfrm>
          <a:prstGeom xmlns:a="http://schemas.openxmlformats.org/drawingml/2006/main" prst="roundRect">
            <a:avLst>
              <a:gd name="adj" fmla="val 2576"/>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99AF8CA6-F5F1-4DCC-A4BB-E977D1CFBF54}"/>
              </a:ext>
            </a:extLst>
          </p:cNvPr>
          <p:cNvSpPr>
            <a:spLocks xmlns:a="http://schemas.openxmlformats.org/drawingml/2006/main" noGrp="1"/>
          </p:cNvSpPr>
          <p:nvPr/>
        </p:nvSpPr>
        <p:spPr>
          <a:xfrm xmlns:a="http://schemas.openxmlformats.org/drawingml/2006/main">
            <a:off x="557784" y="1664208"/>
            <a:ext cx="54864" cy="2620137"/>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3" name="Text 10">
            <a:extLst xmlns:a="http://schemas.openxmlformats.org/drawingml/2006/main">
              <a:ext uri="{FF2B5EF4-FFF2-40B4-BE49-F238E27FC236}">
                <a16:creationId xmlns:a16="http://schemas.microsoft.com/office/drawing/2014/main" id="{A0839EA3-0F78-402D-9319-9F9B94FB885F}"/>
              </a:ext>
            </a:extLst>
          </p:cNvPr>
          <p:cNvSpPr>
            <a:spLocks xmlns:a="http://schemas.openxmlformats.org/drawingml/2006/main" noGrp="1"/>
          </p:cNvSpPr>
          <p:nvPr/>
        </p:nvSpPr>
        <p:spPr>
          <a:xfrm xmlns:a="http://schemas.openxmlformats.org/drawingml/2006/main">
            <a:off x="804672"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HOW WE ASK</a:t>
            </a:r>
            <a:endParaRPr sz="1100"/>
          </a:p>
        </p:txBody>
      </p:sp>
      <p:sp>
        <p:nvSpPr>
          <p:cNvPr id="14" name="Text 11">
            <a:extLst xmlns:a="http://schemas.openxmlformats.org/drawingml/2006/main">
              <a:ext uri="{FF2B5EF4-FFF2-40B4-BE49-F238E27FC236}">
                <a16:creationId xmlns:a16="http://schemas.microsoft.com/office/drawing/2014/main" id="{D51D4E78-6F46-4174-A1B9-66CFEF0A161B}"/>
              </a:ext>
            </a:extLst>
          </p:cNvPr>
          <p:cNvSpPr>
            <a:spLocks xmlns:a="http://schemas.openxmlformats.org/drawingml/2006/main" noGrp="1"/>
          </p:cNvSpPr>
          <p:nvPr/>
        </p:nvSpPr>
        <p:spPr>
          <a:xfrm xmlns:a="http://schemas.openxmlformats.org/drawingml/2006/main">
            <a:off x="804672" y="2176272"/>
            <a:ext cx="3191256" cy="196176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275"/>
              </a:lnSpc>
              <a:buNone/>
            </a:pPr>
            <a:r>
              <a:rPr sz="1750">
                <a:solidFill>
                  <a:srgbClr val="171717"/>
                </a:solidFill>
                <a:latin typeface="Helvetica Neue"/>
                <a:ea typeface="Helvetica Neue"/>
                <a:cs typeface="Helvetica Neue"/>
              </a:rPr>
              <a:t>For each skill, ask about tasks, tools, recent use and a real example.</a:t>
            </a:r>
            <a:endParaRPr sz="1750"/>
          </a:p>
          <a:p xmlns:a="http://schemas.openxmlformats.org/drawingml/2006/main">
            <a:pPr marL="0" indent="0">
              <a:lnSpc>
                <a:spcPts val="2275"/>
              </a:lnSpc>
              <a:buNone/>
            </a:pPr>
            <a:r>
              <a:rPr sz="1750">
                <a:solidFill>
                  <a:srgbClr val="171717"/>
                </a:solidFill>
                <a:latin typeface="Helvetica Neue"/>
                <a:ea typeface="Helvetica Neue"/>
                <a:cs typeface="Helvetica Neue"/>
              </a:rPr>
              <a:t/>
            </a:r>
            <a:endParaRPr sz="1750"/>
          </a:p>
          <a:p xmlns:a="http://schemas.openxmlformats.org/drawingml/2006/main">
            <a:pPr marL="0" indent="0">
              <a:lnSpc>
                <a:spcPts val="2275"/>
              </a:lnSpc>
              <a:buNone/>
            </a:pPr>
            <a:r>
              <a:rPr sz="1750">
                <a:solidFill>
                  <a:srgbClr val="171717"/>
                </a:solidFill>
                <a:latin typeface="Helvetica Neue"/>
                <a:ea typeface="Helvetica Neue"/>
                <a:cs typeface="Helvetica Neue"/>
              </a:rPr>
              <a:t>Record independent work, assisted work and learning separately.</a:t>
            </a:r>
            <a:endParaRPr sz="1750"/>
          </a:p>
        </p:txBody>
      </p:sp>
      <p:sp>
        <p:nvSpPr>
          <p:cNvPr id="15" name="Shape 12">
            <a:extLst xmlns:a="http://schemas.openxmlformats.org/drawingml/2006/main">
              <a:ext uri="{FF2B5EF4-FFF2-40B4-BE49-F238E27FC236}">
                <a16:creationId xmlns:a16="http://schemas.microsoft.com/office/drawing/2014/main" id="{255C48DE-CCE8-4722-ABEC-AA9C95902DC3}"/>
              </a:ext>
            </a:extLst>
          </p:cNvPr>
          <p:cNvSpPr>
            <a:spLocks xmlns:a="http://schemas.openxmlformats.org/drawingml/2006/main" noGrp="1"/>
          </p:cNvSpPr>
          <p:nvPr/>
        </p:nvSpPr>
        <p:spPr>
          <a:xfrm xmlns:a="http://schemas.openxmlformats.org/drawingml/2006/main">
            <a:off x="4526280" y="1554480"/>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16" name="Text 13">
            <a:extLst xmlns:a="http://schemas.openxmlformats.org/drawingml/2006/main">
              <a:ext uri="{FF2B5EF4-FFF2-40B4-BE49-F238E27FC236}">
                <a16:creationId xmlns:a16="http://schemas.microsoft.com/office/drawing/2014/main" id="{5B2C3B8A-8F21-4CCF-9C83-C24805DBACD7}"/>
              </a:ext>
            </a:extLst>
          </p:cNvPr>
          <p:cNvSpPr>
            <a:spLocks xmlns:a="http://schemas.openxmlformats.org/drawingml/2006/main" noGrp="1"/>
          </p:cNvSpPr>
          <p:nvPr/>
        </p:nvSpPr>
        <p:spPr>
          <a:xfrm xmlns:a="http://schemas.openxmlformats.org/drawingml/2006/main">
            <a:off x="4782312" y="1700784"/>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AI</a:t>
            </a:r>
            <a:endParaRPr sz="1100"/>
          </a:p>
        </p:txBody>
      </p:sp>
      <p:sp>
        <p:nvSpPr>
          <p:cNvPr id="17" name="Text 14">
            <a:extLst xmlns:a="http://schemas.openxmlformats.org/drawingml/2006/main">
              <a:ext uri="{FF2B5EF4-FFF2-40B4-BE49-F238E27FC236}">
                <a16:creationId xmlns:a16="http://schemas.microsoft.com/office/drawing/2014/main" id="{1D7C8A40-B1E7-4122-B027-A8C2D8ECBE8D}"/>
              </a:ext>
            </a:extLst>
          </p:cNvPr>
          <p:cNvSpPr>
            <a:spLocks xmlns:a="http://schemas.openxmlformats.org/drawingml/2006/main" noGrp="1"/>
          </p:cNvSpPr>
          <p:nvPr/>
        </p:nvSpPr>
        <p:spPr>
          <a:xfrm xmlns:a="http://schemas.openxmlformats.org/drawingml/2006/main">
            <a:off x="6446520" y="1700784"/>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Which tools and workflows? How do you check the output? What needs help?</a:t>
            </a:r>
            <a:endParaRPr sz="1500"/>
          </a:p>
        </p:txBody>
      </p:sp>
      <p:sp>
        <p:nvSpPr>
          <p:cNvPr id="18" name="Shape 15">
            <a:extLst xmlns:a="http://schemas.openxmlformats.org/drawingml/2006/main">
              <a:ext uri="{FF2B5EF4-FFF2-40B4-BE49-F238E27FC236}">
                <a16:creationId xmlns:a16="http://schemas.microsoft.com/office/drawing/2014/main" id="{EBEC95DD-2F30-4C51-A627-792486403B4F}"/>
              </a:ext>
            </a:extLst>
          </p:cNvPr>
          <p:cNvSpPr>
            <a:spLocks xmlns:a="http://schemas.openxmlformats.org/drawingml/2006/main" noGrp="1"/>
          </p:cNvSpPr>
          <p:nvPr/>
        </p:nvSpPr>
        <p:spPr>
          <a:xfrm xmlns:a="http://schemas.openxmlformats.org/drawingml/2006/main">
            <a:off x="4526280" y="2638044"/>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19" name="Text 16">
            <a:extLst xmlns:a="http://schemas.openxmlformats.org/drawingml/2006/main">
              <a:ext uri="{FF2B5EF4-FFF2-40B4-BE49-F238E27FC236}">
                <a16:creationId xmlns:a16="http://schemas.microsoft.com/office/drawing/2014/main" id="{460652F0-A52E-4D0B-BA6A-93974442CA75}"/>
              </a:ext>
            </a:extLst>
          </p:cNvPr>
          <p:cNvSpPr>
            <a:spLocks xmlns:a="http://schemas.openxmlformats.org/drawingml/2006/main" noGrp="1"/>
          </p:cNvSpPr>
          <p:nvPr/>
        </p:nvSpPr>
        <p:spPr>
          <a:xfrm xmlns:a="http://schemas.openxmlformats.org/drawingml/2006/main">
            <a:off x="4782312" y="2784348"/>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ACCOUNTING</a:t>
            </a:r>
            <a:endParaRPr sz="1100"/>
          </a:p>
        </p:txBody>
      </p:sp>
      <p:sp>
        <p:nvSpPr>
          <p:cNvPr id="20" name="Text 17">
            <a:extLst xmlns:a="http://schemas.openxmlformats.org/drawingml/2006/main">
              <a:ext uri="{FF2B5EF4-FFF2-40B4-BE49-F238E27FC236}">
                <a16:creationId xmlns:a16="http://schemas.microsoft.com/office/drawing/2014/main" id="{04CE99B1-1216-40A2-83AD-76C3949970FD}"/>
              </a:ext>
            </a:extLst>
          </p:cNvPr>
          <p:cNvSpPr>
            <a:spLocks xmlns:a="http://schemas.openxmlformats.org/drawingml/2006/main" noGrp="1"/>
          </p:cNvSpPr>
          <p:nvPr/>
        </p:nvSpPr>
        <p:spPr>
          <a:xfrm xmlns:a="http://schemas.openxmlformats.org/drawingml/2006/main">
            <a:off x="6446520" y="2784348"/>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Which tasks and software? Reconciliations, entries or closing? What needs review?</a:t>
            </a:r>
            <a:endParaRPr sz="1500"/>
          </a:p>
        </p:txBody>
      </p:sp>
      <p:sp>
        <p:nvSpPr>
          <p:cNvPr id="21" name="Shape 18">
            <a:extLst xmlns:a="http://schemas.openxmlformats.org/drawingml/2006/main">
              <a:ext uri="{FF2B5EF4-FFF2-40B4-BE49-F238E27FC236}">
                <a16:creationId xmlns:a16="http://schemas.microsoft.com/office/drawing/2014/main" id="{EBB42BEC-74A6-4537-941B-9F0C4054CD94}"/>
              </a:ext>
            </a:extLst>
          </p:cNvPr>
          <p:cNvSpPr>
            <a:spLocks xmlns:a="http://schemas.openxmlformats.org/drawingml/2006/main" noGrp="1"/>
          </p:cNvSpPr>
          <p:nvPr/>
        </p:nvSpPr>
        <p:spPr>
          <a:xfrm xmlns:a="http://schemas.openxmlformats.org/drawingml/2006/main">
            <a:off x="4526280" y="3721608"/>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22" name="Text 19">
            <a:extLst xmlns:a="http://schemas.openxmlformats.org/drawingml/2006/main">
              <a:ext uri="{FF2B5EF4-FFF2-40B4-BE49-F238E27FC236}">
                <a16:creationId xmlns:a16="http://schemas.microsoft.com/office/drawing/2014/main" id="{DCBEA140-A6BE-4FC6-9D7C-B33AC1CF20AA}"/>
              </a:ext>
            </a:extLst>
          </p:cNvPr>
          <p:cNvSpPr>
            <a:spLocks xmlns:a="http://schemas.openxmlformats.org/drawingml/2006/main" noGrp="1"/>
          </p:cNvSpPr>
          <p:nvPr/>
        </p:nvSpPr>
        <p:spPr>
          <a:xfrm xmlns:a="http://schemas.openxmlformats.org/drawingml/2006/main">
            <a:off x="4782312" y="3867912"/>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PROGRAMMING</a:t>
            </a:r>
            <a:endParaRPr sz="1100"/>
          </a:p>
        </p:txBody>
      </p:sp>
      <p:sp>
        <p:nvSpPr>
          <p:cNvPr id="23" name="Text 20">
            <a:extLst xmlns:a="http://schemas.openxmlformats.org/drawingml/2006/main">
              <a:ext uri="{FF2B5EF4-FFF2-40B4-BE49-F238E27FC236}">
                <a16:creationId xmlns:a16="http://schemas.microsoft.com/office/drawing/2014/main" id="{B175A7BE-9945-4CF3-9B27-A4771FE0B413}"/>
              </a:ext>
            </a:extLst>
          </p:cNvPr>
          <p:cNvSpPr>
            <a:spLocks xmlns:a="http://schemas.openxmlformats.org/drawingml/2006/main" noGrp="1"/>
          </p:cNvSpPr>
          <p:nvPr/>
        </p:nvSpPr>
        <p:spPr>
          <a:xfrm xmlns:a="http://schemas.openxmlformats.org/drawingml/2006/main">
            <a:off x="6446520" y="3867912"/>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Which languages and projects? What did you write, test or debug yourself?</a:t>
            </a:r>
            <a:endParaRPr sz="1500"/>
          </a:p>
        </p:txBody>
      </p:sp>
      <p:sp>
        <p:nvSpPr>
          <p:cNvPr id="24" name="Shape 21">
            <a:extLst xmlns:a="http://schemas.openxmlformats.org/drawingml/2006/main">
              <a:ext uri="{FF2B5EF4-FFF2-40B4-BE49-F238E27FC236}">
                <a16:creationId xmlns:a16="http://schemas.microsoft.com/office/drawing/2014/main" id="{CAC487E8-BE6F-4E55-837A-F38BDF7D4BC8}"/>
              </a:ext>
            </a:extLst>
          </p:cNvPr>
          <p:cNvSpPr>
            <a:spLocks xmlns:a="http://schemas.openxmlformats.org/drawingml/2006/main" noGrp="1"/>
          </p:cNvSpPr>
          <p:nvPr/>
        </p:nvSpPr>
        <p:spPr>
          <a:xfrm xmlns:a="http://schemas.openxmlformats.org/drawingml/2006/main">
            <a:off x="4526280" y="4805172"/>
            <a:ext cx="7116775" cy="914400"/>
          </a:xfrm>
          <a:prstGeom xmlns:a="http://schemas.openxmlformats.org/drawingml/2006/main" prst="roundRect">
            <a:avLst>
              <a:gd name="adj" fmla="val 8000"/>
            </a:avLst>
          </a:prstGeom>
          <a:solidFill xmlns:a="http://schemas.openxmlformats.org/drawingml/2006/main">
            <a:srgbClr val="F3F6FB"/>
          </a:solidFill>
          <a:ln xmlns:a="http://schemas.openxmlformats.org/drawingml/2006/main" w="9525">
            <a:solidFill>
              <a:srgbClr val="C9D6E8"/>
            </a:solidFill>
            <a:prstDash val="solid"/>
          </a:ln>
        </p:spPr>
      </p:sp>
      <p:sp>
        <p:nvSpPr>
          <p:cNvPr id="25" name="Text 22">
            <a:extLst xmlns:a="http://schemas.openxmlformats.org/drawingml/2006/main">
              <a:ext uri="{FF2B5EF4-FFF2-40B4-BE49-F238E27FC236}">
                <a16:creationId xmlns:a16="http://schemas.microsoft.com/office/drawing/2014/main" id="{0EE2C341-A6A7-4E96-A486-8460AEDE1F0D}"/>
              </a:ext>
            </a:extLst>
          </p:cNvPr>
          <p:cNvSpPr>
            <a:spLocks xmlns:a="http://schemas.openxmlformats.org/drawingml/2006/main" noGrp="1"/>
          </p:cNvSpPr>
          <p:nvPr/>
        </p:nvSpPr>
        <p:spPr>
          <a:xfrm xmlns:a="http://schemas.openxmlformats.org/drawingml/2006/main">
            <a:off x="4782312" y="4951476"/>
            <a:ext cx="16002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ANY OTHER SKILL</a:t>
            </a:r>
            <a:endParaRPr sz="1100"/>
          </a:p>
        </p:txBody>
      </p:sp>
      <p:sp>
        <p:nvSpPr>
          <p:cNvPr id="26" name="Text 23">
            <a:extLst xmlns:a="http://schemas.openxmlformats.org/drawingml/2006/main">
              <a:ext uri="{FF2B5EF4-FFF2-40B4-BE49-F238E27FC236}">
                <a16:creationId xmlns:a16="http://schemas.microsoft.com/office/drawing/2014/main" id="{D58906C4-FCD7-43E3-9766-DDB00DA0C7CB}"/>
              </a:ext>
            </a:extLst>
          </p:cNvPr>
          <p:cNvSpPr>
            <a:spLocks xmlns:a="http://schemas.openxmlformats.org/drawingml/2006/main" noGrp="1"/>
          </p:cNvSpPr>
          <p:nvPr/>
        </p:nvSpPr>
        <p:spPr>
          <a:xfrm xmlns:a="http://schemas.openxmlformats.org/drawingml/2006/main">
            <a:off x="6446520" y="4951476"/>
            <a:ext cx="492221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171717"/>
                </a:solidFill>
                <a:latin typeface="Helvetica Neue"/>
                <a:ea typeface="Helvetica Neue"/>
                <a:cs typeface="Helvetica Neue"/>
              </a:rPr>
              <a:t>Add a custom skill. Describe its tasks, when you used it and a concrete example.</a:t>
            </a:r>
            <a:endParaRPr sz="1500"/>
          </a:p>
        </p:txBody>
      </p:sp>
    </p:spTree>
    <p:extLst>
      <p:ext uri="{BB962C8B-B14F-4D97-AF65-F5344CB8AC3E}">
        <p14:creationId xmlns:p14="http://schemas.microsoft.com/office/powerpoint/2010/main" val="15999058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9A26345-8A97-493C-B980-16EC0241DA67}"/>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20047191-7F27-47A4-8E29-115EA9ED0742}"/>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1BDFEBB9-C158-4695-8696-8646093908FA}"/>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A2377A21-201B-4B7C-80FB-34B5A30EF1B1}"/>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interview proposes facts for review</a:t>
            </a:r>
            <a:endParaRPr sz="3000"/>
          </a:p>
        </p:txBody>
      </p:sp>
      <p:sp>
        <p:nvSpPr>
          <p:cNvPr id="7" name="Text 4">
            <a:extLst xmlns:a="http://schemas.openxmlformats.org/drawingml/2006/main">
              <a:ext uri="{FF2B5EF4-FFF2-40B4-BE49-F238E27FC236}">
                <a16:creationId xmlns:a16="http://schemas.microsoft.com/office/drawing/2014/main" id="{29E42C0A-2527-4583-948C-FE9C2334FED2}"/>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Choose any skill, explore what the customer actually does, then review each proposed fact.</a:t>
            </a:r>
            <a:endParaRPr sz="1500"/>
          </a:p>
        </p:txBody>
      </p:sp>
      <p:sp>
        <p:nvSpPr>
          <p:cNvPr id="8" name="Shape 5">
            <a:extLst xmlns:a="http://schemas.openxmlformats.org/drawingml/2006/main">
              <a:ext uri="{FF2B5EF4-FFF2-40B4-BE49-F238E27FC236}">
                <a16:creationId xmlns:a16="http://schemas.microsoft.com/office/drawing/2014/main" id="{9F685B8B-98B7-491B-A650-5C957788FF5E}"/>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BC941482-C86B-4B02-B767-8B548837E326}"/>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8A1722D0-318D-4466-8711-6111FB3B790C}"/>
              </a:ext>
            </a:extLst>
          </p:cNvPr>
          <p:cNvSpPr>
            <a:spLocks xmlns:a="http://schemas.openxmlformats.org/drawingml/2006/main" noGrp="1"/>
          </p:cNvSpPr>
          <p:nvPr/>
        </p:nvSpPr>
        <p:spPr>
          <a:xfrm xmlns:a="http://schemas.openxmlformats.org/drawingml/2006/main">
            <a:off x="4160520" y="6382512"/>
            <a:ext cx="3931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52677F"/>
                </a:solidFill>
                <a:latin typeface="Helvetica Neue"/>
                <a:ea typeface="Helvetica Neue"/>
                <a:cs typeface="Helvetica Neue"/>
              </a:rPr>
              <a:t>Fictional demo. AI examples are simulated.</a:t>
            </a:r>
            <a:endParaRPr sz="900"/>
          </a:p>
        </p:txBody>
      </p:sp>
      <p:sp>
        <p:nvSpPr>
          <p:cNvPr id="11" name="Text 8">
            <a:extLst xmlns:a="http://schemas.openxmlformats.org/drawingml/2006/main">
              <a:ext uri="{FF2B5EF4-FFF2-40B4-BE49-F238E27FC236}">
                <a16:creationId xmlns:a16="http://schemas.microsoft.com/office/drawing/2014/main" id="{FFA14B8B-EE0A-4ECF-850A-1534C1BA45A5}"/>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10 / 29</a:t>
            </a:r>
            <a:endParaRPr sz="900"/>
          </a:p>
        </p:txBody>
      </p:sp>
      <p:sp>
        <p:nvSpPr>
          <p:cNvPr id="12" name="Shape 9">
            <a:extLst xmlns:a="http://schemas.openxmlformats.org/drawingml/2006/main">
              <a:ext uri="{FF2B5EF4-FFF2-40B4-BE49-F238E27FC236}">
                <a16:creationId xmlns:a16="http://schemas.microsoft.com/office/drawing/2014/main" id="{B0BF57CB-9621-4A0B-80A1-BBB8879EA306}"/>
              </a:ext>
            </a:extLst>
          </p:cNvPr>
          <p:cNvSpPr>
            <a:spLocks xmlns:a="http://schemas.openxmlformats.org/drawingml/2006/main" noGrp="1"/>
          </p:cNvSpPr>
          <p:nvPr/>
        </p:nvSpPr>
        <p:spPr>
          <a:xfrm xmlns:a="http://schemas.openxmlformats.org/drawingml/2006/main">
            <a:off x="548640" y="1554480"/>
            <a:ext cx="7680960" cy="3803904"/>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C9D6E8"/>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e691e25b2c7247fb"/>
          <a:stretch xmlns:a="http://schemas.openxmlformats.org/drawingml/2006/main"/>
        </p:blipFill>
        <p:spPr>
          <a:xfrm xmlns:a="http://schemas.openxmlformats.org/drawingml/2006/main">
            <a:off x="621792" y="1627632"/>
            <a:ext cx="7534656" cy="36576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24DC1C55-F73D-4FA3-8E77-41265E6957D4}"/>
              </a:ext>
            </a:extLst>
          </p:cNvPr>
          <p:cNvSpPr>
            <a:spLocks xmlns:a="http://schemas.openxmlformats.org/drawingml/2006/main" noGrp="1"/>
          </p:cNvSpPr>
          <p:nvPr/>
        </p:nvSpPr>
        <p:spPr>
          <a:xfrm xmlns:a="http://schemas.openxmlformats.org/drawingml/2006/main">
            <a:off x="8458200" y="1554480"/>
            <a:ext cx="3184855" cy="3803904"/>
          </a:xfrm>
          <a:prstGeom xmlns:a="http://schemas.openxmlformats.org/drawingml/2006/main" prst="roundRect">
            <a:avLst>
              <a:gd name="adj" fmla="val 2297"/>
            </a:avLst>
          </a:prstGeom>
          <a:solidFill xmlns:a="http://schemas.openxmlformats.org/drawingml/2006/main">
            <a:srgbClr val="F3F6FB"/>
          </a:solidFill>
          <a:ln xmlns:a="http://schemas.openxmlformats.org/drawingml/2006/main" w="9525">
            <a:solidFill>
              <a:srgbClr val="C9D6E8"/>
            </a:solidFill>
            <a:prstDash val="solid"/>
          </a:ln>
        </p:spPr>
      </p:sp>
      <p:sp>
        <p:nvSpPr>
          <p:cNvPr id="15" name="Shape 11">
            <a:extLst xmlns:a="http://schemas.openxmlformats.org/drawingml/2006/main">
              <a:ext uri="{FF2B5EF4-FFF2-40B4-BE49-F238E27FC236}">
                <a16:creationId xmlns:a16="http://schemas.microsoft.com/office/drawing/2014/main" id="{FFF8DBB5-2F5E-4F2C-B4E4-3540F3296FDE}"/>
              </a:ext>
            </a:extLst>
          </p:cNvPr>
          <p:cNvSpPr>
            <a:spLocks xmlns:a="http://schemas.openxmlformats.org/drawingml/2006/main" noGrp="1"/>
          </p:cNvSpPr>
          <p:nvPr/>
        </p:nvSpPr>
        <p:spPr>
          <a:xfrm xmlns:a="http://schemas.openxmlformats.org/drawingml/2006/main">
            <a:off x="8467344" y="1664208"/>
            <a:ext cx="54864" cy="3584448"/>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6" name="Text 12">
            <a:extLst xmlns:a="http://schemas.openxmlformats.org/drawingml/2006/main">
              <a:ext uri="{FF2B5EF4-FFF2-40B4-BE49-F238E27FC236}">
                <a16:creationId xmlns:a16="http://schemas.microsoft.com/office/drawing/2014/main" id="{28FBB892-1F77-463E-9A7E-06FABFA4355D}"/>
              </a:ext>
            </a:extLst>
          </p:cNvPr>
          <p:cNvSpPr>
            <a:spLocks xmlns:a="http://schemas.openxmlformats.org/drawingml/2006/main" noGrp="1"/>
          </p:cNvSpPr>
          <p:nvPr/>
        </p:nvSpPr>
        <p:spPr>
          <a:xfrm xmlns:a="http://schemas.openxmlformats.org/drawingml/2006/main">
            <a:off x="8714232" y="1773936"/>
            <a:ext cx="267279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WHAT TO LOOK AT</a:t>
            </a:r>
            <a:endParaRPr sz="1100"/>
          </a:p>
        </p:txBody>
      </p:sp>
      <p:sp>
        <p:nvSpPr>
          <p:cNvPr id="17" name="Shape 13">
            <a:extLst xmlns:a="http://schemas.openxmlformats.org/drawingml/2006/main">
              <a:ext uri="{FF2B5EF4-FFF2-40B4-BE49-F238E27FC236}">
                <a16:creationId xmlns:a16="http://schemas.microsoft.com/office/drawing/2014/main" id="{75C297BA-A206-49F5-B737-A771F44FCE1C}"/>
              </a:ext>
            </a:extLst>
          </p:cNvPr>
          <p:cNvSpPr>
            <a:spLocks xmlns:a="http://schemas.openxmlformats.org/drawingml/2006/main" noGrp="1"/>
          </p:cNvSpPr>
          <p:nvPr/>
        </p:nvSpPr>
        <p:spPr>
          <a:xfrm xmlns:a="http://schemas.openxmlformats.org/drawingml/2006/main">
            <a:off x="8714232" y="229514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18" name="Text 14">
            <a:extLst xmlns:a="http://schemas.openxmlformats.org/drawingml/2006/main">
              <a:ext uri="{FF2B5EF4-FFF2-40B4-BE49-F238E27FC236}">
                <a16:creationId xmlns:a16="http://schemas.microsoft.com/office/drawing/2014/main" id="{12BC06CC-6B1B-493C-AF2D-E88872383430}"/>
              </a:ext>
            </a:extLst>
          </p:cNvPr>
          <p:cNvSpPr>
            <a:spLocks xmlns:a="http://schemas.openxmlformats.org/drawingml/2006/main" noGrp="1"/>
          </p:cNvSpPr>
          <p:nvPr/>
        </p:nvSpPr>
        <p:spPr>
          <a:xfrm xmlns:a="http://schemas.openxmlformats.org/drawingml/2006/main">
            <a:off x="8714232" y="233705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19" name="Text 15">
            <a:extLst xmlns:a="http://schemas.openxmlformats.org/drawingml/2006/main">
              <a:ext uri="{FF2B5EF4-FFF2-40B4-BE49-F238E27FC236}">
                <a16:creationId xmlns:a16="http://schemas.microsoft.com/office/drawing/2014/main" id="{CFC8A1A9-3227-45B1-8634-DD069F49010F}"/>
              </a:ext>
            </a:extLst>
          </p:cNvPr>
          <p:cNvSpPr>
            <a:spLocks xmlns:a="http://schemas.openxmlformats.org/drawingml/2006/main" noGrp="1"/>
          </p:cNvSpPr>
          <p:nvPr/>
        </p:nvSpPr>
        <p:spPr>
          <a:xfrm xmlns:a="http://schemas.openxmlformats.org/drawingml/2006/main">
            <a:off x="9144000" y="226771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Choose an existing skill or type any skill. Examples start questions, not claims.</a:t>
            </a:r>
            <a:endParaRPr sz="1300"/>
          </a:p>
        </p:txBody>
      </p:sp>
      <p:sp>
        <p:nvSpPr>
          <p:cNvPr id="20" name="Shape 16">
            <a:extLst xmlns:a="http://schemas.openxmlformats.org/drawingml/2006/main">
              <a:ext uri="{FF2B5EF4-FFF2-40B4-BE49-F238E27FC236}">
                <a16:creationId xmlns:a16="http://schemas.microsoft.com/office/drawing/2014/main" id="{FA18AF28-B6A0-408C-BADA-2D410D83EED9}"/>
              </a:ext>
            </a:extLst>
          </p:cNvPr>
          <p:cNvSpPr>
            <a:spLocks xmlns:a="http://schemas.openxmlformats.org/drawingml/2006/main" noGrp="1"/>
          </p:cNvSpPr>
          <p:nvPr/>
        </p:nvSpPr>
        <p:spPr>
          <a:xfrm xmlns:a="http://schemas.openxmlformats.org/drawingml/2006/main">
            <a:off x="6503213" y="2505456"/>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1" name="Text 17">
            <a:extLst xmlns:a="http://schemas.openxmlformats.org/drawingml/2006/main">
              <a:ext uri="{FF2B5EF4-FFF2-40B4-BE49-F238E27FC236}">
                <a16:creationId xmlns:a16="http://schemas.microsoft.com/office/drawing/2014/main" id="{5F41732F-EDB7-459A-B105-0435A46EA449}"/>
              </a:ext>
            </a:extLst>
          </p:cNvPr>
          <p:cNvSpPr>
            <a:spLocks xmlns:a="http://schemas.openxmlformats.org/drawingml/2006/main" noGrp="1"/>
          </p:cNvSpPr>
          <p:nvPr/>
        </p:nvSpPr>
        <p:spPr>
          <a:xfrm xmlns:a="http://schemas.openxmlformats.org/drawingml/2006/main">
            <a:off x="6503213" y="2548573"/>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1</a:t>
            </a:r>
            <a:endParaRPr sz="1300"/>
          </a:p>
        </p:txBody>
      </p:sp>
      <p:sp>
        <p:nvSpPr>
          <p:cNvPr id="22" name="Shape 18">
            <a:extLst xmlns:a="http://schemas.openxmlformats.org/drawingml/2006/main">
              <a:ext uri="{FF2B5EF4-FFF2-40B4-BE49-F238E27FC236}">
                <a16:creationId xmlns:a16="http://schemas.microsoft.com/office/drawing/2014/main" id="{DA73464C-4933-4425-AECA-26A509354C2C}"/>
              </a:ext>
            </a:extLst>
          </p:cNvPr>
          <p:cNvSpPr>
            <a:spLocks xmlns:a="http://schemas.openxmlformats.org/drawingml/2006/main" noGrp="1"/>
          </p:cNvSpPr>
          <p:nvPr/>
        </p:nvSpPr>
        <p:spPr>
          <a:xfrm xmlns:a="http://schemas.openxmlformats.org/drawingml/2006/main">
            <a:off x="8714232" y="330098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3" name="Text 19">
            <a:extLst xmlns:a="http://schemas.openxmlformats.org/drawingml/2006/main">
              <a:ext uri="{FF2B5EF4-FFF2-40B4-BE49-F238E27FC236}">
                <a16:creationId xmlns:a16="http://schemas.microsoft.com/office/drawing/2014/main" id="{DEF05E8A-F913-462D-AD13-BBA5BCA791CD}"/>
              </a:ext>
            </a:extLst>
          </p:cNvPr>
          <p:cNvSpPr>
            <a:spLocks xmlns:a="http://schemas.openxmlformats.org/drawingml/2006/main" noGrp="1"/>
          </p:cNvSpPr>
          <p:nvPr/>
        </p:nvSpPr>
        <p:spPr>
          <a:xfrm xmlns:a="http://schemas.openxmlformats.org/drawingml/2006/main">
            <a:off x="8714232" y="334289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24" name="Text 20">
            <a:extLst xmlns:a="http://schemas.openxmlformats.org/drawingml/2006/main">
              <a:ext uri="{FF2B5EF4-FFF2-40B4-BE49-F238E27FC236}">
                <a16:creationId xmlns:a16="http://schemas.microsoft.com/office/drawing/2014/main" id="{4EF2DC3F-CBD3-46E0-9308-5918B8CF8966}"/>
              </a:ext>
            </a:extLst>
          </p:cNvPr>
          <p:cNvSpPr>
            <a:spLocks xmlns:a="http://schemas.openxmlformats.org/drawingml/2006/main" noGrp="1"/>
          </p:cNvSpPr>
          <p:nvPr/>
        </p:nvSpPr>
        <p:spPr>
          <a:xfrm xmlns:a="http://schemas.openxmlformats.org/drawingml/2006/main">
            <a:off x="9144000" y="327355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Questions explore tasks, tools, assistance and evidence for the chosen skill.</a:t>
            </a:r>
            <a:endParaRPr sz="1300"/>
          </a:p>
        </p:txBody>
      </p:sp>
      <p:sp>
        <p:nvSpPr>
          <p:cNvPr id="25" name="Shape 21">
            <a:extLst xmlns:a="http://schemas.openxmlformats.org/drawingml/2006/main">
              <a:ext uri="{FF2B5EF4-FFF2-40B4-BE49-F238E27FC236}">
                <a16:creationId xmlns:a16="http://schemas.microsoft.com/office/drawing/2014/main" id="{8CAFD072-D81E-4397-8BE7-050DAC0F972E}"/>
              </a:ext>
            </a:extLst>
          </p:cNvPr>
          <p:cNvSpPr>
            <a:spLocks xmlns:a="http://schemas.openxmlformats.org/drawingml/2006/main" noGrp="1"/>
          </p:cNvSpPr>
          <p:nvPr/>
        </p:nvSpPr>
        <p:spPr>
          <a:xfrm xmlns:a="http://schemas.openxmlformats.org/drawingml/2006/main">
            <a:off x="4619549" y="4407408"/>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6" name="Text 22">
            <a:extLst xmlns:a="http://schemas.openxmlformats.org/drawingml/2006/main">
              <a:ext uri="{FF2B5EF4-FFF2-40B4-BE49-F238E27FC236}">
                <a16:creationId xmlns:a16="http://schemas.microsoft.com/office/drawing/2014/main" id="{6C5532FD-B11E-446B-9985-2429C2D02DFB}"/>
              </a:ext>
            </a:extLst>
          </p:cNvPr>
          <p:cNvSpPr>
            <a:spLocks xmlns:a="http://schemas.openxmlformats.org/drawingml/2006/main" noGrp="1"/>
          </p:cNvSpPr>
          <p:nvPr/>
        </p:nvSpPr>
        <p:spPr>
          <a:xfrm xmlns:a="http://schemas.openxmlformats.org/drawingml/2006/main">
            <a:off x="4619549" y="4450525"/>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2</a:t>
            </a:r>
            <a:endParaRPr sz="1300"/>
          </a:p>
        </p:txBody>
      </p:sp>
      <p:sp>
        <p:nvSpPr>
          <p:cNvPr id="27" name="Shape 23">
            <a:extLst xmlns:a="http://schemas.openxmlformats.org/drawingml/2006/main">
              <a:ext uri="{FF2B5EF4-FFF2-40B4-BE49-F238E27FC236}">
                <a16:creationId xmlns:a16="http://schemas.microsoft.com/office/drawing/2014/main" id="{1599F733-1FF0-47F4-9675-3D27000926BF}"/>
              </a:ext>
            </a:extLst>
          </p:cNvPr>
          <p:cNvSpPr>
            <a:spLocks xmlns:a="http://schemas.openxmlformats.org/drawingml/2006/main" noGrp="1"/>
          </p:cNvSpPr>
          <p:nvPr/>
        </p:nvSpPr>
        <p:spPr>
          <a:xfrm xmlns:a="http://schemas.openxmlformats.org/drawingml/2006/main">
            <a:off x="8714232" y="430682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8" name="Text 24">
            <a:extLst xmlns:a="http://schemas.openxmlformats.org/drawingml/2006/main">
              <a:ext uri="{FF2B5EF4-FFF2-40B4-BE49-F238E27FC236}">
                <a16:creationId xmlns:a16="http://schemas.microsoft.com/office/drawing/2014/main" id="{4B63D321-A4DF-4601-A734-E55823B2CC6C}"/>
              </a:ext>
            </a:extLst>
          </p:cNvPr>
          <p:cNvSpPr>
            <a:spLocks xmlns:a="http://schemas.openxmlformats.org/drawingml/2006/main" noGrp="1"/>
          </p:cNvSpPr>
          <p:nvPr/>
        </p:nvSpPr>
        <p:spPr>
          <a:xfrm xmlns:a="http://schemas.openxmlformats.org/drawingml/2006/main">
            <a:off x="8714232" y="434873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29" name="Text 25">
            <a:extLst xmlns:a="http://schemas.openxmlformats.org/drawingml/2006/main">
              <a:ext uri="{FF2B5EF4-FFF2-40B4-BE49-F238E27FC236}">
                <a16:creationId xmlns:a16="http://schemas.microsoft.com/office/drawing/2014/main" id="{43F44FAA-9DFB-4277-88CF-622AC8E8C1AD}"/>
              </a:ext>
            </a:extLst>
          </p:cNvPr>
          <p:cNvSpPr>
            <a:spLocks xmlns:a="http://schemas.openxmlformats.org/drawingml/2006/main" noGrp="1"/>
          </p:cNvSpPr>
          <p:nvPr/>
        </p:nvSpPr>
        <p:spPr>
          <a:xfrm xmlns:a="http://schemas.openxmlformats.org/drawingml/2006/main">
            <a:off x="9144000" y="427939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Review the supporting detail before accepting a proposed fact.</a:t>
            </a:r>
            <a:endParaRPr sz="1300"/>
          </a:p>
        </p:txBody>
      </p:sp>
      <p:sp>
        <p:nvSpPr>
          <p:cNvPr id="30" name="Shape 26">
            <a:extLst xmlns:a="http://schemas.openxmlformats.org/drawingml/2006/main">
              <a:ext uri="{FF2B5EF4-FFF2-40B4-BE49-F238E27FC236}">
                <a16:creationId xmlns:a16="http://schemas.microsoft.com/office/drawing/2014/main" id="{A462FCF2-44C6-49D1-B3A9-6EDA64846B63}"/>
              </a:ext>
            </a:extLst>
          </p:cNvPr>
          <p:cNvSpPr>
            <a:spLocks xmlns:a="http://schemas.openxmlformats.org/drawingml/2006/main" noGrp="1"/>
          </p:cNvSpPr>
          <p:nvPr/>
        </p:nvSpPr>
        <p:spPr>
          <a:xfrm xmlns:a="http://schemas.openxmlformats.org/drawingml/2006/main">
            <a:off x="7708758" y="4224528"/>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1" name="Text 27">
            <a:extLst xmlns:a="http://schemas.openxmlformats.org/drawingml/2006/main">
              <a:ext uri="{FF2B5EF4-FFF2-40B4-BE49-F238E27FC236}">
                <a16:creationId xmlns:a16="http://schemas.microsoft.com/office/drawing/2014/main" id="{8DC4BAD5-8F60-41CE-9CB0-E2FAE21C16DB}"/>
              </a:ext>
            </a:extLst>
          </p:cNvPr>
          <p:cNvSpPr>
            <a:spLocks xmlns:a="http://schemas.openxmlformats.org/drawingml/2006/main" noGrp="1"/>
          </p:cNvSpPr>
          <p:nvPr/>
        </p:nvSpPr>
        <p:spPr>
          <a:xfrm xmlns:a="http://schemas.openxmlformats.org/drawingml/2006/main">
            <a:off x="7708758" y="426764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3</a:t>
            </a:r>
            <a:endParaRPr sz="1300"/>
          </a:p>
        </p:txBody>
      </p:sp>
    </p:spTree>
    <p:extLst>
      <p:ext uri="{BB962C8B-B14F-4D97-AF65-F5344CB8AC3E}">
        <p14:creationId xmlns:p14="http://schemas.microsoft.com/office/powerpoint/2010/main" val="21006447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1CF3F3C0-1F39-4662-B035-85D2EB390C5A}"/>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EE637314-300C-477F-B574-E692C302DE5A}"/>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06112DCA-9DE7-4112-A92D-CCD443A710F7}"/>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623F4A93-642B-4569-B4C7-89CA37CED811}"/>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Resumes keep the customer in control</a:t>
            </a:r>
            <a:endParaRPr sz="3000"/>
          </a:p>
        </p:txBody>
      </p:sp>
      <p:sp>
        <p:nvSpPr>
          <p:cNvPr id="7" name="Text 4">
            <a:extLst xmlns:a="http://schemas.openxmlformats.org/drawingml/2006/main">
              <a:ext uri="{FF2B5EF4-FFF2-40B4-BE49-F238E27FC236}">
                <a16:creationId xmlns:a16="http://schemas.microsoft.com/office/drawing/2014/main" id="{00D1ABFE-2D6D-4694-8A26-365F1A367AEB}"/>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Create a draft, edit its wording, approve it and keep the exact version used for an application.</a:t>
            </a:r>
            <a:endParaRPr sz="1500"/>
          </a:p>
        </p:txBody>
      </p:sp>
      <p:sp>
        <p:nvSpPr>
          <p:cNvPr id="8" name="Shape 5">
            <a:extLst xmlns:a="http://schemas.openxmlformats.org/drawingml/2006/main">
              <a:ext uri="{FF2B5EF4-FFF2-40B4-BE49-F238E27FC236}">
                <a16:creationId xmlns:a16="http://schemas.microsoft.com/office/drawing/2014/main" id="{7F857864-EF86-412A-A172-490B6C641367}"/>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40C16700-0252-4EAA-BD15-30E31081B288}"/>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C7183074-E0CD-4BC8-B599-A90FBF9B9362}"/>
              </a:ext>
            </a:extLst>
          </p:cNvPr>
          <p:cNvSpPr>
            <a:spLocks xmlns:a="http://schemas.openxmlformats.org/drawingml/2006/main" noGrp="1"/>
          </p:cNvSpPr>
          <p:nvPr/>
        </p:nvSpPr>
        <p:spPr>
          <a:xfrm xmlns:a="http://schemas.openxmlformats.org/drawingml/2006/main">
            <a:off x="4160520" y="6382512"/>
            <a:ext cx="3931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52677F"/>
                </a:solidFill>
                <a:latin typeface="Helvetica Neue"/>
                <a:ea typeface="Helvetica Neue"/>
                <a:cs typeface="Helvetica Neue"/>
              </a:rPr>
              <a:t>Fictional demo. AI examples are simulated.</a:t>
            </a:r>
            <a:endParaRPr sz="900"/>
          </a:p>
        </p:txBody>
      </p:sp>
      <p:sp>
        <p:nvSpPr>
          <p:cNvPr id="11" name="Text 8">
            <a:extLst xmlns:a="http://schemas.openxmlformats.org/drawingml/2006/main">
              <a:ext uri="{FF2B5EF4-FFF2-40B4-BE49-F238E27FC236}">
                <a16:creationId xmlns:a16="http://schemas.microsoft.com/office/drawing/2014/main" id="{D2327B13-E804-46B2-B4A8-4B78FF95CC51}"/>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11 / 29</a:t>
            </a:r>
            <a:endParaRPr sz="900"/>
          </a:p>
        </p:txBody>
      </p:sp>
      <p:sp>
        <p:nvSpPr>
          <p:cNvPr id="12" name="Shape 9">
            <a:extLst xmlns:a="http://schemas.openxmlformats.org/drawingml/2006/main">
              <a:ext uri="{FF2B5EF4-FFF2-40B4-BE49-F238E27FC236}">
                <a16:creationId xmlns:a16="http://schemas.microsoft.com/office/drawing/2014/main" id="{EA316C28-858A-4A49-BE27-7A5E7C1FE972}"/>
              </a:ext>
            </a:extLst>
          </p:cNvPr>
          <p:cNvSpPr>
            <a:spLocks xmlns:a="http://schemas.openxmlformats.org/drawingml/2006/main" noGrp="1"/>
          </p:cNvSpPr>
          <p:nvPr/>
        </p:nvSpPr>
        <p:spPr>
          <a:xfrm xmlns:a="http://schemas.openxmlformats.org/drawingml/2006/main">
            <a:off x="548640" y="1554480"/>
            <a:ext cx="7680960" cy="3803904"/>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C9D6E8"/>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0d5b0904deeb4369"/>
          <a:stretch xmlns:a="http://schemas.openxmlformats.org/drawingml/2006/main"/>
        </p:blipFill>
        <p:spPr>
          <a:xfrm xmlns:a="http://schemas.openxmlformats.org/drawingml/2006/main">
            <a:off x="621792" y="1627632"/>
            <a:ext cx="7534656" cy="36576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E0842E0B-3B38-49AF-AB43-5FF911F89FB7}"/>
              </a:ext>
            </a:extLst>
          </p:cNvPr>
          <p:cNvSpPr>
            <a:spLocks xmlns:a="http://schemas.openxmlformats.org/drawingml/2006/main" noGrp="1"/>
          </p:cNvSpPr>
          <p:nvPr/>
        </p:nvSpPr>
        <p:spPr>
          <a:xfrm xmlns:a="http://schemas.openxmlformats.org/drawingml/2006/main">
            <a:off x="8458200" y="1554480"/>
            <a:ext cx="3184855" cy="3803904"/>
          </a:xfrm>
          <a:prstGeom xmlns:a="http://schemas.openxmlformats.org/drawingml/2006/main" prst="roundRect">
            <a:avLst>
              <a:gd name="adj" fmla="val 2297"/>
            </a:avLst>
          </a:prstGeom>
          <a:solidFill xmlns:a="http://schemas.openxmlformats.org/drawingml/2006/main">
            <a:srgbClr val="F3F6FB"/>
          </a:solidFill>
          <a:ln xmlns:a="http://schemas.openxmlformats.org/drawingml/2006/main" w="9525">
            <a:solidFill>
              <a:srgbClr val="C9D6E8"/>
            </a:solidFill>
            <a:prstDash val="solid"/>
          </a:ln>
        </p:spPr>
      </p:sp>
      <p:sp>
        <p:nvSpPr>
          <p:cNvPr id="15" name="Shape 11">
            <a:extLst xmlns:a="http://schemas.openxmlformats.org/drawingml/2006/main">
              <a:ext uri="{FF2B5EF4-FFF2-40B4-BE49-F238E27FC236}">
                <a16:creationId xmlns:a16="http://schemas.microsoft.com/office/drawing/2014/main" id="{3223BD68-A227-4A32-8F93-5ECB6A634C76}"/>
              </a:ext>
            </a:extLst>
          </p:cNvPr>
          <p:cNvSpPr>
            <a:spLocks xmlns:a="http://schemas.openxmlformats.org/drawingml/2006/main" noGrp="1"/>
          </p:cNvSpPr>
          <p:nvPr/>
        </p:nvSpPr>
        <p:spPr>
          <a:xfrm xmlns:a="http://schemas.openxmlformats.org/drawingml/2006/main">
            <a:off x="8467344" y="1664208"/>
            <a:ext cx="54864" cy="3584448"/>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6" name="Text 12">
            <a:extLst xmlns:a="http://schemas.openxmlformats.org/drawingml/2006/main">
              <a:ext uri="{FF2B5EF4-FFF2-40B4-BE49-F238E27FC236}">
                <a16:creationId xmlns:a16="http://schemas.microsoft.com/office/drawing/2014/main" id="{A8D47701-E908-4F98-9EBC-C12BE99B2686}"/>
              </a:ext>
            </a:extLst>
          </p:cNvPr>
          <p:cNvSpPr>
            <a:spLocks xmlns:a="http://schemas.openxmlformats.org/drawingml/2006/main" noGrp="1"/>
          </p:cNvSpPr>
          <p:nvPr/>
        </p:nvSpPr>
        <p:spPr>
          <a:xfrm xmlns:a="http://schemas.openxmlformats.org/drawingml/2006/main">
            <a:off x="8714232" y="1773936"/>
            <a:ext cx="267279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WHAT TO LOOK AT</a:t>
            </a:r>
            <a:endParaRPr sz="1100"/>
          </a:p>
        </p:txBody>
      </p:sp>
      <p:sp>
        <p:nvSpPr>
          <p:cNvPr id="17" name="Shape 13">
            <a:extLst xmlns:a="http://schemas.openxmlformats.org/drawingml/2006/main">
              <a:ext uri="{FF2B5EF4-FFF2-40B4-BE49-F238E27FC236}">
                <a16:creationId xmlns:a16="http://schemas.microsoft.com/office/drawing/2014/main" id="{653B2CB7-4B10-4A7C-8A7E-C37F5F1B3BF8}"/>
              </a:ext>
            </a:extLst>
          </p:cNvPr>
          <p:cNvSpPr>
            <a:spLocks xmlns:a="http://schemas.openxmlformats.org/drawingml/2006/main" noGrp="1"/>
          </p:cNvSpPr>
          <p:nvPr/>
        </p:nvSpPr>
        <p:spPr>
          <a:xfrm xmlns:a="http://schemas.openxmlformats.org/drawingml/2006/main">
            <a:off x="8714232" y="229514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18" name="Text 14">
            <a:extLst xmlns:a="http://schemas.openxmlformats.org/drawingml/2006/main">
              <a:ext uri="{FF2B5EF4-FFF2-40B4-BE49-F238E27FC236}">
                <a16:creationId xmlns:a16="http://schemas.microsoft.com/office/drawing/2014/main" id="{D9432D76-32FF-4583-93D8-5C315DB1F37B}"/>
              </a:ext>
            </a:extLst>
          </p:cNvPr>
          <p:cNvSpPr>
            <a:spLocks xmlns:a="http://schemas.openxmlformats.org/drawingml/2006/main" noGrp="1"/>
          </p:cNvSpPr>
          <p:nvPr/>
        </p:nvSpPr>
        <p:spPr>
          <a:xfrm xmlns:a="http://schemas.openxmlformats.org/drawingml/2006/main">
            <a:off x="8714232" y="233705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19" name="Text 15">
            <a:extLst xmlns:a="http://schemas.openxmlformats.org/drawingml/2006/main">
              <a:ext uri="{FF2B5EF4-FFF2-40B4-BE49-F238E27FC236}">
                <a16:creationId xmlns:a16="http://schemas.microsoft.com/office/drawing/2014/main" id="{467108AD-8F9F-4822-AC74-A75C3B67CB63}"/>
              </a:ext>
            </a:extLst>
          </p:cNvPr>
          <p:cNvSpPr>
            <a:spLocks xmlns:a="http://schemas.openxmlformats.org/drawingml/2006/main" noGrp="1"/>
          </p:cNvSpPr>
          <p:nvPr/>
        </p:nvSpPr>
        <p:spPr>
          <a:xfrm xmlns:a="http://schemas.openxmlformats.org/drawingml/2006/main">
            <a:off x="9144000" y="226771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An approved version keeps its text and cannot be overwritten.</a:t>
            </a:r>
            <a:endParaRPr sz="1300"/>
          </a:p>
        </p:txBody>
      </p:sp>
      <p:sp>
        <p:nvSpPr>
          <p:cNvPr id="20" name="Shape 16">
            <a:extLst xmlns:a="http://schemas.openxmlformats.org/drawingml/2006/main">
              <a:ext uri="{FF2B5EF4-FFF2-40B4-BE49-F238E27FC236}">
                <a16:creationId xmlns:a16="http://schemas.microsoft.com/office/drawing/2014/main" id="{BF51889B-3293-4EAA-940E-AF0044816116}"/>
              </a:ext>
            </a:extLst>
          </p:cNvPr>
          <p:cNvSpPr>
            <a:spLocks xmlns:a="http://schemas.openxmlformats.org/drawingml/2006/main" noGrp="1"/>
          </p:cNvSpPr>
          <p:nvPr/>
        </p:nvSpPr>
        <p:spPr>
          <a:xfrm xmlns:a="http://schemas.openxmlformats.org/drawingml/2006/main">
            <a:off x="7143659" y="1711757"/>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1" name="Text 17">
            <a:extLst xmlns:a="http://schemas.openxmlformats.org/drawingml/2006/main">
              <a:ext uri="{FF2B5EF4-FFF2-40B4-BE49-F238E27FC236}">
                <a16:creationId xmlns:a16="http://schemas.microsoft.com/office/drawing/2014/main" id="{22C5640F-82FA-40B1-B855-D454E2B95656}"/>
              </a:ext>
            </a:extLst>
          </p:cNvPr>
          <p:cNvSpPr>
            <a:spLocks xmlns:a="http://schemas.openxmlformats.org/drawingml/2006/main" noGrp="1"/>
          </p:cNvSpPr>
          <p:nvPr/>
        </p:nvSpPr>
        <p:spPr>
          <a:xfrm xmlns:a="http://schemas.openxmlformats.org/drawingml/2006/main">
            <a:off x="7143659" y="1754873"/>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1</a:t>
            </a:r>
            <a:endParaRPr sz="1300"/>
          </a:p>
        </p:txBody>
      </p:sp>
      <p:sp>
        <p:nvSpPr>
          <p:cNvPr id="22" name="Shape 18">
            <a:extLst xmlns:a="http://schemas.openxmlformats.org/drawingml/2006/main">
              <a:ext uri="{FF2B5EF4-FFF2-40B4-BE49-F238E27FC236}">
                <a16:creationId xmlns:a16="http://schemas.microsoft.com/office/drawing/2014/main" id="{E609DD94-B6E2-4A06-8F6D-303133323DF9}"/>
              </a:ext>
            </a:extLst>
          </p:cNvPr>
          <p:cNvSpPr>
            <a:spLocks xmlns:a="http://schemas.openxmlformats.org/drawingml/2006/main" noGrp="1"/>
          </p:cNvSpPr>
          <p:nvPr/>
        </p:nvSpPr>
        <p:spPr>
          <a:xfrm xmlns:a="http://schemas.openxmlformats.org/drawingml/2006/main">
            <a:off x="8714232" y="330098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3" name="Text 19">
            <a:extLst xmlns:a="http://schemas.openxmlformats.org/drawingml/2006/main">
              <a:ext uri="{FF2B5EF4-FFF2-40B4-BE49-F238E27FC236}">
                <a16:creationId xmlns:a16="http://schemas.microsoft.com/office/drawing/2014/main" id="{EF49A4BE-0120-480B-BBA9-E5768676D128}"/>
              </a:ext>
            </a:extLst>
          </p:cNvPr>
          <p:cNvSpPr>
            <a:spLocks xmlns:a="http://schemas.openxmlformats.org/drawingml/2006/main" noGrp="1"/>
          </p:cNvSpPr>
          <p:nvPr/>
        </p:nvSpPr>
        <p:spPr>
          <a:xfrm xmlns:a="http://schemas.openxmlformats.org/drawingml/2006/main">
            <a:off x="8714232" y="334289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24" name="Text 20">
            <a:extLst xmlns:a="http://schemas.openxmlformats.org/drawingml/2006/main">
              <a:ext uri="{FF2B5EF4-FFF2-40B4-BE49-F238E27FC236}">
                <a16:creationId xmlns:a16="http://schemas.microsoft.com/office/drawing/2014/main" id="{3B5A2A29-4433-45DA-9C96-A8711CF20AF0}"/>
              </a:ext>
            </a:extLst>
          </p:cNvPr>
          <p:cNvSpPr>
            <a:spLocks xmlns:a="http://schemas.openxmlformats.org/drawingml/2006/main" noGrp="1"/>
          </p:cNvSpPr>
          <p:nvPr/>
        </p:nvSpPr>
        <p:spPr>
          <a:xfrm xmlns:a="http://schemas.openxmlformats.org/drawingml/2006/main">
            <a:off x="9144000" y="327355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Download or print the version that was approved.</a:t>
            </a:r>
            <a:endParaRPr sz="1300"/>
          </a:p>
        </p:txBody>
      </p:sp>
      <p:sp>
        <p:nvSpPr>
          <p:cNvPr id="25" name="Shape 21">
            <a:extLst xmlns:a="http://schemas.openxmlformats.org/drawingml/2006/main">
              <a:ext uri="{FF2B5EF4-FFF2-40B4-BE49-F238E27FC236}">
                <a16:creationId xmlns:a16="http://schemas.microsoft.com/office/drawing/2014/main" id="{79A7DE14-141E-40C2-91F1-9187F373A019}"/>
              </a:ext>
            </a:extLst>
          </p:cNvPr>
          <p:cNvSpPr>
            <a:spLocks xmlns:a="http://schemas.openxmlformats.org/drawingml/2006/main" noGrp="1"/>
          </p:cNvSpPr>
          <p:nvPr/>
        </p:nvSpPr>
        <p:spPr>
          <a:xfrm xmlns:a="http://schemas.openxmlformats.org/drawingml/2006/main">
            <a:off x="3263311" y="2150669"/>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6" name="Text 22">
            <a:extLst xmlns:a="http://schemas.openxmlformats.org/drawingml/2006/main">
              <a:ext uri="{FF2B5EF4-FFF2-40B4-BE49-F238E27FC236}">
                <a16:creationId xmlns:a16="http://schemas.microsoft.com/office/drawing/2014/main" id="{3E768F5B-815B-4031-B4F9-38A92C664625}"/>
              </a:ext>
            </a:extLst>
          </p:cNvPr>
          <p:cNvSpPr>
            <a:spLocks xmlns:a="http://schemas.openxmlformats.org/drawingml/2006/main" noGrp="1"/>
          </p:cNvSpPr>
          <p:nvPr/>
        </p:nvSpPr>
        <p:spPr>
          <a:xfrm xmlns:a="http://schemas.openxmlformats.org/drawingml/2006/main">
            <a:off x="3263311" y="2193785"/>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2</a:t>
            </a:r>
            <a:endParaRPr sz="1300"/>
          </a:p>
        </p:txBody>
      </p:sp>
      <p:sp>
        <p:nvSpPr>
          <p:cNvPr id="27" name="Shape 23">
            <a:extLst xmlns:a="http://schemas.openxmlformats.org/drawingml/2006/main">
              <a:ext uri="{FF2B5EF4-FFF2-40B4-BE49-F238E27FC236}">
                <a16:creationId xmlns:a16="http://schemas.microsoft.com/office/drawing/2014/main" id="{4D369268-6027-420F-ADD5-92454781D742}"/>
              </a:ext>
            </a:extLst>
          </p:cNvPr>
          <p:cNvSpPr>
            <a:spLocks xmlns:a="http://schemas.openxmlformats.org/drawingml/2006/main" noGrp="1"/>
          </p:cNvSpPr>
          <p:nvPr/>
        </p:nvSpPr>
        <p:spPr>
          <a:xfrm xmlns:a="http://schemas.openxmlformats.org/drawingml/2006/main">
            <a:off x="8714232" y="430682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8" name="Text 24">
            <a:extLst xmlns:a="http://schemas.openxmlformats.org/drawingml/2006/main">
              <a:ext uri="{FF2B5EF4-FFF2-40B4-BE49-F238E27FC236}">
                <a16:creationId xmlns:a16="http://schemas.microsoft.com/office/drawing/2014/main" id="{15A94633-4563-4BFC-B779-264126A7222F}"/>
              </a:ext>
            </a:extLst>
          </p:cNvPr>
          <p:cNvSpPr>
            <a:spLocks xmlns:a="http://schemas.openxmlformats.org/drawingml/2006/main" noGrp="1"/>
          </p:cNvSpPr>
          <p:nvPr/>
        </p:nvSpPr>
        <p:spPr>
          <a:xfrm xmlns:a="http://schemas.openxmlformats.org/drawingml/2006/main">
            <a:off x="8714232" y="434873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29" name="Text 25">
            <a:extLst xmlns:a="http://schemas.openxmlformats.org/drawingml/2006/main">
              <a:ext uri="{FF2B5EF4-FFF2-40B4-BE49-F238E27FC236}">
                <a16:creationId xmlns:a16="http://schemas.microsoft.com/office/drawing/2014/main" id="{FFC3221C-B040-467E-8BB7-4E385DF20BB6}"/>
              </a:ext>
            </a:extLst>
          </p:cNvPr>
          <p:cNvSpPr>
            <a:spLocks xmlns:a="http://schemas.openxmlformats.org/drawingml/2006/main" noGrp="1"/>
          </p:cNvSpPr>
          <p:nvPr/>
        </p:nvSpPr>
        <p:spPr>
          <a:xfrm xmlns:a="http://schemas.openxmlformats.org/drawingml/2006/main">
            <a:off x="9144000" y="427939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The text comes from the reviewed profile; tailoring stays a draft.</a:t>
            </a:r>
            <a:endParaRPr sz="1300"/>
          </a:p>
        </p:txBody>
      </p:sp>
      <p:sp>
        <p:nvSpPr>
          <p:cNvPr id="30" name="Shape 26">
            <a:extLst xmlns:a="http://schemas.openxmlformats.org/drawingml/2006/main">
              <a:ext uri="{FF2B5EF4-FFF2-40B4-BE49-F238E27FC236}">
                <a16:creationId xmlns:a16="http://schemas.microsoft.com/office/drawing/2014/main" id="{0869CE7E-7B11-43C4-8021-D210D6F2FAD5}"/>
              </a:ext>
            </a:extLst>
          </p:cNvPr>
          <p:cNvSpPr>
            <a:spLocks xmlns:a="http://schemas.openxmlformats.org/drawingml/2006/main" noGrp="1"/>
          </p:cNvSpPr>
          <p:nvPr/>
        </p:nvSpPr>
        <p:spPr>
          <a:xfrm xmlns:a="http://schemas.openxmlformats.org/drawingml/2006/main">
            <a:off x="1568013" y="3185770"/>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1" name="Text 27">
            <a:extLst xmlns:a="http://schemas.openxmlformats.org/drawingml/2006/main">
              <a:ext uri="{FF2B5EF4-FFF2-40B4-BE49-F238E27FC236}">
                <a16:creationId xmlns:a16="http://schemas.microsoft.com/office/drawing/2014/main" id="{507F2E30-4408-43BA-B6D6-494E4CCD121A}"/>
              </a:ext>
            </a:extLst>
          </p:cNvPr>
          <p:cNvSpPr>
            <a:spLocks xmlns:a="http://schemas.openxmlformats.org/drawingml/2006/main" noGrp="1"/>
          </p:cNvSpPr>
          <p:nvPr/>
        </p:nvSpPr>
        <p:spPr>
          <a:xfrm xmlns:a="http://schemas.openxmlformats.org/drawingml/2006/main">
            <a:off x="1568013" y="3228886"/>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3</a:t>
            </a:r>
            <a:endParaRPr sz="1300"/>
          </a:p>
        </p:txBody>
      </p:sp>
    </p:spTree>
    <p:extLst>
      <p:ext uri="{BB962C8B-B14F-4D97-AF65-F5344CB8AC3E}">
        <p14:creationId xmlns:p14="http://schemas.microsoft.com/office/powerpoint/2010/main" val="21145688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9ECA65D4-626D-4C98-ABB8-D5ED8ADEA666}"/>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A90B4CF1-58D8-4922-9739-30FDDE1F9785}"/>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83D2A4A5-3D44-47F4-8597-F2D4BDF4174E}"/>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7869C2C2-E73D-44E8-9D15-25524108265B}"/>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Job reviews explain the evidence and gaps</a:t>
            </a:r>
            <a:endParaRPr sz="3000"/>
          </a:p>
        </p:txBody>
      </p:sp>
      <p:sp>
        <p:nvSpPr>
          <p:cNvPr id="7" name="Text 4">
            <a:extLst xmlns:a="http://schemas.openxmlformats.org/drawingml/2006/main">
              <a:ext uri="{FF2B5EF4-FFF2-40B4-BE49-F238E27FC236}">
                <a16:creationId xmlns:a16="http://schemas.microsoft.com/office/drawing/2014/main" id="{E84A76C1-ACC9-40E5-9CE0-3FCFBBC69680}"/>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A useful review separates supported experience, missing skills and questions to confirm.</a:t>
            </a:r>
            <a:endParaRPr sz="1500"/>
          </a:p>
        </p:txBody>
      </p:sp>
      <p:sp>
        <p:nvSpPr>
          <p:cNvPr id="8" name="Shape 5">
            <a:extLst xmlns:a="http://schemas.openxmlformats.org/drawingml/2006/main">
              <a:ext uri="{FF2B5EF4-FFF2-40B4-BE49-F238E27FC236}">
                <a16:creationId xmlns:a16="http://schemas.microsoft.com/office/drawing/2014/main" id="{8C87A1F6-7C54-4643-AC19-0DE9193B1E42}"/>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4632F996-1BFE-4432-A930-44CC02989AD4}"/>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22B9D898-0704-4250-8549-0AACAA092CB3}"/>
              </a:ext>
            </a:extLst>
          </p:cNvPr>
          <p:cNvSpPr>
            <a:spLocks xmlns:a="http://schemas.openxmlformats.org/drawingml/2006/main" noGrp="1"/>
          </p:cNvSpPr>
          <p:nvPr/>
        </p:nvSpPr>
        <p:spPr>
          <a:xfrm xmlns:a="http://schemas.openxmlformats.org/drawingml/2006/main">
            <a:off x="4160520" y="6382512"/>
            <a:ext cx="3931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52677F"/>
                </a:solidFill>
                <a:latin typeface="Helvetica Neue"/>
                <a:ea typeface="Helvetica Neue"/>
                <a:cs typeface="Helvetica Neue"/>
              </a:rPr>
              <a:t>Fictional demo. AI examples are simulated.</a:t>
            </a:r>
            <a:endParaRPr sz="900"/>
          </a:p>
        </p:txBody>
      </p:sp>
      <p:sp>
        <p:nvSpPr>
          <p:cNvPr id="11" name="Text 8">
            <a:extLst xmlns:a="http://schemas.openxmlformats.org/drawingml/2006/main">
              <a:ext uri="{FF2B5EF4-FFF2-40B4-BE49-F238E27FC236}">
                <a16:creationId xmlns:a16="http://schemas.microsoft.com/office/drawing/2014/main" id="{9FEB1ACE-3FC1-4AF6-A35F-37FFEB1A9715}"/>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12 / 29</a:t>
            </a:r>
            <a:endParaRPr sz="900"/>
          </a:p>
        </p:txBody>
      </p:sp>
      <p:sp>
        <p:nvSpPr>
          <p:cNvPr id="12" name="Shape 9">
            <a:extLst xmlns:a="http://schemas.openxmlformats.org/drawingml/2006/main">
              <a:ext uri="{FF2B5EF4-FFF2-40B4-BE49-F238E27FC236}">
                <a16:creationId xmlns:a16="http://schemas.microsoft.com/office/drawing/2014/main" id="{24B2E44D-7C2D-4494-8687-ED9A1D67CD8A}"/>
              </a:ext>
            </a:extLst>
          </p:cNvPr>
          <p:cNvSpPr>
            <a:spLocks xmlns:a="http://schemas.openxmlformats.org/drawingml/2006/main" noGrp="1"/>
          </p:cNvSpPr>
          <p:nvPr/>
        </p:nvSpPr>
        <p:spPr>
          <a:xfrm xmlns:a="http://schemas.openxmlformats.org/drawingml/2006/main">
            <a:off x="548640" y="1554480"/>
            <a:ext cx="7680960" cy="3803904"/>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C9D6E8"/>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a2d452e2eede44f7"/>
          <a:stretch xmlns:a="http://schemas.openxmlformats.org/drawingml/2006/main"/>
        </p:blipFill>
        <p:spPr>
          <a:xfrm xmlns:a="http://schemas.openxmlformats.org/drawingml/2006/main">
            <a:off x="621792" y="1627632"/>
            <a:ext cx="7534656" cy="36576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36F6945F-248D-4768-808A-B71C1B2CCFE8}"/>
              </a:ext>
            </a:extLst>
          </p:cNvPr>
          <p:cNvSpPr>
            <a:spLocks xmlns:a="http://schemas.openxmlformats.org/drawingml/2006/main" noGrp="1"/>
          </p:cNvSpPr>
          <p:nvPr/>
        </p:nvSpPr>
        <p:spPr>
          <a:xfrm xmlns:a="http://schemas.openxmlformats.org/drawingml/2006/main">
            <a:off x="8458200" y="1554480"/>
            <a:ext cx="3184855" cy="3803904"/>
          </a:xfrm>
          <a:prstGeom xmlns:a="http://schemas.openxmlformats.org/drawingml/2006/main" prst="roundRect">
            <a:avLst>
              <a:gd name="adj" fmla="val 2297"/>
            </a:avLst>
          </a:prstGeom>
          <a:solidFill xmlns:a="http://schemas.openxmlformats.org/drawingml/2006/main">
            <a:srgbClr val="F3F6FB"/>
          </a:solidFill>
          <a:ln xmlns:a="http://schemas.openxmlformats.org/drawingml/2006/main" w="9525">
            <a:solidFill>
              <a:srgbClr val="C9D6E8"/>
            </a:solidFill>
            <a:prstDash val="solid"/>
          </a:ln>
        </p:spPr>
      </p:sp>
      <p:sp>
        <p:nvSpPr>
          <p:cNvPr id="15" name="Shape 11">
            <a:extLst xmlns:a="http://schemas.openxmlformats.org/drawingml/2006/main">
              <a:ext uri="{FF2B5EF4-FFF2-40B4-BE49-F238E27FC236}">
                <a16:creationId xmlns:a16="http://schemas.microsoft.com/office/drawing/2014/main" id="{1F04C85D-A35F-4E4F-8C37-54493DA2CA40}"/>
              </a:ext>
            </a:extLst>
          </p:cNvPr>
          <p:cNvSpPr>
            <a:spLocks xmlns:a="http://schemas.openxmlformats.org/drawingml/2006/main" noGrp="1"/>
          </p:cNvSpPr>
          <p:nvPr/>
        </p:nvSpPr>
        <p:spPr>
          <a:xfrm xmlns:a="http://schemas.openxmlformats.org/drawingml/2006/main">
            <a:off x="8467344" y="1664208"/>
            <a:ext cx="54864" cy="3584448"/>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6" name="Text 12">
            <a:extLst xmlns:a="http://schemas.openxmlformats.org/drawingml/2006/main">
              <a:ext uri="{FF2B5EF4-FFF2-40B4-BE49-F238E27FC236}">
                <a16:creationId xmlns:a16="http://schemas.microsoft.com/office/drawing/2014/main" id="{89488985-5299-4AAE-86E8-E4E9B9E3D8B6}"/>
              </a:ext>
            </a:extLst>
          </p:cNvPr>
          <p:cNvSpPr>
            <a:spLocks xmlns:a="http://schemas.openxmlformats.org/drawingml/2006/main" noGrp="1"/>
          </p:cNvSpPr>
          <p:nvPr/>
        </p:nvSpPr>
        <p:spPr>
          <a:xfrm xmlns:a="http://schemas.openxmlformats.org/drawingml/2006/main">
            <a:off x="8714232" y="1773936"/>
            <a:ext cx="267279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WHAT TO LOOK AT</a:t>
            </a:r>
            <a:endParaRPr sz="1100"/>
          </a:p>
        </p:txBody>
      </p:sp>
      <p:sp>
        <p:nvSpPr>
          <p:cNvPr id="17" name="Shape 13">
            <a:extLst xmlns:a="http://schemas.openxmlformats.org/drawingml/2006/main">
              <a:ext uri="{FF2B5EF4-FFF2-40B4-BE49-F238E27FC236}">
                <a16:creationId xmlns:a16="http://schemas.microsoft.com/office/drawing/2014/main" id="{3FE6D396-1BAA-4415-851D-21D75E9098DD}"/>
              </a:ext>
            </a:extLst>
          </p:cNvPr>
          <p:cNvSpPr>
            <a:spLocks xmlns:a="http://schemas.openxmlformats.org/drawingml/2006/main" noGrp="1"/>
          </p:cNvSpPr>
          <p:nvPr/>
        </p:nvSpPr>
        <p:spPr>
          <a:xfrm xmlns:a="http://schemas.openxmlformats.org/drawingml/2006/main">
            <a:off x="8714232" y="229514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18" name="Text 14">
            <a:extLst xmlns:a="http://schemas.openxmlformats.org/drawingml/2006/main">
              <a:ext uri="{FF2B5EF4-FFF2-40B4-BE49-F238E27FC236}">
                <a16:creationId xmlns:a16="http://schemas.microsoft.com/office/drawing/2014/main" id="{7B217207-B928-42B9-BD58-843580662037}"/>
              </a:ext>
            </a:extLst>
          </p:cNvPr>
          <p:cNvSpPr>
            <a:spLocks xmlns:a="http://schemas.openxmlformats.org/drawingml/2006/main" noGrp="1"/>
          </p:cNvSpPr>
          <p:nvPr/>
        </p:nvSpPr>
        <p:spPr>
          <a:xfrm xmlns:a="http://schemas.openxmlformats.org/drawingml/2006/main">
            <a:off x="8714232" y="233705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19" name="Text 15">
            <a:extLst xmlns:a="http://schemas.openxmlformats.org/drawingml/2006/main">
              <a:ext uri="{FF2B5EF4-FFF2-40B4-BE49-F238E27FC236}">
                <a16:creationId xmlns:a16="http://schemas.microsoft.com/office/drawing/2014/main" id="{831C4166-E8A8-4C6F-B224-69A045949DD5}"/>
              </a:ext>
            </a:extLst>
          </p:cNvPr>
          <p:cNvSpPr>
            <a:spLocks xmlns:a="http://schemas.openxmlformats.org/drawingml/2006/main" noGrp="1"/>
          </p:cNvSpPr>
          <p:nvPr/>
        </p:nvSpPr>
        <p:spPr>
          <a:xfrm xmlns:a="http://schemas.openxmlformats.org/drawingml/2006/main">
            <a:off x="9144000" y="226771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A comparison, not a prediction of an offer.</a:t>
            </a:r>
            <a:endParaRPr sz="1300"/>
          </a:p>
        </p:txBody>
      </p:sp>
      <p:sp>
        <p:nvSpPr>
          <p:cNvPr id="20" name="Shape 16">
            <a:extLst xmlns:a="http://schemas.openxmlformats.org/drawingml/2006/main">
              <a:ext uri="{FF2B5EF4-FFF2-40B4-BE49-F238E27FC236}">
                <a16:creationId xmlns:a16="http://schemas.microsoft.com/office/drawing/2014/main" id="{2C4B846A-3036-4ACC-89BE-05F358A75EEA}"/>
              </a:ext>
            </a:extLst>
          </p:cNvPr>
          <p:cNvSpPr>
            <a:spLocks xmlns:a="http://schemas.openxmlformats.org/drawingml/2006/main" noGrp="1"/>
          </p:cNvSpPr>
          <p:nvPr/>
        </p:nvSpPr>
        <p:spPr>
          <a:xfrm xmlns:a="http://schemas.openxmlformats.org/drawingml/2006/main">
            <a:off x="3866083" y="2878531"/>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1" name="Text 17">
            <a:extLst xmlns:a="http://schemas.openxmlformats.org/drawingml/2006/main">
              <a:ext uri="{FF2B5EF4-FFF2-40B4-BE49-F238E27FC236}">
                <a16:creationId xmlns:a16="http://schemas.microsoft.com/office/drawing/2014/main" id="{B6DC2E5C-A76E-40A7-9359-11033434FB85}"/>
              </a:ext>
            </a:extLst>
          </p:cNvPr>
          <p:cNvSpPr>
            <a:spLocks xmlns:a="http://schemas.openxmlformats.org/drawingml/2006/main" noGrp="1"/>
          </p:cNvSpPr>
          <p:nvPr/>
        </p:nvSpPr>
        <p:spPr>
          <a:xfrm xmlns:a="http://schemas.openxmlformats.org/drawingml/2006/main">
            <a:off x="3866083" y="2921648"/>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1</a:t>
            </a:r>
            <a:endParaRPr sz="1300"/>
          </a:p>
        </p:txBody>
      </p:sp>
      <p:sp>
        <p:nvSpPr>
          <p:cNvPr id="22" name="Shape 18">
            <a:extLst xmlns:a="http://schemas.openxmlformats.org/drawingml/2006/main">
              <a:ext uri="{FF2B5EF4-FFF2-40B4-BE49-F238E27FC236}">
                <a16:creationId xmlns:a16="http://schemas.microsoft.com/office/drawing/2014/main" id="{D0C1CF01-1598-4A59-837B-8D02A10D642B}"/>
              </a:ext>
            </a:extLst>
          </p:cNvPr>
          <p:cNvSpPr>
            <a:spLocks xmlns:a="http://schemas.openxmlformats.org/drawingml/2006/main" noGrp="1"/>
          </p:cNvSpPr>
          <p:nvPr/>
        </p:nvSpPr>
        <p:spPr>
          <a:xfrm xmlns:a="http://schemas.openxmlformats.org/drawingml/2006/main">
            <a:off x="8714232" y="330098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3" name="Text 19">
            <a:extLst xmlns:a="http://schemas.openxmlformats.org/drawingml/2006/main">
              <a:ext uri="{FF2B5EF4-FFF2-40B4-BE49-F238E27FC236}">
                <a16:creationId xmlns:a16="http://schemas.microsoft.com/office/drawing/2014/main" id="{70B8A481-8A04-4133-A0EE-775F864B2FDB}"/>
              </a:ext>
            </a:extLst>
          </p:cNvPr>
          <p:cNvSpPr>
            <a:spLocks xmlns:a="http://schemas.openxmlformats.org/drawingml/2006/main" noGrp="1"/>
          </p:cNvSpPr>
          <p:nvPr/>
        </p:nvSpPr>
        <p:spPr>
          <a:xfrm xmlns:a="http://schemas.openxmlformats.org/drawingml/2006/main">
            <a:off x="8714232" y="334289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24" name="Text 20">
            <a:extLst xmlns:a="http://schemas.openxmlformats.org/drawingml/2006/main">
              <a:ext uri="{FF2B5EF4-FFF2-40B4-BE49-F238E27FC236}">
                <a16:creationId xmlns:a16="http://schemas.microsoft.com/office/drawing/2014/main" id="{2B145C62-520A-4060-B042-B5BBE3192737}"/>
              </a:ext>
            </a:extLst>
          </p:cNvPr>
          <p:cNvSpPr>
            <a:spLocks xmlns:a="http://schemas.openxmlformats.org/drawingml/2006/main" noGrp="1"/>
          </p:cNvSpPr>
          <p:nvPr/>
        </p:nvSpPr>
        <p:spPr>
          <a:xfrm xmlns:a="http://schemas.openxmlformats.org/drawingml/2006/main">
            <a:off x="9144000" y="327355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Supported experience, tied to what the profile records.</a:t>
            </a:r>
            <a:endParaRPr sz="1300"/>
          </a:p>
        </p:txBody>
      </p:sp>
      <p:sp>
        <p:nvSpPr>
          <p:cNvPr id="25" name="Shape 21">
            <a:extLst xmlns:a="http://schemas.openxmlformats.org/drawingml/2006/main">
              <a:ext uri="{FF2B5EF4-FFF2-40B4-BE49-F238E27FC236}">
                <a16:creationId xmlns:a16="http://schemas.microsoft.com/office/drawing/2014/main" id="{34F98F7B-B203-44DB-BB34-DEDCD28EC68B}"/>
              </a:ext>
            </a:extLst>
          </p:cNvPr>
          <p:cNvSpPr>
            <a:spLocks xmlns:a="http://schemas.openxmlformats.org/drawingml/2006/main" noGrp="1"/>
          </p:cNvSpPr>
          <p:nvPr/>
        </p:nvSpPr>
        <p:spPr>
          <a:xfrm xmlns:a="http://schemas.openxmlformats.org/drawingml/2006/main">
            <a:off x="7000500" y="3269894"/>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6" name="Text 22">
            <a:extLst xmlns:a="http://schemas.openxmlformats.org/drawingml/2006/main">
              <a:ext uri="{FF2B5EF4-FFF2-40B4-BE49-F238E27FC236}">
                <a16:creationId xmlns:a16="http://schemas.microsoft.com/office/drawing/2014/main" id="{B5EA59D4-82C5-4AE9-8234-BBFC0491F260}"/>
              </a:ext>
            </a:extLst>
          </p:cNvPr>
          <p:cNvSpPr>
            <a:spLocks xmlns:a="http://schemas.openxmlformats.org/drawingml/2006/main" noGrp="1"/>
          </p:cNvSpPr>
          <p:nvPr/>
        </p:nvSpPr>
        <p:spPr>
          <a:xfrm xmlns:a="http://schemas.openxmlformats.org/drawingml/2006/main">
            <a:off x="7000500" y="3313011"/>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2</a:t>
            </a:r>
            <a:endParaRPr sz="1300"/>
          </a:p>
        </p:txBody>
      </p:sp>
      <p:sp>
        <p:nvSpPr>
          <p:cNvPr id="27" name="Shape 23">
            <a:extLst xmlns:a="http://schemas.openxmlformats.org/drawingml/2006/main">
              <a:ext uri="{FF2B5EF4-FFF2-40B4-BE49-F238E27FC236}">
                <a16:creationId xmlns:a16="http://schemas.microsoft.com/office/drawing/2014/main" id="{3F531EC0-8FB2-45B8-81F3-131D762C384D}"/>
              </a:ext>
            </a:extLst>
          </p:cNvPr>
          <p:cNvSpPr>
            <a:spLocks xmlns:a="http://schemas.openxmlformats.org/drawingml/2006/main" noGrp="1"/>
          </p:cNvSpPr>
          <p:nvPr/>
        </p:nvSpPr>
        <p:spPr>
          <a:xfrm xmlns:a="http://schemas.openxmlformats.org/drawingml/2006/main">
            <a:off x="8714232" y="430682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8" name="Text 24">
            <a:extLst xmlns:a="http://schemas.openxmlformats.org/drawingml/2006/main">
              <a:ext uri="{FF2B5EF4-FFF2-40B4-BE49-F238E27FC236}">
                <a16:creationId xmlns:a16="http://schemas.microsoft.com/office/drawing/2014/main" id="{BDA7BDB2-122D-4C8F-A778-764E0BBBADB9}"/>
              </a:ext>
            </a:extLst>
          </p:cNvPr>
          <p:cNvSpPr>
            <a:spLocks xmlns:a="http://schemas.openxmlformats.org/drawingml/2006/main" noGrp="1"/>
          </p:cNvSpPr>
          <p:nvPr/>
        </p:nvSpPr>
        <p:spPr>
          <a:xfrm xmlns:a="http://schemas.openxmlformats.org/drawingml/2006/main">
            <a:off x="8714232" y="434873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29" name="Text 25">
            <a:extLst xmlns:a="http://schemas.openxmlformats.org/drawingml/2006/main">
              <a:ext uri="{FF2B5EF4-FFF2-40B4-BE49-F238E27FC236}">
                <a16:creationId xmlns:a16="http://schemas.microsoft.com/office/drawing/2014/main" id="{E29E524C-A5F2-4491-9A58-A88F228D24E4}"/>
              </a:ext>
            </a:extLst>
          </p:cNvPr>
          <p:cNvSpPr>
            <a:spLocks xmlns:a="http://schemas.openxmlformats.org/drawingml/2006/main" noGrp="1"/>
          </p:cNvSpPr>
          <p:nvPr/>
        </p:nvSpPr>
        <p:spPr>
          <a:xfrm xmlns:a="http://schemas.openxmlformats.org/drawingml/2006/main">
            <a:off x="9144000" y="427939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Known gaps name the skill and how it was recorded.</a:t>
            </a:r>
            <a:endParaRPr sz="1300"/>
          </a:p>
        </p:txBody>
      </p:sp>
      <p:sp>
        <p:nvSpPr>
          <p:cNvPr id="30" name="Shape 26">
            <a:extLst xmlns:a="http://schemas.openxmlformats.org/drawingml/2006/main">
              <a:ext uri="{FF2B5EF4-FFF2-40B4-BE49-F238E27FC236}">
                <a16:creationId xmlns:a16="http://schemas.microsoft.com/office/drawing/2014/main" id="{D5E3BA38-7613-4249-B10C-D89C3BF544D2}"/>
              </a:ext>
            </a:extLst>
          </p:cNvPr>
          <p:cNvSpPr>
            <a:spLocks xmlns:a="http://schemas.openxmlformats.org/drawingml/2006/main" noGrp="1"/>
          </p:cNvSpPr>
          <p:nvPr/>
        </p:nvSpPr>
        <p:spPr>
          <a:xfrm xmlns:a="http://schemas.openxmlformats.org/drawingml/2006/main">
            <a:off x="7000500" y="3800246"/>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1" name="Text 27">
            <a:extLst xmlns:a="http://schemas.openxmlformats.org/drawingml/2006/main">
              <a:ext uri="{FF2B5EF4-FFF2-40B4-BE49-F238E27FC236}">
                <a16:creationId xmlns:a16="http://schemas.microsoft.com/office/drawing/2014/main" id="{AFE2C305-5C3B-49C3-950D-F978077FB9A4}"/>
              </a:ext>
            </a:extLst>
          </p:cNvPr>
          <p:cNvSpPr>
            <a:spLocks xmlns:a="http://schemas.openxmlformats.org/drawingml/2006/main" noGrp="1"/>
          </p:cNvSpPr>
          <p:nvPr/>
        </p:nvSpPr>
        <p:spPr>
          <a:xfrm xmlns:a="http://schemas.openxmlformats.org/drawingml/2006/main">
            <a:off x="7000500" y="3843363"/>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3</a:t>
            </a:r>
            <a:endParaRPr sz="1300"/>
          </a:p>
        </p:txBody>
      </p:sp>
    </p:spTree>
    <p:extLst>
      <p:ext uri="{BB962C8B-B14F-4D97-AF65-F5344CB8AC3E}">
        <p14:creationId xmlns:p14="http://schemas.microsoft.com/office/powerpoint/2010/main" val="3398354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FA2D8EC7-6B54-4C0E-9F19-B9879C34553F}"/>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F7A5A"/>
                </a:solidFill>
                <a:latin typeface="Helvetica Neue"/>
                <a:ea typeface="Helvetica Neue"/>
                <a:cs typeface="Helvetica Neue"/>
              </a:rPr>
              <a:t>PART 1 · WHAT THE PRODUCT DOES</a:t>
            </a:r>
            <a:endParaRPr sz="1100"/>
          </a:p>
        </p:txBody>
      </p:sp>
      <p:sp>
        <p:nvSpPr>
          <p:cNvPr id="4" name="Shape 1">
            <a:extLst xmlns:a="http://schemas.openxmlformats.org/drawingml/2006/main">
              <a:ext uri="{FF2B5EF4-FFF2-40B4-BE49-F238E27FC236}">
                <a16:creationId xmlns:a16="http://schemas.microsoft.com/office/drawing/2014/main" id="{93F72454-6327-40F2-8AC1-6BDA5E2664B8}"/>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A9FABE7F-554A-4A91-9FE4-6CCD0C212917}"/>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CB255AB9-5BD1-4737-9630-41122B2DB2AF}"/>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tracker preserves the next step</a:t>
            </a:r>
            <a:endParaRPr sz="3000"/>
          </a:p>
        </p:txBody>
      </p:sp>
      <p:sp>
        <p:nvSpPr>
          <p:cNvPr id="7" name="Text 4">
            <a:extLst xmlns:a="http://schemas.openxmlformats.org/drawingml/2006/main">
              <a:ext uri="{FF2B5EF4-FFF2-40B4-BE49-F238E27FC236}">
                <a16:creationId xmlns:a16="http://schemas.microsoft.com/office/drawing/2014/main" id="{20D3503B-4431-480B-9A1D-441865A21AF2}"/>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Save an opportunity with its stage, notes, follow-up date and approved resume version.</a:t>
            </a:r>
            <a:endParaRPr sz="1500"/>
          </a:p>
        </p:txBody>
      </p:sp>
      <p:sp>
        <p:nvSpPr>
          <p:cNvPr id="8" name="Shape 5">
            <a:extLst xmlns:a="http://schemas.openxmlformats.org/drawingml/2006/main">
              <a:ext uri="{FF2B5EF4-FFF2-40B4-BE49-F238E27FC236}">
                <a16:creationId xmlns:a16="http://schemas.microsoft.com/office/drawing/2014/main" id="{81183F09-0954-4548-8D0C-BCA5E4ED21D8}"/>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4B794A3F-CB5E-4904-9319-9019B8E21405}"/>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79B4BA8F-6B26-4A31-8E0D-7DE32D79B7EB}"/>
              </a:ext>
            </a:extLst>
          </p:cNvPr>
          <p:cNvSpPr>
            <a:spLocks xmlns:a="http://schemas.openxmlformats.org/drawingml/2006/main" noGrp="1"/>
          </p:cNvSpPr>
          <p:nvPr/>
        </p:nvSpPr>
        <p:spPr>
          <a:xfrm xmlns:a="http://schemas.openxmlformats.org/drawingml/2006/main">
            <a:off x="4160520" y="6382512"/>
            <a:ext cx="3931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00" i="1">
                <a:solidFill>
                  <a:srgbClr val="52677F"/>
                </a:solidFill>
                <a:latin typeface="Helvetica Neue"/>
                <a:ea typeface="Helvetica Neue"/>
                <a:cs typeface="Helvetica Neue"/>
              </a:rPr>
              <a:t>Fictional demo. AI examples are simulated.</a:t>
            </a:r>
            <a:endParaRPr sz="900"/>
          </a:p>
        </p:txBody>
      </p:sp>
      <p:sp>
        <p:nvSpPr>
          <p:cNvPr id="11" name="Text 8">
            <a:extLst xmlns:a="http://schemas.openxmlformats.org/drawingml/2006/main">
              <a:ext uri="{FF2B5EF4-FFF2-40B4-BE49-F238E27FC236}">
                <a16:creationId xmlns:a16="http://schemas.microsoft.com/office/drawing/2014/main" id="{15E95B7C-B8CC-460B-80DA-B3BE57C2CFD1}"/>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13 / 29</a:t>
            </a:r>
            <a:endParaRPr sz="900"/>
          </a:p>
        </p:txBody>
      </p:sp>
      <p:sp>
        <p:nvSpPr>
          <p:cNvPr id="12" name="Shape 9">
            <a:extLst xmlns:a="http://schemas.openxmlformats.org/drawingml/2006/main">
              <a:ext uri="{FF2B5EF4-FFF2-40B4-BE49-F238E27FC236}">
                <a16:creationId xmlns:a16="http://schemas.microsoft.com/office/drawing/2014/main" id="{AA8FED22-8580-44AE-B0AC-B6FB16D2C2FC}"/>
              </a:ext>
            </a:extLst>
          </p:cNvPr>
          <p:cNvSpPr>
            <a:spLocks xmlns:a="http://schemas.openxmlformats.org/drawingml/2006/main" noGrp="1"/>
          </p:cNvSpPr>
          <p:nvPr/>
        </p:nvSpPr>
        <p:spPr>
          <a:xfrm xmlns:a="http://schemas.openxmlformats.org/drawingml/2006/main">
            <a:off x="548640" y="1554480"/>
            <a:ext cx="7680960" cy="3803904"/>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9525">
            <a:solidFill>
              <a:srgbClr val="C9D6E8"/>
            </a:solidFill>
            <a:prstDash val="solid"/>
          </a:ln>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27b7c11b11d844d3"/>
          <a:stretch xmlns:a="http://schemas.openxmlformats.org/drawingml/2006/main"/>
        </p:blipFill>
        <p:spPr>
          <a:xfrm xmlns:a="http://schemas.openxmlformats.org/drawingml/2006/main">
            <a:off x="621792" y="1627632"/>
            <a:ext cx="7534656" cy="36576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9E691E23-509A-49D0-844A-6DDA59178601}"/>
              </a:ext>
            </a:extLst>
          </p:cNvPr>
          <p:cNvSpPr>
            <a:spLocks xmlns:a="http://schemas.openxmlformats.org/drawingml/2006/main" noGrp="1"/>
          </p:cNvSpPr>
          <p:nvPr/>
        </p:nvSpPr>
        <p:spPr>
          <a:xfrm xmlns:a="http://schemas.openxmlformats.org/drawingml/2006/main">
            <a:off x="8458200" y="1554480"/>
            <a:ext cx="3184855" cy="3803904"/>
          </a:xfrm>
          <a:prstGeom xmlns:a="http://schemas.openxmlformats.org/drawingml/2006/main" prst="roundRect">
            <a:avLst>
              <a:gd name="adj" fmla="val 2297"/>
            </a:avLst>
          </a:prstGeom>
          <a:solidFill xmlns:a="http://schemas.openxmlformats.org/drawingml/2006/main">
            <a:srgbClr val="F3F6FB"/>
          </a:solidFill>
          <a:ln xmlns:a="http://schemas.openxmlformats.org/drawingml/2006/main" w="9525">
            <a:solidFill>
              <a:srgbClr val="C9D6E8"/>
            </a:solidFill>
            <a:prstDash val="solid"/>
          </a:ln>
        </p:spPr>
      </p:sp>
      <p:sp>
        <p:nvSpPr>
          <p:cNvPr id="15" name="Shape 11">
            <a:extLst xmlns:a="http://schemas.openxmlformats.org/drawingml/2006/main">
              <a:ext uri="{FF2B5EF4-FFF2-40B4-BE49-F238E27FC236}">
                <a16:creationId xmlns:a16="http://schemas.microsoft.com/office/drawing/2014/main" id="{3555817F-DAAF-49A8-AD3F-36201676C31D}"/>
              </a:ext>
            </a:extLst>
          </p:cNvPr>
          <p:cNvSpPr>
            <a:spLocks xmlns:a="http://schemas.openxmlformats.org/drawingml/2006/main" noGrp="1"/>
          </p:cNvSpPr>
          <p:nvPr/>
        </p:nvSpPr>
        <p:spPr>
          <a:xfrm xmlns:a="http://schemas.openxmlformats.org/drawingml/2006/main">
            <a:off x="8467344" y="1664208"/>
            <a:ext cx="54864" cy="3584448"/>
          </a:xfrm>
          <a:prstGeom xmlns:a="http://schemas.openxmlformats.org/drawingml/2006/main" prst="rect">
            <a:avLst/>
          </a:prstGeom>
          <a:solidFill xmlns:a="http://schemas.openxmlformats.org/drawingml/2006/main">
            <a:srgbClr val="1F7A5A"/>
          </a:solidFill>
          <a:ln xmlns:a="http://schemas.openxmlformats.org/drawingml/2006/main" w="12700">
            <a:solidFill>
              <a:srgbClr val="1F7A5A"/>
            </a:solidFill>
            <a:prstDash val="solid"/>
          </a:ln>
        </p:spPr>
      </p:sp>
      <p:sp>
        <p:nvSpPr>
          <p:cNvPr id="16" name="Text 12">
            <a:extLst xmlns:a="http://schemas.openxmlformats.org/drawingml/2006/main">
              <a:ext uri="{FF2B5EF4-FFF2-40B4-BE49-F238E27FC236}">
                <a16:creationId xmlns:a16="http://schemas.microsoft.com/office/drawing/2014/main" id="{25618DBF-53CF-41B7-95E9-56EDEBCD8AE6}"/>
              </a:ext>
            </a:extLst>
          </p:cNvPr>
          <p:cNvSpPr>
            <a:spLocks xmlns:a="http://schemas.openxmlformats.org/drawingml/2006/main" noGrp="1"/>
          </p:cNvSpPr>
          <p:nvPr/>
        </p:nvSpPr>
        <p:spPr>
          <a:xfrm xmlns:a="http://schemas.openxmlformats.org/drawingml/2006/main">
            <a:off x="8714232" y="1773936"/>
            <a:ext cx="267279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F7A5A"/>
                </a:solidFill>
                <a:latin typeface="Helvetica Neue"/>
                <a:ea typeface="Helvetica Neue"/>
                <a:cs typeface="Helvetica Neue"/>
              </a:rPr>
              <a:t>WHAT TO LOOK AT</a:t>
            </a:r>
            <a:endParaRPr sz="1100"/>
          </a:p>
        </p:txBody>
      </p:sp>
      <p:sp>
        <p:nvSpPr>
          <p:cNvPr id="17" name="Shape 13">
            <a:extLst xmlns:a="http://schemas.openxmlformats.org/drawingml/2006/main">
              <a:ext uri="{FF2B5EF4-FFF2-40B4-BE49-F238E27FC236}">
                <a16:creationId xmlns:a16="http://schemas.microsoft.com/office/drawing/2014/main" id="{0C6B87E5-E388-4BE2-AAFF-C70C426FCA80}"/>
              </a:ext>
            </a:extLst>
          </p:cNvPr>
          <p:cNvSpPr>
            <a:spLocks xmlns:a="http://schemas.openxmlformats.org/drawingml/2006/main" noGrp="1"/>
          </p:cNvSpPr>
          <p:nvPr/>
        </p:nvSpPr>
        <p:spPr>
          <a:xfrm xmlns:a="http://schemas.openxmlformats.org/drawingml/2006/main">
            <a:off x="8714232" y="229514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18" name="Text 14">
            <a:extLst xmlns:a="http://schemas.openxmlformats.org/drawingml/2006/main">
              <a:ext uri="{FF2B5EF4-FFF2-40B4-BE49-F238E27FC236}">
                <a16:creationId xmlns:a16="http://schemas.microsoft.com/office/drawing/2014/main" id="{0EC60876-ACBE-4452-95AF-3367C7CC3C11}"/>
              </a:ext>
            </a:extLst>
          </p:cNvPr>
          <p:cNvSpPr>
            <a:spLocks xmlns:a="http://schemas.openxmlformats.org/drawingml/2006/main" noGrp="1"/>
          </p:cNvSpPr>
          <p:nvPr/>
        </p:nvSpPr>
        <p:spPr>
          <a:xfrm xmlns:a="http://schemas.openxmlformats.org/drawingml/2006/main">
            <a:off x="8714232" y="233705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19" name="Text 15">
            <a:extLst xmlns:a="http://schemas.openxmlformats.org/drawingml/2006/main">
              <a:ext uri="{FF2B5EF4-FFF2-40B4-BE49-F238E27FC236}">
                <a16:creationId xmlns:a16="http://schemas.microsoft.com/office/drawing/2014/main" id="{CD3FA909-94EB-4715-BBBD-4889FA1E0377}"/>
              </a:ext>
            </a:extLst>
          </p:cNvPr>
          <p:cNvSpPr>
            <a:spLocks xmlns:a="http://schemas.openxmlformats.org/drawingml/2006/main" noGrp="1"/>
          </p:cNvSpPr>
          <p:nvPr/>
        </p:nvSpPr>
        <p:spPr>
          <a:xfrm xmlns:a="http://schemas.openxmlformats.org/drawingml/2006/main">
            <a:off x="9144000" y="226771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Stages represent customer-entered progress.</a:t>
            </a:r>
            <a:endParaRPr sz="1300"/>
          </a:p>
        </p:txBody>
      </p:sp>
      <p:sp>
        <p:nvSpPr>
          <p:cNvPr id="20" name="Shape 16">
            <a:extLst xmlns:a="http://schemas.openxmlformats.org/drawingml/2006/main">
              <a:ext uri="{FF2B5EF4-FFF2-40B4-BE49-F238E27FC236}">
                <a16:creationId xmlns:a16="http://schemas.microsoft.com/office/drawing/2014/main" id="{32B4AD53-2668-444C-B88E-18BEF8E634DC}"/>
              </a:ext>
            </a:extLst>
          </p:cNvPr>
          <p:cNvSpPr>
            <a:spLocks xmlns:a="http://schemas.openxmlformats.org/drawingml/2006/main" noGrp="1"/>
          </p:cNvSpPr>
          <p:nvPr/>
        </p:nvSpPr>
        <p:spPr>
          <a:xfrm xmlns:a="http://schemas.openxmlformats.org/drawingml/2006/main">
            <a:off x="5146975" y="2472538"/>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1" name="Text 17">
            <a:extLst xmlns:a="http://schemas.openxmlformats.org/drawingml/2006/main">
              <a:ext uri="{FF2B5EF4-FFF2-40B4-BE49-F238E27FC236}">
                <a16:creationId xmlns:a16="http://schemas.microsoft.com/office/drawing/2014/main" id="{6787A2E9-7F27-40E4-9134-047CE9CE63A1}"/>
              </a:ext>
            </a:extLst>
          </p:cNvPr>
          <p:cNvSpPr>
            <a:spLocks xmlns:a="http://schemas.openxmlformats.org/drawingml/2006/main" noGrp="1"/>
          </p:cNvSpPr>
          <p:nvPr/>
        </p:nvSpPr>
        <p:spPr>
          <a:xfrm xmlns:a="http://schemas.openxmlformats.org/drawingml/2006/main">
            <a:off x="5146975" y="2515654"/>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1</a:t>
            </a:r>
            <a:endParaRPr sz="1300"/>
          </a:p>
        </p:txBody>
      </p:sp>
      <p:sp>
        <p:nvSpPr>
          <p:cNvPr id="22" name="Shape 18">
            <a:extLst xmlns:a="http://schemas.openxmlformats.org/drawingml/2006/main">
              <a:ext uri="{FF2B5EF4-FFF2-40B4-BE49-F238E27FC236}">
                <a16:creationId xmlns:a16="http://schemas.microsoft.com/office/drawing/2014/main" id="{11D9981D-86F0-4A95-94B7-AFA03BD15AFD}"/>
              </a:ext>
            </a:extLst>
          </p:cNvPr>
          <p:cNvSpPr>
            <a:spLocks xmlns:a="http://schemas.openxmlformats.org/drawingml/2006/main" noGrp="1"/>
          </p:cNvSpPr>
          <p:nvPr/>
        </p:nvSpPr>
        <p:spPr>
          <a:xfrm xmlns:a="http://schemas.openxmlformats.org/drawingml/2006/main">
            <a:off x="8714232" y="330098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3" name="Text 19">
            <a:extLst xmlns:a="http://schemas.openxmlformats.org/drawingml/2006/main">
              <a:ext uri="{FF2B5EF4-FFF2-40B4-BE49-F238E27FC236}">
                <a16:creationId xmlns:a16="http://schemas.microsoft.com/office/drawing/2014/main" id="{4816B5E7-CC79-4047-80D1-0760A7A1D212}"/>
              </a:ext>
            </a:extLst>
          </p:cNvPr>
          <p:cNvSpPr>
            <a:spLocks xmlns:a="http://schemas.openxmlformats.org/drawingml/2006/main" noGrp="1"/>
          </p:cNvSpPr>
          <p:nvPr/>
        </p:nvSpPr>
        <p:spPr>
          <a:xfrm xmlns:a="http://schemas.openxmlformats.org/drawingml/2006/main">
            <a:off x="8714232" y="334289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24" name="Text 20">
            <a:extLst xmlns:a="http://schemas.openxmlformats.org/drawingml/2006/main">
              <a:ext uri="{FF2B5EF4-FFF2-40B4-BE49-F238E27FC236}">
                <a16:creationId xmlns:a16="http://schemas.microsoft.com/office/drawing/2014/main" id="{8F7B27E7-A1C1-4833-A4E9-929696501E51}"/>
              </a:ext>
            </a:extLst>
          </p:cNvPr>
          <p:cNvSpPr>
            <a:spLocks xmlns:a="http://schemas.openxmlformats.org/drawingml/2006/main" noGrp="1"/>
          </p:cNvSpPr>
          <p:nvPr/>
        </p:nvSpPr>
        <p:spPr>
          <a:xfrm xmlns:a="http://schemas.openxmlformats.org/drawingml/2006/main">
            <a:off x="9144000" y="327355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The stage and next follow-up date stay with the opportunity.</a:t>
            </a:r>
            <a:endParaRPr sz="1300"/>
          </a:p>
        </p:txBody>
      </p:sp>
      <p:sp>
        <p:nvSpPr>
          <p:cNvPr id="25" name="Shape 21">
            <a:extLst xmlns:a="http://schemas.openxmlformats.org/drawingml/2006/main">
              <a:ext uri="{FF2B5EF4-FFF2-40B4-BE49-F238E27FC236}">
                <a16:creationId xmlns:a16="http://schemas.microsoft.com/office/drawing/2014/main" id="{B4311534-3F69-4234-9D49-A165737BDF50}"/>
              </a:ext>
            </a:extLst>
          </p:cNvPr>
          <p:cNvSpPr>
            <a:spLocks xmlns:a="http://schemas.openxmlformats.org/drawingml/2006/main" noGrp="1"/>
          </p:cNvSpPr>
          <p:nvPr/>
        </p:nvSpPr>
        <p:spPr>
          <a:xfrm xmlns:a="http://schemas.openxmlformats.org/drawingml/2006/main">
            <a:off x="4807915" y="3127248"/>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26" name="Text 22">
            <a:extLst xmlns:a="http://schemas.openxmlformats.org/drawingml/2006/main">
              <a:ext uri="{FF2B5EF4-FFF2-40B4-BE49-F238E27FC236}">
                <a16:creationId xmlns:a16="http://schemas.microsoft.com/office/drawing/2014/main" id="{3B97837E-87FC-4B70-9A91-F03E33F52BD4}"/>
              </a:ext>
            </a:extLst>
          </p:cNvPr>
          <p:cNvSpPr>
            <a:spLocks xmlns:a="http://schemas.openxmlformats.org/drawingml/2006/main" noGrp="1"/>
          </p:cNvSpPr>
          <p:nvPr/>
        </p:nvSpPr>
        <p:spPr>
          <a:xfrm xmlns:a="http://schemas.openxmlformats.org/drawingml/2006/main">
            <a:off x="4807915" y="3170365"/>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2</a:t>
            </a:r>
            <a:endParaRPr sz="1300"/>
          </a:p>
        </p:txBody>
      </p:sp>
      <p:sp>
        <p:nvSpPr>
          <p:cNvPr id="27" name="Shape 23">
            <a:extLst xmlns:a="http://schemas.openxmlformats.org/drawingml/2006/main">
              <a:ext uri="{FF2B5EF4-FFF2-40B4-BE49-F238E27FC236}">
                <a16:creationId xmlns:a16="http://schemas.microsoft.com/office/drawing/2014/main" id="{507FFC38-B271-4126-93DA-198E6CE3CF43}"/>
              </a:ext>
            </a:extLst>
          </p:cNvPr>
          <p:cNvSpPr>
            <a:spLocks xmlns:a="http://schemas.openxmlformats.org/drawingml/2006/main" noGrp="1"/>
          </p:cNvSpPr>
          <p:nvPr/>
        </p:nvSpPr>
        <p:spPr>
          <a:xfrm xmlns:a="http://schemas.openxmlformats.org/drawingml/2006/main">
            <a:off x="8714232" y="4306824"/>
            <a:ext cx="274320" cy="274320"/>
          </a:xfrm>
          <a:prstGeom xmlns:a="http://schemas.openxmlformats.org/drawingml/2006/main" prst="ellipse">
            <a:avLst/>
          </a:prstGeom>
          <a:solidFill xmlns:a="http://schemas.openxmlformats.org/drawingml/2006/main">
            <a:srgbClr val="1F7A5A"/>
          </a:solidFill>
          <a:ln xmlns:a="http://schemas.openxmlformats.org/drawingml/2006/main" w="12700">
            <a:solidFill>
              <a:srgbClr val="1F7A5A"/>
            </a:solidFill>
            <a:prstDash val="solid"/>
          </a:ln>
        </p:spPr>
      </p:sp>
      <p:sp>
        <p:nvSpPr>
          <p:cNvPr id="28" name="Text 24">
            <a:extLst xmlns:a="http://schemas.openxmlformats.org/drawingml/2006/main">
              <a:ext uri="{FF2B5EF4-FFF2-40B4-BE49-F238E27FC236}">
                <a16:creationId xmlns:a16="http://schemas.microsoft.com/office/drawing/2014/main" id="{D6E1A194-8A38-4631-BAC7-7BB3BDA98395}"/>
              </a:ext>
            </a:extLst>
          </p:cNvPr>
          <p:cNvSpPr>
            <a:spLocks xmlns:a="http://schemas.openxmlformats.org/drawingml/2006/main" noGrp="1"/>
          </p:cNvSpPr>
          <p:nvPr/>
        </p:nvSpPr>
        <p:spPr>
          <a:xfrm xmlns:a="http://schemas.openxmlformats.org/drawingml/2006/main">
            <a:off x="8714232" y="4348734"/>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29" name="Text 25">
            <a:extLst xmlns:a="http://schemas.openxmlformats.org/drawingml/2006/main">
              <a:ext uri="{FF2B5EF4-FFF2-40B4-BE49-F238E27FC236}">
                <a16:creationId xmlns:a16="http://schemas.microsoft.com/office/drawing/2014/main" id="{D90799E3-66CB-446D-B20E-D7D8B03D71F0}"/>
              </a:ext>
            </a:extLst>
          </p:cNvPr>
          <p:cNvSpPr>
            <a:spLocks xmlns:a="http://schemas.openxmlformats.org/drawingml/2006/main" noGrp="1"/>
          </p:cNvSpPr>
          <p:nvPr/>
        </p:nvSpPr>
        <p:spPr>
          <a:xfrm xmlns:a="http://schemas.openxmlformats.org/drawingml/2006/main">
            <a:off x="9144000" y="4279392"/>
            <a:ext cx="2224735"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300">
                <a:solidFill>
                  <a:srgbClr val="171717"/>
                </a:solidFill>
                <a:latin typeface="Helvetica Neue"/>
                <a:ea typeface="Helvetica Neue"/>
                <a:cs typeface="Helvetica Neue"/>
              </a:rPr>
              <a:t>The approved resume version used is recorded.</a:t>
            </a:r>
            <a:endParaRPr sz="1300"/>
          </a:p>
        </p:txBody>
      </p:sp>
      <p:sp>
        <p:nvSpPr>
          <p:cNvPr id="30" name="Shape 26">
            <a:extLst xmlns:a="http://schemas.openxmlformats.org/drawingml/2006/main">
              <a:ext uri="{FF2B5EF4-FFF2-40B4-BE49-F238E27FC236}">
                <a16:creationId xmlns:a16="http://schemas.microsoft.com/office/drawing/2014/main" id="{7CC1CBE6-0D95-4CC0-8B79-76CA077D5CF8}"/>
              </a:ext>
            </a:extLst>
          </p:cNvPr>
          <p:cNvSpPr>
            <a:spLocks xmlns:a="http://schemas.openxmlformats.org/drawingml/2006/main" noGrp="1"/>
          </p:cNvSpPr>
          <p:nvPr/>
        </p:nvSpPr>
        <p:spPr>
          <a:xfrm xmlns:a="http://schemas.openxmlformats.org/drawingml/2006/main">
            <a:off x="4807915" y="3785616"/>
            <a:ext cx="292608" cy="292608"/>
          </a:xfrm>
          <a:prstGeom xmlns:a="http://schemas.openxmlformats.org/drawingml/2006/main" prst="ellipse">
            <a:avLst/>
          </a:prstGeom>
          <a:solidFill xmlns:a="http://schemas.openxmlformats.org/drawingml/2006/main">
            <a:srgbClr val="1F7A5A"/>
          </a:solidFill>
          <a:ln xmlns:a="http://schemas.openxmlformats.org/drawingml/2006/main" w="19050">
            <a:solidFill>
              <a:srgbClr val="FFFFFF"/>
            </a:solidFill>
            <a:prstDash val="solid"/>
          </a:ln>
        </p:spPr>
      </p:sp>
      <p:sp>
        <p:nvSpPr>
          <p:cNvPr id="31" name="Text 27">
            <a:extLst xmlns:a="http://schemas.openxmlformats.org/drawingml/2006/main">
              <a:ext uri="{FF2B5EF4-FFF2-40B4-BE49-F238E27FC236}">
                <a16:creationId xmlns:a16="http://schemas.microsoft.com/office/drawing/2014/main" id="{8E8FA24E-2D43-463E-8835-721B9D3D5E1A}"/>
              </a:ext>
            </a:extLst>
          </p:cNvPr>
          <p:cNvSpPr>
            <a:spLocks xmlns:a="http://schemas.openxmlformats.org/drawingml/2006/main" noGrp="1"/>
          </p:cNvSpPr>
          <p:nvPr/>
        </p:nvSpPr>
        <p:spPr>
          <a:xfrm xmlns:a="http://schemas.openxmlformats.org/drawingml/2006/main">
            <a:off x="4807915" y="3828732"/>
            <a:ext cx="29260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b="1">
                <a:solidFill>
                  <a:srgbClr val="FFFFFF"/>
                </a:solidFill>
                <a:latin typeface="Helvetica Neue"/>
                <a:ea typeface="Helvetica Neue"/>
                <a:cs typeface="Helvetica Neue"/>
              </a:rPr>
              <a:t>3</a:t>
            </a:r>
            <a:endParaRPr sz="1300"/>
          </a:p>
        </p:txBody>
      </p:sp>
    </p:spTree>
    <p:extLst>
      <p:ext uri="{BB962C8B-B14F-4D97-AF65-F5344CB8AC3E}">
        <p14:creationId xmlns:p14="http://schemas.microsoft.com/office/powerpoint/2010/main" val="470885868"/>
      </p:ext>
    </p:extLst>
  </p:cSld>
</p:sld>
</file>

<file path=ppt/slides/slide14.xml><?xml version="1.0" encoding="utf-8"?>
<p:sld xmlns:p="http://schemas.openxmlformats.org/presentationml/2006/main">
  <p:cSld>
    <p:bg>
      <p:bgPr>
        <a:solidFill xmlns:a="http://schemas.openxmlformats.org/drawingml/2006/main">
          <a:srgbClr val="102A45"/>
        </a:solidFill>
      </p:bgPr>
    </p:bg>
    <p:spTree>
      <p:nvGrpSpPr>
        <p:cNvPr id="1" name=""/>
        <p:cNvGrpSpPr/>
        <p:nvPr/>
      </p:nvGrpSpPr>
      <p:grpSpPr>
        <a:xfrm xmlns:a="http://schemas.openxmlformats.org/drawingml/2006/main"/>
      </p:grpSpPr>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9ffb050733bf4f49"/>
          <a:srcRect xmlns:a="http://schemas.openxmlformats.org/drawingml/2006/main" l="0" t="0" r="0" b="0"/>
          <a:stretch xmlns:a="http://schemas.openxmlformats.org/drawingml/2006/main"/>
        </p:blipFill>
        <p:spPr>
          <a:xfrm xmlns:a="http://schemas.openxmlformats.org/drawingml/2006/main">
            <a:off x="8899855" y="0"/>
            <a:ext cx="3291840" cy="6858000"/>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F5F898AF-CDAE-46B7-9F2E-4640DFD7F375}"/>
              </a:ext>
            </a:extLst>
          </p:cNvPr>
          <p:cNvSpPr>
            <a:spLocks xmlns:a="http://schemas.openxmlformats.org/drawingml/2006/main" noGrp="1"/>
          </p:cNvSpPr>
          <p:nvPr/>
        </p:nvSpPr>
        <p:spPr>
          <a:xfrm xmlns:a="http://schemas.openxmlformats.org/drawingml/2006/main">
            <a:off x="822960" y="1005840"/>
            <a:ext cx="361188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0" b="1">
                <a:solidFill>
                  <a:srgbClr val="54667C"/>
                </a:solidFill>
                <a:latin typeface="Helvetica Neue"/>
                <a:ea typeface="Helvetica Neue"/>
                <a:cs typeface="Helvetica Neue"/>
              </a:rPr>
              <a:t>02</a:t>
            </a:r>
            <a:endParaRPr sz="9600"/>
          </a:p>
        </p:txBody>
      </p:sp>
      <p:sp>
        <p:nvSpPr>
          <p:cNvPr id="5" name="Text 1">
            <a:extLst xmlns:a="http://schemas.openxmlformats.org/drawingml/2006/main">
              <a:ext uri="{FF2B5EF4-FFF2-40B4-BE49-F238E27FC236}">
                <a16:creationId xmlns:a16="http://schemas.microsoft.com/office/drawing/2014/main" id="{FCA23B74-8133-431D-86FD-2BB314C9C130}"/>
              </a:ext>
            </a:extLst>
          </p:cNvPr>
          <p:cNvSpPr>
            <a:spLocks xmlns:a="http://schemas.openxmlformats.org/drawingml/2006/main" noGrp="1"/>
          </p:cNvSpPr>
          <p:nvPr/>
        </p:nvSpPr>
        <p:spPr>
          <a:xfrm xmlns:a="http://schemas.openxmlformats.org/drawingml/2006/main">
            <a:off x="822960" y="2560320"/>
            <a:ext cx="36118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4200"/>
              </a:lnSpc>
              <a:buNone/>
            </a:pPr>
            <a:r>
              <a:rPr sz="3600" b="1">
                <a:solidFill>
                  <a:srgbClr val="FFFFFF"/>
                </a:solidFill>
                <a:latin typeface="Helvetica Neue"/>
                <a:ea typeface="Helvetica Neue"/>
                <a:cs typeface="Helvetica Neue"/>
              </a:rPr>
              <a:t>What is built</a:t>
            </a:r>
            <a:endParaRPr sz="3600"/>
          </a:p>
          <a:p xmlns:a="http://schemas.openxmlformats.org/drawingml/2006/main">
            <a:pPr marL="0" indent="0">
              <a:lnSpc>
                <a:spcPts val="4200"/>
              </a:lnSpc>
              <a:buNone/>
            </a:pPr>
            <a:r>
              <a:rPr sz="3600" b="1">
                <a:solidFill>
                  <a:srgbClr val="FFFFFF"/>
                </a:solidFill>
                <a:latin typeface="Helvetica Neue"/>
                <a:ea typeface="Helvetica Neue"/>
                <a:cs typeface="Helvetica Neue"/>
              </a:rPr>
              <a:t>and how</a:t>
            </a:r>
            <a:endParaRPr sz="3600"/>
          </a:p>
          <a:p xmlns:a="http://schemas.openxmlformats.org/drawingml/2006/main">
            <a:pPr marL="0" indent="0">
              <a:lnSpc>
                <a:spcPts val="4200"/>
              </a:lnSpc>
              <a:buNone/>
            </a:pPr>
            <a:r>
              <a:rPr sz="3600" b="1">
                <a:solidFill>
                  <a:srgbClr val="FFFFFF"/>
                </a:solidFill>
                <a:latin typeface="Helvetica Neue"/>
                <a:ea typeface="Helvetica Neue"/>
                <a:cs typeface="Helvetica Neue"/>
              </a:rPr>
              <a:t>to run it</a:t>
            </a:r>
            <a:endParaRPr sz="3600"/>
          </a:p>
        </p:txBody>
      </p:sp>
      <p:sp>
        <p:nvSpPr>
          <p:cNvPr id="6" name="Text 2">
            <a:extLst xmlns:a="http://schemas.openxmlformats.org/drawingml/2006/main">
              <a:ext uri="{FF2B5EF4-FFF2-40B4-BE49-F238E27FC236}">
                <a16:creationId xmlns:a16="http://schemas.microsoft.com/office/drawing/2014/main" id="{370CA95F-124D-4773-9496-A08597CB7D93}"/>
              </a:ext>
            </a:extLst>
          </p:cNvPr>
          <p:cNvSpPr>
            <a:spLocks xmlns:a="http://schemas.openxmlformats.org/drawingml/2006/main" noGrp="1"/>
          </p:cNvSpPr>
          <p:nvPr/>
        </p:nvSpPr>
        <p:spPr>
          <a:xfrm xmlns:a="http://schemas.openxmlformats.org/drawingml/2006/main">
            <a:off x="822960" y="4617720"/>
            <a:ext cx="36118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700">
                <a:solidFill>
                  <a:srgbClr val="C6D5E8"/>
                </a:solidFill>
                <a:latin typeface="Helvetica Neue"/>
                <a:ea typeface="Helvetica Neue"/>
                <a:cs typeface="Helvetica Neue"/>
              </a:rPr>
              <a:t>The launch plan, the system, the code map and the gates.</a:t>
            </a:r>
            <a:endParaRPr sz="1700"/>
          </a:p>
        </p:txBody>
      </p:sp>
      <p:sp>
        <p:nvSpPr>
          <p:cNvPr id="7" name="Text 3">
            <a:extLst xmlns:a="http://schemas.openxmlformats.org/drawingml/2006/main">
              <a:ext uri="{FF2B5EF4-FFF2-40B4-BE49-F238E27FC236}">
                <a16:creationId xmlns:a16="http://schemas.microsoft.com/office/drawing/2014/main" id="{A8BFB3FA-7D10-4FAB-B263-2B990E2A0DCE}"/>
              </a:ext>
            </a:extLst>
          </p:cNvPr>
          <p:cNvSpPr>
            <a:spLocks xmlns:a="http://schemas.openxmlformats.org/drawingml/2006/main" noGrp="1"/>
          </p:cNvSpPr>
          <p:nvPr/>
        </p:nvSpPr>
        <p:spPr>
          <a:xfrm xmlns:a="http://schemas.openxmlformats.org/drawingml/2006/main">
            <a:off x="4617720" y="1298448"/>
            <a:ext cx="4069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86B0FF"/>
                </a:solidFill>
                <a:latin typeface="Helvetica Neue"/>
                <a:ea typeface="Helvetica Neue"/>
                <a:cs typeface="Helvetica Neue"/>
              </a:rPr>
              <a:t>IN THIS PART</a:t>
            </a:r>
            <a:endParaRPr sz="1100"/>
          </a:p>
        </p:txBody>
      </p:sp>
      <p:sp>
        <p:nvSpPr>
          <p:cNvPr id="8" name="Text 4">
            <a:extLst xmlns:a="http://schemas.openxmlformats.org/drawingml/2006/main">
              <a:ext uri="{FF2B5EF4-FFF2-40B4-BE49-F238E27FC236}">
                <a16:creationId xmlns:a16="http://schemas.microsoft.com/office/drawing/2014/main" id="{5E46D6F3-68B9-4E76-84FA-8C6C8772D1E5}"/>
              </a:ext>
            </a:extLst>
          </p:cNvPr>
          <p:cNvSpPr>
            <a:spLocks xmlns:a="http://schemas.openxmlformats.org/drawingml/2006/main" noGrp="1"/>
          </p:cNvSpPr>
          <p:nvPr/>
        </p:nvSpPr>
        <p:spPr>
          <a:xfrm xmlns:a="http://schemas.openxmlformats.org/drawingml/2006/main">
            <a:off x="4617720" y="171907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15 · What is built and what remains</a:t>
            </a:r>
            <a:endParaRPr sz="1250"/>
          </a:p>
        </p:txBody>
      </p:sp>
      <p:sp>
        <p:nvSpPr>
          <p:cNvPr id="9" name="Text 5">
            <a:extLst xmlns:a="http://schemas.openxmlformats.org/drawingml/2006/main">
              <a:ext uri="{FF2B5EF4-FFF2-40B4-BE49-F238E27FC236}">
                <a16:creationId xmlns:a16="http://schemas.microsoft.com/office/drawing/2014/main" id="{C5AF0D87-6674-4ACF-BC06-70A492106170}"/>
              </a:ext>
            </a:extLst>
          </p:cNvPr>
          <p:cNvSpPr>
            <a:spLocks xmlns:a="http://schemas.openxmlformats.org/drawingml/2006/main" noGrp="1"/>
          </p:cNvSpPr>
          <p:nvPr/>
        </p:nvSpPr>
        <p:spPr>
          <a:xfrm xmlns:a="http://schemas.openxmlformats.org/drawingml/2006/main">
            <a:off x="4617720" y="2103120"/>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16 · The accepted launch plan</a:t>
            </a:r>
            <a:endParaRPr sz="1250"/>
          </a:p>
        </p:txBody>
      </p:sp>
      <p:sp>
        <p:nvSpPr>
          <p:cNvPr id="10" name="Text 6">
            <a:extLst xmlns:a="http://schemas.openxmlformats.org/drawingml/2006/main">
              <a:ext uri="{FF2B5EF4-FFF2-40B4-BE49-F238E27FC236}">
                <a16:creationId xmlns:a16="http://schemas.microsoft.com/office/drawing/2014/main" id="{B0F74367-CB6C-425A-B79D-6F3BDA7FF6D1}"/>
              </a:ext>
            </a:extLst>
          </p:cNvPr>
          <p:cNvSpPr>
            <a:spLocks xmlns:a="http://schemas.openxmlformats.org/drawingml/2006/main" noGrp="1"/>
          </p:cNvSpPr>
          <p:nvPr/>
        </p:nvSpPr>
        <p:spPr>
          <a:xfrm xmlns:a="http://schemas.openxmlformats.org/drawingml/2006/main">
            <a:off x="4617720" y="2487168"/>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17 · AI access at launch and later</a:t>
            </a:r>
            <a:endParaRPr sz="1250"/>
          </a:p>
        </p:txBody>
      </p:sp>
      <p:sp>
        <p:nvSpPr>
          <p:cNvPr id="11" name="Text 7">
            <a:extLst xmlns:a="http://schemas.openxmlformats.org/drawingml/2006/main">
              <a:ext uri="{FF2B5EF4-FFF2-40B4-BE49-F238E27FC236}">
                <a16:creationId xmlns:a16="http://schemas.microsoft.com/office/drawing/2014/main" id="{909BC407-E640-4CCA-A1A5-0C155AC1B5C7}"/>
              </a:ext>
            </a:extLst>
          </p:cNvPr>
          <p:cNvSpPr>
            <a:spLocks xmlns:a="http://schemas.openxmlformats.org/drawingml/2006/main" noGrp="1"/>
          </p:cNvSpPr>
          <p:nvPr/>
        </p:nvSpPr>
        <p:spPr>
          <a:xfrm xmlns:a="http://schemas.openxmlformats.org/drawingml/2006/main">
            <a:off x="4617720" y="2871216"/>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18 · The current system</a:t>
            </a:r>
            <a:endParaRPr sz="1250"/>
          </a:p>
        </p:txBody>
      </p:sp>
      <p:sp>
        <p:nvSpPr>
          <p:cNvPr id="12" name="Text 8">
            <a:extLst xmlns:a="http://schemas.openxmlformats.org/drawingml/2006/main">
              <a:ext uri="{FF2B5EF4-FFF2-40B4-BE49-F238E27FC236}">
                <a16:creationId xmlns:a16="http://schemas.microsoft.com/office/drawing/2014/main" id="{6E987A9C-9ED2-43FC-90FC-C7D2F689C537}"/>
              </a:ext>
            </a:extLst>
          </p:cNvPr>
          <p:cNvSpPr>
            <a:spLocks xmlns:a="http://schemas.openxmlformats.org/drawingml/2006/main" noGrp="1"/>
          </p:cNvSpPr>
          <p:nvPr/>
        </p:nvSpPr>
        <p:spPr>
          <a:xfrm xmlns:a="http://schemas.openxmlformats.org/drawingml/2006/main">
            <a:off x="4617720" y="3255264"/>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19 · Where the next engineer works</a:t>
            </a:r>
            <a:endParaRPr sz="1250"/>
          </a:p>
        </p:txBody>
      </p:sp>
      <p:sp>
        <p:nvSpPr>
          <p:cNvPr id="13" name="Text 9">
            <a:extLst xmlns:a="http://schemas.openxmlformats.org/drawingml/2006/main">
              <a:ext uri="{FF2B5EF4-FFF2-40B4-BE49-F238E27FC236}">
                <a16:creationId xmlns:a16="http://schemas.microsoft.com/office/drawing/2014/main" id="{833A2E48-EC3C-4291-809C-29A1EEC3B3E6}"/>
              </a:ext>
            </a:extLst>
          </p:cNvPr>
          <p:cNvSpPr>
            <a:spLocks xmlns:a="http://schemas.openxmlformats.org/drawingml/2006/main" noGrp="1"/>
          </p:cNvSpPr>
          <p:nvPr/>
        </p:nvSpPr>
        <p:spPr>
          <a:xfrm xmlns:a="http://schemas.openxmlformats.org/drawingml/2006/main">
            <a:off x="4617720" y="363931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20 · Rules to preserve in every refactor</a:t>
            </a:r>
            <a:endParaRPr sz="1250"/>
          </a:p>
        </p:txBody>
      </p:sp>
      <p:sp>
        <p:nvSpPr>
          <p:cNvPr id="14" name="Text 10">
            <a:extLst xmlns:a="http://schemas.openxmlformats.org/drawingml/2006/main">
              <a:ext uri="{FF2B5EF4-FFF2-40B4-BE49-F238E27FC236}">
                <a16:creationId xmlns:a16="http://schemas.microsoft.com/office/drawing/2014/main" id="{7F0505C1-A384-46AE-8A31-1648E8BD3116}"/>
              </a:ext>
            </a:extLst>
          </p:cNvPr>
          <p:cNvSpPr>
            <a:spLocks xmlns:a="http://schemas.openxmlformats.org/drawingml/2006/main" noGrp="1"/>
          </p:cNvSpPr>
          <p:nvPr/>
        </p:nvSpPr>
        <p:spPr>
          <a:xfrm xmlns:a="http://schemas.openxmlformats.org/drawingml/2006/main">
            <a:off x="4617720" y="4023360"/>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21 · The pilot hosting model</a:t>
            </a:r>
            <a:endParaRPr sz="1250"/>
          </a:p>
        </p:txBody>
      </p:sp>
      <p:sp>
        <p:nvSpPr>
          <p:cNvPr id="15" name="Text 11">
            <a:extLst xmlns:a="http://schemas.openxmlformats.org/drawingml/2006/main">
              <a:ext uri="{FF2B5EF4-FFF2-40B4-BE49-F238E27FC236}">
                <a16:creationId xmlns:a16="http://schemas.microsoft.com/office/drawing/2014/main" id="{19285C04-FA11-439B-88F7-AD5FDDB7E5A1}"/>
              </a:ext>
            </a:extLst>
          </p:cNvPr>
          <p:cNvSpPr>
            <a:spLocks xmlns:a="http://schemas.openxmlformats.org/drawingml/2006/main" noGrp="1"/>
          </p:cNvSpPr>
          <p:nvPr/>
        </p:nvSpPr>
        <p:spPr>
          <a:xfrm xmlns:a="http://schemas.openxmlformats.org/drawingml/2006/main">
            <a:off x="4617720" y="4407408"/>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22 · Launch work in dependency order</a:t>
            </a:r>
            <a:endParaRPr sz="1250"/>
          </a:p>
        </p:txBody>
      </p:sp>
      <p:sp>
        <p:nvSpPr>
          <p:cNvPr id="16" name="Text 12">
            <a:extLst xmlns:a="http://schemas.openxmlformats.org/drawingml/2006/main">
              <a:ext uri="{FF2B5EF4-FFF2-40B4-BE49-F238E27FC236}">
                <a16:creationId xmlns:a16="http://schemas.microsoft.com/office/drawing/2014/main" id="{AA766507-38AB-4091-9037-4249D65C1028}"/>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FA6C4"/>
                </a:solidFill>
                <a:latin typeface="Helvetica Neue"/>
                <a:ea typeface="Helvetica Neue"/>
                <a:cs typeface="Helvetica Neue"/>
              </a:rPr>
              <a:t>Career Studio · Product handoff · September 9, 2026</a:t>
            </a:r>
            <a:endParaRPr sz="900"/>
          </a:p>
        </p:txBody>
      </p:sp>
      <p:sp>
        <p:nvSpPr>
          <p:cNvPr id="17" name="Text 13">
            <a:extLst xmlns:a="http://schemas.openxmlformats.org/drawingml/2006/main">
              <a:ext uri="{FF2B5EF4-FFF2-40B4-BE49-F238E27FC236}">
                <a16:creationId xmlns:a16="http://schemas.microsoft.com/office/drawing/2014/main" id="{44A0AED0-AE63-4473-ABAF-FE653DEEB8CE}"/>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FA6C4"/>
                </a:solidFill>
                <a:latin typeface="Helvetica Neue"/>
                <a:ea typeface="Helvetica Neue"/>
                <a:cs typeface="Helvetica Neue"/>
              </a:rPr>
              <a:t>14 / 29</a:t>
            </a:r>
            <a:endParaRPr sz="900"/>
          </a:p>
        </p:txBody>
      </p:sp>
    </p:spTree>
    <p:extLst>
      <p:ext uri="{BB962C8B-B14F-4D97-AF65-F5344CB8AC3E}">
        <p14:creationId xmlns:p14="http://schemas.microsoft.com/office/powerpoint/2010/main" val="19145684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10EA6F4D-32C8-4B51-A62D-C1146FA179BE}"/>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3C43C191-6400-445F-8072-711C689F2B13}"/>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2677F"/>
          </a:solidFill>
          <a:ln xmlns:a="http://schemas.openxmlformats.org/drawingml/2006/main" w="12700">
            <a:solidFill>
              <a:srgbClr val="52677F"/>
            </a:solidFill>
            <a:prstDash val="solid"/>
          </a:ln>
        </p:spPr>
      </p:sp>
      <p:sp>
        <p:nvSpPr>
          <p:cNvPr id="5" name="Text 2">
            <a:extLst xmlns:a="http://schemas.openxmlformats.org/drawingml/2006/main">
              <a:ext uri="{FF2B5EF4-FFF2-40B4-BE49-F238E27FC236}">
                <a16:creationId xmlns:a16="http://schemas.microsoft.com/office/drawing/2014/main" id="{0F3161A6-D734-4A1A-AACF-61D98EE3C37B}"/>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80745B0C-42F7-46DE-8863-51789F188CA8}"/>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What is built and what remains</a:t>
            </a:r>
            <a:endParaRPr sz="3000"/>
          </a:p>
        </p:txBody>
      </p:sp>
      <p:sp>
        <p:nvSpPr>
          <p:cNvPr id="7" name="Text 4">
            <a:extLst xmlns:a="http://schemas.openxmlformats.org/drawingml/2006/main">
              <a:ext uri="{FF2B5EF4-FFF2-40B4-BE49-F238E27FC236}">
                <a16:creationId xmlns:a16="http://schemas.microsoft.com/office/drawing/2014/main" id="{5E5917A9-66AF-4B7F-8722-2C34499066B3}"/>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Six capabilities are implemented in the product. Six more are launch work.</a:t>
            </a:r>
            <a:endParaRPr sz="1500"/>
          </a:p>
        </p:txBody>
      </p:sp>
      <p:sp>
        <p:nvSpPr>
          <p:cNvPr id="8" name="Shape 5">
            <a:extLst xmlns:a="http://schemas.openxmlformats.org/drawingml/2006/main">
              <a:ext uri="{FF2B5EF4-FFF2-40B4-BE49-F238E27FC236}">
                <a16:creationId xmlns:a16="http://schemas.microsoft.com/office/drawing/2014/main" id="{C10E07DC-11B0-4990-B914-C68D96D265F1}"/>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970E9885-2DCF-4C3F-8CAE-C48BA5A469DC}"/>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414F8093-29F2-4B3A-88F8-D1389C2129C4}"/>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15 / 29</a:t>
            </a:r>
            <a:endParaRPr sz="900"/>
          </a:p>
        </p:txBody>
      </p:sp>
      <p:sp>
        <p:nvSpPr>
          <p:cNvPr id="11" name="Shape 8">
            <a:extLst xmlns:a="http://schemas.openxmlformats.org/drawingml/2006/main">
              <a:ext uri="{FF2B5EF4-FFF2-40B4-BE49-F238E27FC236}">
                <a16:creationId xmlns:a16="http://schemas.microsoft.com/office/drawing/2014/main" id="{7651C93C-AB44-47AD-B1AF-8FC01039125F}"/>
              </a:ext>
            </a:extLst>
          </p:cNvPr>
          <p:cNvSpPr>
            <a:spLocks xmlns:a="http://schemas.openxmlformats.org/drawingml/2006/main" noGrp="1"/>
          </p:cNvSpPr>
          <p:nvPr/>
        </p:nvSpPr>
        <p:spPr>
          <a:xfrm xmlns:a="http://schemas.openxmlformats.org/drawingml/2006/main">
            <a:off x="548640" y="1554480"/>
            <a:ext cx="5432908" cy="3246120"/>
          </a:xfrm>
          <a:prstGeom xmlns:a="http://schemas.openxmlformats.org/drawingml/2006/main" prst="roundRect">
            <a:avLst>
              <a:gd name="adj" fmla="val 2254"/>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02ABA5B4-4A14-4772-8904-834A1A5E2A3E}"/>
              </a:ext>
            </a:extLst>
          </p:cNvPr>
          <p:cNvSpPr>
            <a:spLocks xmlns:a="http://schemas.openxmlformats.org/drawingml/2006/main" noGrp="1"/>
          </p:cNvSpPr>
          <p:nvPr/>
        </p:nvSpPr>
        <p:spPr>
          <a:xfrm xmlns:a="http://schemas.openxmlformats.org/drawingml/2006/main">
            <a:off x="557784" y="1664208"/>
            <a:ext cx="54864" cy="302666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3" name="Text 10">
            <a:extLst xmlns:a="http://schemas.openxmlformats.org/drawingml/2006/main">
              <a:ext uri="{FF2B5EF4-FFF2-40B4-BE49-F238E27FC236}">
                <a16:creationId xmlns:a16="http://schemas.microsoft.com/office/drawing/2014/main" id="{7ADD560E-21C8-407E-B7E5-830476A31339}"/>
              </a:ext>
            </a:extLst>
          </p:cNvPr>
          <p:cNvSpPr>
            <a:spLocks xmlns:a="http://schemas.openxmlformats.org/drawingml/2006/main" noGrp="1"/>
          </p:cNvSpPr>
          <p:nvPr/>
        </p:nvSpPr>
        <p:spPr>
          <a:xfrm xmlns:a="http://schemas.openxmlformats.org/drawingml/2006/main">
            <a:off x="804672"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IMPLEMENTED IN THE PRODUCT</a:t>
            </a:r>
            <a:endParaRPr sz="1100"/>
          </a:p>
        </p:txBody>
      </p:sp>
      <p:sp>
        <p:nvSpPr>
          <p:cNvPr id="14" name="Shape 11">
            <a:extLst xmlns:a="http://schemas.openxmlformats.org/drawingml/2006/main">
              <a:ext uri="{FF2B5EF4-FFF2-40B4-BE49-F238E27FC236}">
                <a16:creationId xmlns:a16="http://schemas.microsoft.com/office/drawing/2014/main" id="{EF6E6EAF-D82B-4631-B318-00B2BE8CFFB0}"/>
              </a:ext>
            </a:extLst>
          </p:cNvPr>
          <p:cNvSpPr>
            <a:spLocks xmlns:a="http://schemas.openxmlformats.org/drawingml/2006/main" noGrp="1"/>
          </p:cNvSpPr>
          <p:nvPr/>
        </p:nvSpPr>
        <p:spPr>
          <a:xfrm xmlns:a="http://schemas.openxmlformats.org/drawingml/2006/main">
            <a:off x="804672" y="234772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5" name="Text 12">
            <a:extLst xmlns:a="http://schemas.openxmlformats.org/drawingml/2006/main">
              <a:ext uri="{FF2B5EF4-FFF2-40B4-BE49-F238E27FC236}">
                <a16:creationId xmlns:a16="http://schemas.microsoft.com/office/drawing/2014/main" id="{3BD7833F-F096-438D-B6D1-3C55567E7B3A}"/>
              </a:ext>
            </a:extLst>
          </p:cNvPr>
          <p:cNvSpPr>
            <a:spLocks xmlns:a="http://schemas.openxmlformats.org/drawingml/2006/main" noGrp="1"/>
          </p:cNvSpPr>
          <p:nvPr/>
        </p:nvSpPr>
        <p:spPr>
          <a:xfrm xmlns:a="http://schemas.openxmlformats.org/drawingml/2006/main">
            <a:off x="1024128" y="224942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Accounts and private records</a:t>
            </a:r>
            <a:endParaRPr sz="1500"/>
          </a:p>
        </p:txBody>
      </p:sp>
      <p:sp>
        <p:nvSpPr>
          <p:cNvPr id="16" name="Shape 13">
            <a:extLst xmlns:a="http://schemas.openxmlformats.org/drawingml/2006/main">
              <a:ext uri="{FF2B5EF4-FFF2-40B4-BE49-F238E27FC236}">
                <a16:creationId xmlns:a16="http://schemas.microsoft.com/office/drawing/2014/main" id="{E76631AB-565C-447F-A6FE-BECB34AF0EFD}"/>
              </a:ext>
            </a:extLst>
          </p:cNvPr>
          <p:cNvSpPr>
            <a:spLocks xmlns:a="http://schemas.openxmlformats.org/drawingml/2006/main" noGrp="1"/>
          </p:cNvSpPr>
          <p:nvPr/>
        </p:nvSpPr>
        <p:spPr>
          <a:xfrm xmlns:a="http://schemas.openxmlformats.org/drawingml/2006/main">
            <a:off x="804672" y="2750058"/>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7" name="Text 14">
            <a:extLst xmlns:a="http://schemas.openxmlformats.org/drawingml/2006/main">
              <a:ext uri="{FF2B5EF4-FFF2-40B4-BE49-F238E27FC236}">
                <a16:creationId xmlns:a16="http://schemas.microsoft.com/office/drawing/2014/main" id="{E2BEB5D4-6536-419D-AE1F-8ED317469729}"/>
              </a:ext>
            </a:extLst>
          </p:cNvPr>
          <p:cNvSpPr>
            <a:spLocks xmlns:a="http://schemas.openxmlformats.org/drawingml/2006/main" noGrp="1"/>
          </p:cNvSpPr>
          <p:nvPr/>
        </p:nvSpPr>
        <p:spPr>
          <a:xfrm xmlns:a="http://schemas.openxmlformats.org/drawingml/2006/main">
            <a:off x="1024128" y="2651760"/>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Resume intake and detailed profiles</a:t>
            </a:r>
            <a:endParaRPr sz="1500"/>
          </a:p>
        </p:txBody>
      </p:sp>
      <p:sp>
        <p:nvSpPr>
          <p:cNvPr id="18" name="Shape 15">
            <a:extLst xmlns:a="http://schemas.openxmlformats.org/drawingml/2006/main">
              <a:ext uri="{FF2B5EF4-FFF2-40B4-BE49-F238E27FC236}">
                <a16:creationId xmlns:a16="http://schemas.microsoft.com/office/drawing/2014/main" id="{FC076708-CFD2-4434-9529-1EA211D145F2}"/>
              </a:ext>
            </a:extLst>
          </p:cNvPr>
          <p:cNvSpPr>
            <a:spLocks xmlns:a="http://schemas.openxmlformats.org/drawingml/2006/main" noGrp="1"/>
          </p:cNvSpPr>
          <p:nvPr/>
        </p:nvSpPr>
        <p:spPr>
          <a:xfrm xmlns:a="http://schemas.openxmlformats.org/drawingml/2006/main">
            <a:off x="804672" y="3152394"/>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9" name="Text 16">
            <a:extLst xmlns:a="http://schemas.openxmlformats.org/drawingml/2006/main">
              <a:ext uri="{FF2B5EF4-FFF2-40B4-BE49-F238E27FC236}">
                <a16:creationId xmlns:a16="http://schemas.microsoft.com/office/drawing/2014/main" id="{C304FB91-575A-4746-838F-5BB3B45E45AF}"/>
              </a:ext>
            </a:extLst>
          </p:cNvPr>
          <p:cNvSpPr>
            <a:spLocks xmlns:a="http://schemas.openxmlformats.org/drawingml/2006/main" noGrp="1"/>
          </p:cNvSpPr>
          <p:nvPr/>
        </p:nvSpPr>
        <p:spPr>
          <a:xfrm xmlns:a="http://schemas.openxmlformats.org/drawingml/2006/main">
            <a:off x="1024128" y="3054096"/>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AI adapter with approval steps</a:t>
            </a:r>
            <a:endParaRPr sz="1500"/>
          </a:p>
        </p:txBody>
      </p:sp>
      <p:sp>
        <p:nvSpPr>
          <p:cNvPr id="20" name="Shape 17">
            <a:extLst xmlns:a="http://schemas.openxmlformats.org/drawingml/2006/main">
              <a:ext uri="{FF2B5EF4-FFF2-40B4-BE49-F238E27FC236}">
                <a16:creationId xmlns:a16="http://schemas.microsoft.com/office/drawing/2014/main" id="{04EB5FB4-9AF8-4EBF-A8CC-A718D3BD1CD6}"/>
              </a:ext>
            </a:extLst>
          </p:cNvPr>
          <p:cNvSpPr>
            <a:spLocks xmlns:a="http://schemas.openxmlformats.org/drawingml/2006/main" noGrp="1"/>
          </p:cNvSpPr>
          <p:nvPr/>
        </p:nvSpPr>
        <p:spPr>
          <a:xfrm xmlns:a="http://schemas.openxmlformats.org/drawingml/2006/main">
            <a:off x="804672" y="3554730"/>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1" name="Text 18">
            <a:extLst xmlns:a="http://schemas.openxmlformats.org/drawingml/2006/main">
              <a:ext uri="{FF2B5EF4-FFF2-40B4-BE49-F238E27FC236}">
                <a16:creationId xmlns:a16="http://schemas.microsoft.com/office/drawing/2014/main" id="{2B925D9D-A487-4971-9746-340BFC08FFCA}"/>
              </a:ext>
            </a:extLst>
          </p:cNvPr>
          <p:cNvSpPr>
            <a:spLocks xmlns:a="http://schemas.openxmlformats.org/drawingml/2006/main" noGrp="1"/>
          </p:cNvSpPr>
          <p:nvPr/>
        </p:nvSpPr>
        <p:spPr>
          <a:xfrm xmlns:a="http://schemas.openxmlformats.org/drawingml/2006/main">
            <a:off x="1024128" y="3456432"/>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Resume versions and job reviews</a:t>
            </a:r>
            <a:endParaRPr sz="1500"/>
          </a:p>
        </p:txBody>
      </p:sp>
      <p:sp>
        <p:nvSpPr>
          <p:cNvPr id="22" name="Shape 19">
            <a:extLst xmlns:a="http://schemas.openxmlformats.org/drawingml/2006/main">
              <a:ext uri="{FF2B5EF4-FFF2-40B4-BE49-F238E27FC236}">
                <a16:creationId xmlns:a16="http://schemas.microsoft.com/office/drawing/2014/main" id="{0288301E-176A-4BFB-B55F-B76AE180B497}"/>
              </a:ext>
            </a:extLst>
          </p:cNvPr>
          <p:cNvSpPr>
            <a:spLocks xmlns:a="http://schemas.openxmlformats.org/drawingml/2006/main" noGrp="1"/>
          </p:cNvSpPr>
          <p:nvPr/>
        </p:nvSpPr>
        <p:spPr>
          <a:xfrm xmlns:a="http://schemas.openxmlformats.org/drawingml/2006/main">
            <a:off x="804672" y="3957066"/>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3" name="Text 20">
            <a:extLst xmlns:a="http://schemas.openxmlformats.org/drawingml/2006/main">
              <a:ext uri="{FF2B5EF4-FFF2-40B4-BE49-F238E27FC236}">
                <a16:creationId xmlns:a16="http://schemas.microsoft.com/office/drawing/2014/main" id="{FE49DCE1-8B8E-4A07-A31B-C05050720D31}"/>
              </a:ext>
            </a:extLst>
          </p:cNvPr>
          <p:cNvSpPr>
            <a:spLocks xmlns:a="http://schemas.openxmlformats.org/drawingml/2006/main" noGrp="1"/>
          </p:cNvSpPr>
          <p:nvPr/>
        </p:nvSpPr>
        <p:spPr>
          <a:xfrm xmlns:a="http://schemas.openxmlformats.org/drawingml/2006/main">
            <a:off x="1024128" y="3858768"/>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Application tracker and backups</a:t>
            </a:r>
            <a:endParaRPr sz="1500"/>
          </a:p>
        </p:txBody>
      </p:sp>
      <p:sp>
        <p:nvSpPr>
          <p:cNvPr id="24" name="Shape 21">
            <a:extLst xmlns:a="http://schemas.openxmlformats.org/drawingml/2006/main">
              <a:ext uri="{FF2B5EF4-FFF2-40B4-BE49-F238E27FC236}">
                <a16:creationId xmlns:a16="http://schemas.microsoft.com/office/drawing/2014/main" id="{32E12D02-F72C-46E2-994E-B158CFD9B7C6}"/>
              </a:ext>
            </a:extLst>
          </p:cNvPr>
          <p:cNvSpPr>
            <a:spLocks xmlns:a="http://schemas.openxmlformats.org/drawingml/2006/main" noGrp="1"/>
          </p:cNvSpPr>
          <p:nvPr/>
        </p:nvSpPr>
        <p:spPr>
          <a:xfrm xmlns:a="http://schemas.openxmlformats.org/drawingml/2006/main">
            <a:off x="804672" y="435940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5" name="Text 22">
            <a:extLst xmlns:a="http://schemas.openxmlformats.org/drawingml/2006/main">
              <a:ext uri="{FF2B5EF4-FFF2-40B4-BE49-F238E27FC236}">
                <a16:creationId xmlns:a16="http://schemas.microsoft.com/office/drawing/2014/main" id="{A26077F7-A7DA-47E5-A0A2-D37FCBB874A3}"/>
              </a:ext>
            </a:extLst>
          </p:cNvPr>
          <p:cNvSpPr>
            <a:spLocks xmlns:a="http://schemas.openxmlformats.org/drawingml/2006/main" noGrp="1"/>
          </p:cNvSpPr>
          <p:nvPr/>
        </p:nvSpPr>
        <p:spPr>
          <a:xfrm xmlns:a="http://schemas.openxmlformats.org/drawingml/2006/main">
            <a:off x="1024128" y="426110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Account-free demo</a:t>
            </a:r>
            <a:endParaRPr sz="1500"/>
          </a:p>
        </p:txBody>
      </p:sp>
      <p:sp>
        <p:nvSpPr>
          <p:cNvPr id="26" name="Shape 23">
            <a:extLst xmlns:a="http://schemas.openxmlformats.org/drawingml/2006/main">
              <a:ext uri="{FF2B5EF4-FFF2-40B4-BE49-F238E27FC236}">
                <a16:creationId xmlns:a16="http://schemas.microsoft.com/office/drawing/2014/main" id="{0B822081-BA0C-4C93-B1B0-8C15D118031B}"/>
              </a:ext>
            </a:extLst>
          </p:cNvPr>
          <p:cNvSpPr>
            <a:spLocks xmlns:a="http://schemas.openxmlformats.org/drawingml/2006/main" noGrp="1"/>
          </p:cNvSpPr>
          <p:nvPr/>
        </p:nvSpPr>
        <p:spPr>
          <a:xfrm xmlns:a="http://schemas.openxmlformats.org/drawingml/2006/main">
            <a:off x="6210148" y="1554480"/>
            <a:ext cx="5432908" cy="3246120"/>
          </a:xfrm>
          <a:prstGeom xmlns:a="http://schemas.openxmlformats.org/drawingml/2006/main" prst="roundRect">
            <a:avLst>
              <a:gd name="adj" fmla="val 2254"/>
            </a:avLst>
          </a:prstGeom>
          <a:solidFill xmlns:a="http://schemas.openxmlformats.org/drawingml/2006/main">
            <a:srgbClr val="F3F6FB"/>
          </a:solidFill>
          <a:ln xmlns:a="http://schemas.openxmlformats.org/drawingml/2006/main" w="9525">
            <a:solidFill>
              <a:srgbClr val="C9D6E8"/>
            </a:solidFill>
            <a:prstDash val="solid"/>
          </a:ln>
        </p:spPr>
      </p:sp>
      <p:sp>
        <p:nvSpPr>
          <p:cNvPr id="27" name="Shape 24">
            <a:extLst xmlns:a="http://schemas.openxmlformats.org/drawingml/2006/main">
              <a:ext uri="{FF2B5EF4-FFF2-40B4-BE49-F238E27FC236}">
                <a16:creationId xmlns:a16="http://schemas.microsoft.com/office/drawing/2014/main" id="{8F9B5CDB-FA6F-432F-B986-4B38DF547DB3}"/>
              </a:ext>
            </a:extLst>
          </p:cNvPr>
          <p:cNvSpPr>
            <a:spLocks xmlns:a="http://schemas.openxmlformats.org/drawingml/2006/main" noGrp="1"/>
          </p:cNvSpPr>
          <p:nvPr/>
        </p:nvSpPr>
        <p:spPr>
          <a:xfrm xmlns:a="http://schemas.openxmlformats.org/drawingml/2006/main">
            <a:off x="6219292" y="1664208"/>
            <a:ext cx="54864" cy="302666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8" name="Text 25">
            <a:extLst xmlns:a="http://schemas.openxmlformats.org/drawingml/2006/main">
              <a:ext uri="{FF2B5EF4-FFF2-40B4-BE49-F238E27FC236}">
                <a16:creationId xmlns:a16="http://schemas.microsoft.com/office/drawing/2014/main" id="{6BF4409C-3223-440E-8E98-AC08E0EE326F}"/>
              </a:ext>
            </a:extLst>
          </p:cNvPr>
          <p:cNvSpPr>
            <a:spLocks xmlns:a="http://schemas.openxmlformats.org/drawingml/2006/main" noGrp="1"/>
          </p:cNvSpPr>
          <p:nvPr/>
        </p:nvSpPr>
        <p:spPr>
          <a:xfrm xmlns:a="http://schemas.openxmlformats.org/drawingml/2006/main">
            <a:off x="6466180"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REQUIRES LAUNCH WORK</a:t>
            </a:r>
            <a:endParaRPr sz="1100"/>
          </a:p>
        </p:txBody>
      </p:sp>
      <p:sp>
        <p:nvSpPr>
          <p:cNvPr id="29" name="Shape 26">
            <a:extLst xmlns:a="http://schemas.openxmlformats.org/drawingml/2006/main">
              <a:ext uri="{FF2B5EF4-FFF2-40B4-BE49-F238E27FC236}">
                <a16:creationId xmlns:a16="http://schemas.microsoft.com/office/drawing/2014/main" id="{3DEF0E67-713F-477F-9D88-BEC49A1A4078}"/>
              </a:ext>
            </a:extLst>
          </p:cNvPr>
          <p:cNvSpPr>
            <a:spLocks xmlns:a="http://schemas.openxmlformats.org/drawingml/2006/main" noGrp="1"/>
          </p:cNvSpPr>
          <p:nvPr/>
        </p:nvSpPr>
        <p:spPr>
          <a:xfrm xmlns:a="http://schemas.openxmlformats.org/drawingml/2006/main">
            <a:off x="6466180" y="234772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0" name="Text 27">
            <a:extLst xmlns:a="http://schemas.openxmlformats.org/drawingml/2006/main">
              <a:ext uri="{FF2B5EF4-FFF2-40B4-BE49-F238E27FC236}">
                <a16:creationId xmlns:a16="http://schemas.microsoft.com/office/drawing/2014/main" id="{34D44734-9C29-4345-9CA3-90D108C112F2}"/>
              </a:ext>
            </a:extLst>
          </p:cNvPr>
          <p:cNvSpPr>
            <a:spLocks xmlns:a="http://schemas.openxmlformats.org/drawingml/2006/main" noGrp="1"/>
          </p:cNvSpPr>
          <p:nvPr/>
        </p:nvSpPr>
        <p:spPr>
          <a:xfrm xmlns:a="http://schemas.openxmlformats.org/drawingml/2006/main">
            <a:off x="6685636" y="224942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Live AI and hosted validation</a:t>
            </a:r>
            <a:endParaRPr sz="1500"/>
          </a:p>
        </p:txBody>
      </p:sp>
      <p:sp>
        <p:nvSpPr>
          <p:cNvPr id="31" name="Shape 28">
            <a:extLst xmlns:a="http://schemas.openxmlformats.org/drawingml/2006/main">
              <a:ext uri="{FF2B5EF4-FFF2-40B4-BE49-F238E27FC236}">
                <a16:creationId xmlns:a16="http://schemas.microsoft.com/office/drawing/2014/main" id="{DD82B201-2519-470F-A5FC-63E5EEFE292A}"/>
              </a:ext>
            </a:extLst>
          </p:cNvPr>
          <p:cNvSpPr>
            <a:spLocks xmlns:a="http://schemas.openxmlformats.org/drawingml/2006/main" noGrp="1"/>
          </p:cNvSpPr>
          <p:nvPr/>
        </p:nvSpPr>
        <p:spPr>
          <a:xfrm xmlns:a="http://schemas.openxmlformats.org/drawingml/2006/main">
            <a:off x="6466180" y="2750058"/>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2" name="Text 29">
            <a:extLst xmlns:a="http://schemas.openxmlformats.org/drawingml/2006/main">
              <a:ext uri="{FF2B5EF4-FFF2-40B4-BE49-F238E27FC236}">
                <a16:creationId xmlns:a16="http://schemas.microsoft.com/office/drawing/2014/main" id="{154B90EE-FB8E-46D2-BC74-705A74C5D8CD}"/>
              </a:ext>
            </a:extLst>
          </p:cNvPr>
          <p:cNvSpPr>
            <a:spLocks xmlns:a="http://schemas.openxmlformats.org/drawingml/2006/main" noGrp="1"/>
          </p:cNvSpPr>
          <p:nvPr/>
        </p:nvSpPr>
        <p:spPr>
          <a:xfrm xmlns:a="http://schemas.openxmlformats.org/drawingml/2006/main">
            <a:off x="6685636" y="2651760"/>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Monitoring and recovery operations</a:t>
            </a:r>
            <a:endParaRPr sz="1500"/>
          </a:p>
        </p:txBody>
      </p:sp>
      <p:sp>
        <p:nvSpPr>
          <p:cNvPr id="33" name="Shape 30">
            <a:extLst xmlns:a="http://schemas.openxmlformats.org/drawingml/2006/main">
              <a:ext uri="{FF2B5EF4-FFF2-40B4-BE49-F238E27FC236}">
                <a16:creationId xmlns:a16="http://schemas.microsoft.com/office/drawing/2014/main" id="{3BB6CA66-9CBF-4145-8625-7F972DD89279}"/>
              </a:ext>
            </a:extLst>
          </p:cNvPr>
          <p:cNvSpPr>
            <a:spLocks xmlns:a="http://schemas.openxmlformats.org/drawingml/2006/main" noGrp="1"/>
          </p:cNvSpPr>
          <p:nvPr/>
        </p:nvSpPr>
        <p:spPr>
          <a:xfrm xmlns:a="http://schemas.openxmlformats.org/drawingml/2006/main">
            <a:off x="6466180" y="3152394"/>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4" name="Text 31">
            <a:extLst xmlns:a="http://schemas.openxmlformats.org/drawingml/2006/main">
              <a:ext uri="{FF2B5EF4-FFF2-40B4-BE49-F238E27FC236}">
                <a16:creationId xmlns:a16="http://schemas.microsoft.com/office/drawing/2014/main" id="{BC1E98A5-9430-4BDD-A80E-B647BE9998CF}"/>
              </a:ext>
            </a:extLst>
          </p:cNvPr>
          <p:cNvSpPr>
            <a:spLocks xmlns:a="http://schemas.openxmlformats.org/drawingml/2006/main" noGrp="1"/>
          </p:cNvSpPr>
          <p:nvPr/>
        </p:nvSpPr>
        <p:spPr>
          <a:xfrm xmlns:a="http://schemas.openxmlformats.org/drawingml/2006/main">
            <a:off x="6685636" y="3054096"/>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Customer privacy and support flows</a:t>
            </a:r>
            <a:endParaRPr sz="1500"/>
          </a:p>
        </p:txBody>
      </p:sp>
      <p:sp>
        <p:nvSpPr>
          <p:cNvPr id="35" name="Shape 32">
            <a:extLst xmlns:a="http://schemas.openxmlformats.org/drawingml/2006/main">
              <a:ext uri="{FF2B5EF4-FFF2-40B4-BE49-F238E27FC236}">
                <a16:creationId xmlns:a16="http://schemas.microsoft.com/office/drawing/2014/main" id="{49331E94-78C8-4C9F-9662-8EE4A6E92D2E}"/>
              </a:ext>
            </a:extLst>
          </p:cNvPr>
          <p:cNvSpPr>
            <a:spLocks xmlns:a="http://schemas.openxmlformats.org/drawingml/2006/main" noGrp="1"/>
          </p:cNvSpPr>
          <p:nvPr/>
        </p:nvSpPr>
        <p:spPr>
          <a:xfrm xmlns:a="http://schemas.openxmlformats.org/drawingml/2006/main">
            <a:off x="6466180" y="3554730"/>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6" name="Text 33">
            <a:extLst xmlns:a="http://schemas.openxmlformats.org/drawingml/2006/main">
              <a:ext uri="{FF2B5EF4-FFF2-40B4-BE49-F238E27FC236}">
                <a16:creationId xmlns:a16="http://schemas.microsoft.com/office/drawing/2014/main" id="{3832362A-C91E-4E1F-A543-A619A0B0447D}"/>
              </a:ext>
            </a:extLst>
          </p:cNvPr>
          <p:cNvSpPr>
            <a:spLocks xmlns:a="http://schemas.openxmlformats.org/drawingml/2006/main" noGrp="1"/>
          </p:cNvSpPr>
          <p:nvPr/>
        </p:nvSpPr>
        <p:spPr>
          <a:xfrm xmlns:a="http://schemas.openxmlformats.org/drawingml/2006/main">
            <a:off x="6685636" y="3456432"/>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Broader licensed job coverage</a:t>
            </a:r>
            <a:endParaRPr sz="1500"/>
          </a:p>
        </p:txBody>
      </p:sp>
      <p:sp>
        <p:nvSpPr>
          <p:cNvPr id="37" name="Shape 34">
            <a:extLst xmlns:a="http://schemas.openxmlformats.org/drawingml/2006/main">
              <a:ext uri="{FF2B5EF4-FFF2-40B4-BE49-F238E27FC236}">
                <a16:creationId xmlns:a16="http://schemas.microsoft.com/office/drawing/2014/main" id="{FC545DF7-BCA8-4E1D-98FC-A411B773DF85}"/>
              </a:ext>
            </a:extLst>
          </p:cNvPr>
          <p:cNvSpPr>
            <a:spLocks xmlns:a="http://schemas.openxmlformats.org/drawingml/2006/main" noGrp="1"/>
          </p:cNvSpPr>
          <p:nvPr/>
        </p:nvSpPr>
        <p:spPr>
          <a:xfrm xmlns:a="http://schemas.openxmlformats.org/drawingml/2006/main">
            <a:off x="6466180" y="3957066"/>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8" name="Text 35">
            <a:extLst xmlns:a="http://schemas.openxmlformats.org/drawingml/2006/main">
              <a:ext uri="{FF2B5EF4-FFF2-40B4-BE49-F238E27FC236}">
                <a16:creationId xmlns:a16="http://schemas.microsoft.com/office/drawing/2014/main" id="{226EA0FC-E0B7-49ED-9F8B-CE6044062647}"/>
              </a:ext>
            </a:extLst>
          </p:cNvPr>
          <p:cNvSpPr>
            <a:spLocks xmlns:a="http://schemas.openxmlformats.org/drawingml/2006/main" noGrp="1"/>
          </p:cNvSpPr>
          <p:nvPr/>
        </p:nvSpPr>
        <p:spPr>
          <a:xfrm xmlns:a="http://schemas.openxmlformats.org/drawingml/2006/main">
            <a:off x="6685636" y="3858768"/>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Billing and paid entitlements</a:t>
            </a:r>
            <a:endParaRPr sz="1500"/>
          </a:p>
        </p:txBody>
      </p:sp>
      <p:sp>
        <p:nvSpPr>
          <p:cNvPr id="39" name="Shape 36">
            <a:extLst xmlns:a="http://schemas.openxmlformats.org/drawingml/2006/main">
              <a:ext uri="{FF2B5EF4-FFF2-40B4-BE49-F238E27FC236}">
                <a16:creationId xmlns:a16="http://schemas.microsoft.com/office/drawing/2014/main" id="{8A536D0E-B5D3-4CAC-AC87-2C4B7EE8EA1C}"/>
              </a:ext>
            </a:extLst>
          </p:cNvPr>
          <p:cNvSpPr>
            <a:spLocks xmlns:a="http://schemas.openxmlformats.org/drawingml/2006/main" noGrp="1"/>
          </p:cNvSpPr>
          <p:nvPr/>
        </p:nvSpPr>
        <p:spPr>
          <a:xfrm xmlns:a="http://schemas.openxmlformats.org/drawingml/2006/main">
            <a:off x="6466180" y="435940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0" name="Text 37">
            <a:extLst xmlns:a="http://schemas.openxmlformats.org/drawingml/2006/main">
              <a:ext uri="{FF2B5EF4-FFF2-40B4-BE49-F238E27FC236}">
                <a16:creationId xmlns:a16="http://schemas.microsoft.com/office/drawing/2014/main" id="{C2FF2DE0-D0FE-4ABD-937F-DC7411E871E1}"/>
              </a:ext>
            </a:extLst>
          </p:cNvPr>
          <p:cNvSpPr>
            <a:spLocks xmlns:a="http://schemas.openxmlformats.org/drawingml/2006/main" noGrp="1"/>
          </p:cNvSpPr>
          <p:nvPr/>
        </p:nvSpPr>
        <p:spPr>
          <a:xfrm xmlns:a="http://schemas.openxmlformats.org/drawingml/2006/main">
            <a:off x="6685636" y="426110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30"/>
              </a:lnSpc>
              <a:buNone/>
            </a:pPr>
            <a:r>
              <a:rPr sz="1500">
                <a:solidFill>
                  <a:srgbClr val="171717"/>
                </a:solidFill>
                <a:latin typeface="Helvetica Neue"/>
                <a:ea typeface="Helvetica Neue"/>
                <a:cs typeface="Helvetica Neue"/>
              </a:rPr>
              <a:t>Email verification and reset</a:t>
            </a:r>
            <a:endParaRPr sz="1500"/>
          </a:p>
        </p:txBody>
      </p:sp>
    </p:spTree>
    <p:extLst>
      <p:ext uri="{BB962C8B-B14F-4D97-AF65-F5344CB8AC3E}">
        <p14:creationId xmlns:p14="http://schemas.microsoft.com/office/powerpoint/2010/main" val="20483599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E346EF3-7A4F-40AF-8214-73455D0DCD24}"/>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69F1B654-5A27-4CDB-AB27-6155FE1D0561}"/>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3C35EF7D-4F66-4B09-BC30-6138F974E988}"/>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FF39DE71-53E3-4121-B6F3-A79403FCDFFD}"/>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accepted launch plan</a:t>
            </a:r>
            <a:endParaRPr sz="3000"/>
          </a:p>
        </p:txBody>
      </p:sp>
      <p:sp>
        <p:nvSpPr>
          <p:cNvPr id="7" name="Text 4">
            <a:extLst xmlns:a="http://schemas.openxmlformats.org/drawingml/2006/main">
              <a:ext uri="{FF2B5EF4-FFF2-40B4-BE49-F238E27FC236}">
                <a16:creationId xmlns:a16="http://schemas.microsoft.com/office/drawing/2014/main" id="{8D92BCB3-DBC4-40B0-90FA-7488EEA55471}"/>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The sequence represents dependency gates, not promised dates.</a:t>
            </a:r>
            <a:endParaRPr sz="1500"/>
          </a:p>
        </p:txBody>
      </p:sp>
      <p:sp>
        <p:nvSpPr>
          <p:cNvPr id="8" name="Shape 5">
            <a:extLst xmlns:a="http://schemas.openxmlformats.org/drawingml/2006/main">
              <a:ext uri="{FF2B5EF4-FFF2-40B4-BE49-F238E27FC236}">
                <a16:creationId xmlns:a16="http://schemas.microsoft.com/office/drawing/2014/main" id="{034FCA0E-5356-4D5F-9763-F3B286B044B5}"/>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AB3E353C-925A-4926-9934-F39181224F8F}"/>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361E9759-B2E0-4D41-8F58-62945CBC6570}"/>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16 / 29</a:t>
            </a:r>
            <a:endParaRPr sz="900"/>
          </a:p>
        </p:txBody>
      </p:sp>
      <p:sp>
        <p:nvSpPr>
          <p:cNvPr id="11" name="Shape 8">
            <a:extLst xmlns:a="http://schemas.openxmlformats.org/drawingml/2006/main">
              <a:ext uri="{FF2B5EF4-FFF2-40B4-BE49-F238E27FC236}">
                <a16:creationId xmlns:a16="http://schemas.microsoft.com/office/drawing/2014/main" id="{7CC0C7C7-CB58-4A12-A250-B9E225B2BB3B}"/>
              </a:ext>
            </a:extLst>
          </p:cNvPr>
          <p:cNvSpPr>
            <a:spLocks xmlns:a="http://schemas.openxmlformats.org/drawingml/2006/main" noGrp="1"/>
          </p:cNvSpPr>
          <p:nvPr/>
        </p:nvSpPr>
        <p:spPr>
          <a:xfrm xmlns:a="http://schemas.openxmlformats.org/drawingml/2006/main">
            <a:off x="548640" y="1755648"/>
            <a:ext cx="841248" cy="292608"/>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12" name="Text 9">
            <a:extLst xmlns:a="http://schemas.openxmlformats.org/drawingml/2006/main">
              <a:ext uri="{FF2B5EF4-FFF2-40B4-BE49-F238E27FC236}">
                <a16:creationId xmlns:a16="http://schemas.microsoft.com/office/drawing/2014/main" id="{56C2EFD1-C7F5-4EB8-83A8-284EBA1783AB}"/>
              </a:ext>
            </a:extLst>
          </p:cNvPr>
          <p:cNvSpPr>
            <a:spLocks xmlns:a="http://schemas.openxmlformats.org/drawingml/2006/main" noGrp="1"/>
          </p:cNvSpPr>
          <p:nvPr/>
        </p:nvSpPr>
        <p:spPr>
          <a:xfrm xmlns:a="http://schemas.openxmlformats.org/drawingml/2006/main">
            <a:off x="548640" y="1815084"/>
            <a:ext cx="8412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NOW</a:t>
            </a:r>
            <a:endParaRPr sz="1000"/>
          </a:p>
        </p:txBody>
      </p:sp>
      <p:sp>
        <p:nvSpPr>
          <p:cNvPr id="13" name="Shape 10">
            <a:extLst xmlns:a="http://schemas.openxmlformats.org/drawingml/2006/main">
              <a:ext uri="{FF2B5EF4-FFF2-40B4-BE49-F238E27FC236}">
                <a16:creationId xmlns:a16="http://schemas.microsoft.com/office/drawing/2014/main" id="{DAF82FA8-3F7A-4306-B49D-C61A699AD319}"/>
              </a:ext>
            </a:extLst>
          </p:cNvPr>
          <p:cNvSpPr>
            <a:spLocks xmlns:a="http://schemas.openxmlformats.org/drawingml/2006/main" noGrp="1"/>
          </p:cNvSpPr>
          <p:nvPr/>
        </p:nvSpPr>
        <p:spPr>
          <a:xfrm xmlns:a="http://schemas.openxmlformats.org/drawingml/2006/main">
            <a:off x="548640" y="2212848"/>
            <a:ext cx="3246120" cy="1325880"/>
          </a:xfrm>
          <a:prstGeom xmlns:a="http://schemas.openxmlformats.org/drawingml/2006/main" prst="roundRect">
            <a:avLst>
              <a:gd name="adj" fmla="val 5517"/>
            </a:avLst>
          </a:prstGeom>
          <a:solidFill xmlns:a="http://schemas.openxmlformats.org/drawingml/2006/main">
            <a:srgbClr val="175CD4"/>
          </a:solidFill>
          <a:ln xmlns:a="http://schemas.openxmlformats.org/drawingml/2006/main" w="15875">
            <a:solidFill>
              <a:srgbClr val="175CD4"/>
            </a:solidFill>
            <a:prstDash val="solid"/>
          </a:ln>
        </p:spPr>
      </p:sp>
      <p:sp>
        <p:nvSpPr>
          <p:cNvPr id="14" name="Text 11">
            <a:extLst xmlns:a="http://schemas.openxmlformats.org/drawingml/2006/main">
              <a:ext uri="{FF2B5EF4-FFF2-40B4-BE49-F238E27FC236}">
                <a16:creationId xmlns:a16="http://schemas.microsoft.com/office/drawing/2014/main" id="{7E7876D5-A751-4412-93D4-211552665934}"/>
              </a:ext>
            </a:extLst>
          </p:cNvPr>
          <p:cNvSpPr>
            <a:spLocks xmlns:a="http://schemas.openxmlformats.org/drawingml/2006/main" noGrp="1"/>
          </p:cNvSpPr>
          <p:nvPr/>
        </p:nvSpPr>
        <p:spPr>
          <a:xfrm xmlns:a="http://schemas.openxmlformats.org/drawingml/2006/main">
            <a:off x="676656" y="2459736"/>
            <a:ext cx="2990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spc="80">
                <a:solidFill>
                  <a:srgbClr val="E7F0FA"/>
                </a:solidFill>
                <a:latin typeface="Helvetica Neue"/>
                <a:ea typeface="Helvetica Neue"/>
                <a:cs typeface="Helvetica Neue"/>
              </a:rPr>
              <a:t>FIRST</a:t>
            </a:r>
            <a:endParaRPr sz="1100"/>
          </a:p>
        </p:txBody>
      </p:sp>
      <p:sp>
        <p:nvSpPr>
          <p:cNvPr id="15" name="Text 12">
            <a:extLst xmlns:a="http://schemas.openxmlformats.org/drawingml/2006/main">
              <a:ext uri="{FF2B5EF4-FFF2-40B4-BE49-F238E27FC236}">
                <a16:creationId xmlns:a16="http://schemas.microsoft.com/office/drawing/2014/main" id="{4045AD0C-D74D-4F34-9DFC-EA5EF462E991}"/>
              </a:ext>
            </a:extLst>
          </p:cNvPr>
          <p:cNvSpPr>
            <a:spLocks xmlns:a="http://schemas.openxmlformats.org/drawingml/2006/main" noGrp="1"/>
          </p:cNvSpPr>
          <p:nvPr/>
        </p:nvSpPr>
        <p:spPr>
          <a:xfrm xmlns:a="http://schemas.openxmlformats.org/drawingml/2006/main">
            <a:off x="676656" y="2739771"/>
            <a:ext cx="2990088" cy="67094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436"/>
              </a:lnSpc>
              <a:buNone/>
            </a:pPr>
            <a:r>
              <a:rPr sz="2100" b="1">
                <a:solidFill>
                  <a:srgbClr val="FFFFFF"/>
                </a:solidFill>
                <a:latin typeface="Helvetica Neue"/>
                <a:ea typeface="Helvetica Neue"/>
                <a:cs typeface="Helvetica Neue"/>
              </a:rPr>
              <a:t>Private pilot</a:t>
            </a:r>
            <a:endParaRPr sz="2100"/>
          </a:p>
        </p:txBody>
      </p:sp>
      <p:sp>
        <p:nvSpPr>
          <p:cNvPr id="16" name="Shape 13">
            <a:extLst xmlns:a="http://schemas.openxmlformats.org/drawingml/2006/main">
              <a:ext uri="{FF2B5EF4-FFF2-40B4-BE49-F238E27FC236}">
                <a16:creationId xmlns:a16="http://schemas.microsoft.com/office/drawing/2014/main" id="{B5AEC69D-86CE-4997-911B-FCBA6DD18E82}"/>
              </a:ext>
            </a:extLst>
          </p:cNvPr>
          <p:cNvSpPr>
            <a:spLocks xmlns:a="http://schemas.openxmlformats.org/drawingml/2006/main" noGrp="1"/>
          </p:cNvSpPr>
          <p:nvPr/>
        </p:nvSpPr>
        <p:spPr>
          <a:xfrm xmlns:a="http://schemas.openxmlformats.org/drawingml/2006/main">
            <a:off x="1970532" y="2011680"/>
            <a:ext cx="402336" cy="402336"/>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17" name="Text 14">
            <a:extLst xmlns:a="http://schemas.openxmlformats.org/drawingml/2006/main">
              <a:ext uri="{FF2B5EF4-FFF2-40B4-BE49-F238E27FC236}">
                <a16:creationId xmlns:a16="http://schemas.microsoft.com/office/drawing/2014/main" id="{9A9DA207-BEBE-420B-963F-F008373BF314}"/>
              </a:ext>
            </a:extLst>
          </p:cNvPr>
          <p:cNvSpPr>
            <a:spLocks xmlns:a="http://schemas.openxmlformats.org/drawingml/2006/main" noGrp="1"/>
          </p:cNvSpPr>
          <p:nvPr/>
        </p:nvSpPr>
        <p:spPr>
          <a:xfrm xmlns:a="http://schemas.openxmlformats.org/drawingml/2006/main">
            <a:off x="1970532" y="211759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01</a:t>
            </a:r>
            <a:endParaRPr sz="1200"/>
          </a:p>
        </p:txBody>
      </p:sp>
      <p:sp>
        <p:nvSpPr>
          <p:cNvPr id="18" name="Shape 15">
            <a:extLst xmlns:a="http://schemas.openxmlformats.org/drawingml/2006/main">
              <a:ext uri="{FF2B5EF4-FFF2-40B4-BE49-F238E27FC236}">
                <a16:creationId xmlns:a16="http://schemas.microsoft.com/office/drawing/2014/main" id="{36BC1C6F-25D1-4A95-B2CE-49AA0ED200B0}"/>
              </a:ext>
            </a:extLst>
          </p:cNvPr>
          <p:cNvSpPr>
            <a:spLocks xmlns:a="http://schemas.openxmlformats.org/drawingml/2006/main" noGrp="1"/>
          </p:cNvSpPr>
          <p:nvPr/>
        </p:nvSpPr>
        <p:spPr>
          <a:xfrm xmlns:a="http://schemas.openxmlformats.org/drawingml/2006/main">
            <a:off x="3840480" y="2875788"/>
            <a:ext cx="58658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9" name="Shape 16">
            <a:extLst xmlns:a="http://schemas.openxmlformats.org/drawingml/2006/main">
              <a:ext uri="{FF2B5EF4-FFF2-40B4-BE49-F238E27FC236}">
                <a16:creationId xmlns:a16="http://schemas.microsoft.com/office/drawing/2014/main" id="{18D71021-28FB-419D-92F9-F67AB7A9BF49}"/>
              </a:ext>
            </a:extLst>
          </p:cNvPr>
          <p:cNvSpPr>
            <a:spLocks xmlns:a="http://schemas.openxmlformats.org/drawingml/2006/main" noGrp="1"/>
          </p:cNvSpPr>
          <p:nvPr/>
        </p:nvSpPr>
        <p:spPr>
          <a:xfrm xmlns:a="http://schemas.openxmlformats.org/drawingml/2006/main">
            <a:off x="4472788" y="2212848"/>
            <a:ext cx="324612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5875">
            <a:solidFill>
              <a:srgbClr val="175CD4"/>
            </a:solidFill>
            <a:prstDash val="solid"/>
          </a:ln>
        </p:spPr>
      </p:sp>
      <p:sp>
        <p:nvSpPr>
          <p:cNvPr id="20" name="Text 17">
            <a:extLst xmlns:a="http://schemas.openxmlformats.org/drawingml/2006/main">
              <a:ext uri="{FF2B5EF4-FFF2-40B4-BE49-F238E27FC236}">
                <a16:creationId xmlns:a16="http://schemas.microsoft.com/office/drawing/2014/main" id="{F4E6575A-9EE1-4868-A833-E45B5602E5A7}"/>
              </a:ext>
            </a:extLst>
          </p:cNvPr>
          <p:cNvSpPr>
            <a:spLocks xmlns:a="http://schemas.openxmlformats.org/drawingml/2006/main" noGrp="1"/>
          </p:cNvSpPr>
          <p:nvPr/>
        </p:nvSpPr>
        <p:spPr>
          <a:xfrm xmlns:a="http://schemas.openxmlformats.org/drawingml/2006/main">
            <a:off x="4600804" y="2459736"/>
            <a:ext cx="2990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spc="80">
                <a:solidFill>
                  <a:srgbClr val="175CD4"/>
                </a:solidFill>
                <a:latin typeface="Helvetica Neue"/>
                <a:ea typeface="Helvetica Neue"/>
                <a:cs typeface="Helvetica Neue"/>
              </a:rPr>
              <a:t>AFTER VALIDATION</a:t>
            </a:r>
            <a:endParaRPr sz="1100"/>
          </a:p>
        </p:txBody>
      </p:sp>
      <p:sp>
        <p:nvSpPr>
          <p:cNvPr id="21" name="Text 18">
            <a:extLst xmlns:a="http://schemas.openxmlformats.org/drawingml/2006/main">
              <a:ext uri="{FF2B5EF4-FFF2-40B4-BE49-F238E27FC236}">
                <a16:creationId xmlns:a16="http://schemas.microsoft.com/office/drawing/2014/main" id="{EDA7FDFD-04C1-4B48-A4B0-57A20596E124}"/>
              </a:ext>
            </a:extLst>
          </p:cNvPr>
          <p:cNvSpPr>
            <a:spLocks xmlns:a="http://schemas.openxmlformats.org/drawingml/2006/main" noGrp="1"/>
          </p:cNvSpPr>
          <p:nvPr/>
        </p:nvSpPr>
        <p:spPr>
          <a:xfrm xmlns:a="http://schemas.openxmlformats.org/drawingml/2006/main">
            <a:off x="4600804" y="2739771"/>
            <a:ext cx="2990088" cy="67094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436"/>
              </a:lnSpc>
              <a:buNone/>
            </a:pPr>
            <a:r>
              <a:rPr sz="2100" b="1">
                <a:solidFill>
                  <a:srgbClr val="0B2545"/>
                </a:solidFill>
                <a:latin typeface="Helvetica Neue"/>
                <a:ea typeface="Helvetica Neue"/>
                <a:cs typeface="Helvetica Neue"/>
              </a:rPr>
              <a:t>Paid release</a:t>
            </a:r>
            <a:endParaRPr sz="2100"/>
          </a:p>
        </p:txBody>
      </p:sp>
      <p:sp>
        <p:nvSpPr>
          <p:cNvPr id="22" name="Shape 19">
            <a:extLst xmlns:a="http://schemas.openxmlformats.org/drawingml/2006/main">
              <a:ext uri="{FF2B5EF4-FFF2-40B4-BE49-F238E27FC236}">
                <a16:creationId xmlns:a16="http://schemas.microsoft.com/office/drawing/2014/main" id="{0BACAED8-838D-4D2A-809E-238F8533C72D}"/>
              </a:ext>
            </a:extLst>
          </p:cNvPr>
          <p:cNvSpPr>
            <a:spLocks xmlns:a="http://schemas.openxmlformats.org/drawingml/2006/main" noGrp="1"/>
          </p:cNvSpPr>
          <p:nvPr/>
        </p:nvSpPr>
        <p:spPr>
          <a:xfrm xmlns:a="http://schemas.openxmlformats.org/drawingml/2006/main">
            <a:off x="5894680" y="2011680"/>
            <a:ext cx="402336" cy="402336"/>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80BC46DE-0F4C-4AB1-AAA7-7B0527FB4B9A}"/>
              </a:ext>
            </a:extLst>
          </p:cNvPr>
          <p:cNvSpPr>
            <a:spLocks xmlns:a="http://schemas.openxmlformats.org/drawingml/2006/main" noGrp="1"/>
          </p:cNvSpPr>
          <p:nvPr/>
        </p:nvSpPr>
        <p:spPr>
          <a:xfrm xmlns:a="http://schemas.openxmlformats.org/drawingml/2006/main">
            <a:off x="5894680" y="211759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02</a:t>
            </a:r>
            <a:endParaRPr sz="1200"/>
          </a:p>
        </p:txBody>
      </p:sp>
      <p:sp>
        <p:nvSpPr>
          <p:cNvPr id="24" name="Shape 21">
            <a:extLst xmlns:a="http://schemas.openxmlformats.org/drawingml/2006/main">
              <a:ext uri="{FF2B5EF4-FFF2-40B4-BE49-F238E27FC236}">
                <a16:creationId xmlns:a16="http://schemas.microsoft.com/office/drawing/2014/main" id="{BB1F84B3-D71C-4D70-8F16-542405838CB8}"/>
              </a:ext>
            </a:extLst>
          </p:cNvPr>
          <p:cNvSpPr>
            <a:spLocks xmlns:a="http://schemas.openxmlformats.org/drawingml/2006/main" noGrp="1"/>
          </p:cNvSpPr>
          <p:nvPr/>
        </p:nvSpPr>
        <p:spPr>
          <a:xfrm xmlns:a="http://schemas.openxmlformats.org/drawingml/2006/main">
            <a:off x="7764628" y="2875788"/>
            <a:ext cx="58658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5" name="Shape 22">
            <a:extLst xmlns:a="http://schemas.openxmlformats.org/drawingml/2006/main">
              <a:ext uri="{FF2B5EF4-FFF2-40B4-BE49-F238E27FC236}">
                <a16:creationId xmlns:a16="http://schemas.microsoft.com/office/drawing/2014/main" id="{C48FA33B-6A59-4987-9507-634799D3BF55}"/>
              </a:ext>
            </a:extLst>
          </p:cNvPr>
          <p:cNvSpPr>
            <a:spLocks xmlns:a="http://schemas.openxmlformats.org/drawingml/2006/main" noGrp="1"/>
          </p:cNvSpPr>
          <p:nvPr/>
        </p:nvSpPr>
        <p:spPr>
          <a:xfrm xmlns:a="http://schemas.openxmlformats.org/drawingml/2006/main">
            <a:off x="8396935" y="2212848"/>
            <a:ext cx="3246120" cy="1325880"/>
          </a:xfrm>
          <a:prstGeom xmlns:a="http://schemas.openxmlformats.org/drawingml/2006/main" prst="roundRect">
            <a:avLst>
              <a:gd name="adj" fmla="val 5517"/>
            </a:avLst>
          </a:prstGeom>
          <a:solidFill xmlns:a="http://schemas.openxmlformats.org/drawingml/2006/main">
            <a:srgbClr val="0B2545"/>
          </a:solidFill>
          <a:ln xmlns:a="http://schemas.openxmlformats.org/drawingml/2006/main" w="15875">
            <a:solidFill>
              <a:srgbClr val="0B2545"/>
            </a:solidFill>
            <a:prstDash val="solid"/>
          </a:ln>
        </p:spPr>
      </p:sp>
      <p:sp>
        <p:nvSpPr>
          <p:cNvPr id="26" name="Text 23">
            <a:extLst xmlns:a="http://schemas.openxmlformats.org/drawingml/2006/main">
              <a:ext uri="{FF2B5EF4-FFF2-40B4-BE49-F238E27FC236}">
                <a16:creationId xmlns:a16="http://schemas.microsoft.com/office/drawing/2014/main" id="{4990F5D0-D1C6-4F15-A08A-E653B8A62873}"/>
              </a:ext>
            </a:extLst>
          </p:cNvPr>
          <p:cNvSpPr>
            <a:spLocks xmlns:a="http://schemas.openxmlformats.org/drawingml/2006/main" noGrp="1"/>
          </p:cNvSpPr>
          <p:nvPr/>
        </p:nvSpPr>
        <p:spPr>
          <a:xfrm xmlns:a="http://schemas.openxmlformats.org/drawingml/2006/main">
            <a:off x="8524951" y="2459736"/>
            <a:ext cx="2990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spc="80">
                <a:solidFill>
                  <a:srgbClr val="C6D5E8"/>
                </a:solidFill>
                <a:latin typeface="Helvetica Neue"/>
                <a:ea typeface="Helvetica Neue"/>
                <a:cs typeface="Helvetica Neue"/>
              </a:rPr>
              <a:t>OPTIONAL LATER</a:t>
            </a:r>
            <a:endParaRPr sz="1100"/>
          </a:p>
        </p:txBody>
      </p:sp>
      <p:sp>
        <p:nvSpPr>
          <p:cNvPr id="27" name="Text 24">
            <a:extLst xmlns:a="http://schemas.openxmlformats.org/drawingml/2006/main">
              <a:ext uri="{FF2B5EF4-FFF2-40B4-BE49-F238E27FC236}">
                <a16:creationId xmlns:a16="http://schemas.microsoft.com/office/drawing/2014/main" id="{771C6CD6-2332-476E-91B4-BE9DF54DA263}"/>
              </a:ext>
            </a:extLst>
          </p:cNvPr>
          <p:cNvSpPr>
            <a:spLocks xmlns:a="http://schemas.openxmlformats.org/drawingml/2006/main" noGrp="1"/>
          </p:cNvSpPr>
          <p:nvPr/>
        </p:nvSpPr>
        <p:spPr>
          <a:xfrm xmlns:a="http://schemas.openxmlformats.org/drawingml/2006/main">
            <a:off x="8524951" y="2739771"/>
            <a:ext cx="2990088" cy="67094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436"/>
              </a:lnSpc>
              <a:buNone/>
            </a:pPr>
            <a:r>
              <a:rPr sz="2100" b="1">
                <a:solidFill>
                  <a:srgbClr val="FFFFFF"/>
                </a:solidFill>
                <a:latin typeface="Helvetica Neue"/>
                <a:ea typeface="Helvetica Neue"/>
                <a:cs typeface="Helvetica Neue"/>
              </a:rPr>
              <a:t>Further integrations</a:t>
            </a:r>
            <a:endParaRPr sz="2100"/>
          </a:p>
        </p:txBody>
      </p:sp>
      <p:sp>
        <p:nvSpPr>
          <p:cNvPr id="28" name="Shape 25">
            <a:extLst xmlns:a="http://schemas.openxmlformats.org/drawingml/2006/main">
              <a:ext uri="{FF2B5EF4-FFF2-40B4-BE49-F238E27FC236}">
                <a16:creationId xmlns:a16="http://schemas.microsoft.com/office/drawing/2014/main" id="{74A4B305-0EF7-4F98-B857-E6B06C66BDEA}"/>
              </a:ext>
            </a:extLst>
          </p:cNvPr>
          <p:cNvSpPr>
            <a:spLocks xmlns:a="http://schemas.openxmlformats.org/drawingml/2006/main" noGrp="1"/>
          </p:cNvSpPr>
          <p:nvPr/>
        </p:nvSpPr>
        <p:spPr>
          <a:xfrm xmlns:a="http://schemas.openxmlformats.org/drawingml/2006/main">
            <a:off x="9818827" y="2011680"/>
            <a:ext cx="402336" cy="402336"/>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626FC312-7051-4077-81E0-400FCAEEB9A1}"/>
              </a:ext>
            </a:extLst>
          </p:cNvPr>
          <p:cNvSpPr>
            <a:spLocks xmlns:a="http://schemas.openxmlformats.org/drawingml/2006/main" noGrp="1"/>
          </p:cNvSpPr>
          <p:nvPr/>
        </p:nvSpPr>
        <p:spPr>
          <a:xfrm xmlns:a="http://schemas.openxmlformats.org/drawingml/2006/main">
            <a:off x="9818827" y="2117598"/>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03</a:t>
            </a:r>
            <a:endParaRPr sz="1200"/>
          </a:p>
        </p:txBody>
      </p:sp>
      <p:sp>
        <p:nvSpPr>
          <p:cNvPr id="30" name="Shape 27">
            <a:extLst xmlns:a="http://schemas.openxmlformats.org/drawingml/2006/main">
              <a:ext uri="{FF2B5EF4-FFF2-40B4-BE49-F238E27FC236}">
                <a16:creationId xmlns:a16="http://schemas.microsoft.com/office/drawing/2014/main" id="{AC4FAE73-7140-4518-A6DA-B97CECE272BD}"/>
              </a:ext>
            </a:extLst>
          </p:cNvPr>
          <p:cNvSpPr>
            <a:spLocks xmlns:a="http://schemas.openxmlformats.org/drawingml/2006/main" noGrp="1"/>
          </p:cNvSpPr>
          <p:nvPr/>
        </p:nvSpPr>
        <p:spPr>
          <a:xfrm xmlns:a="http://schemas.openxmlformats.org/drawingml/2006/main">
            <a:off x="548640" y="3794760"/>
            <a:ext cx="3246120" cy="1508760"/>
          </a:xfrm>
          <a:prstGeom xmlns:a="http://schemas.openxmlformats.org/drawingml/2006/main" prst="roundRect">
            <a:avLst>
              <a:gd name="adj" fmla="val 4848"/>
            </a:avLst>
          </a:prstGeom>
          <a:solidFill xmlns:a="http://schemas.openxmlformats.org/drawingml/2006/main">
            <a:srgbClr val="F3F6FB"/>
          </a:solidFill>
          <a:ln xmlns:a="http://schemas.openxmlformats.org/drawingml/2006/main" w="9525">
            <a:solidFill>
              <a:srgbClr val="C9D6E8"/>
            </a:solidFill>
            <a:prstDash val="solid"/>
          </a:ln>
        </p:spPr>
      </p:sp>
      <p:sp>
        <p:nvSpPr>
          <p:cNvPr id="31" name="Shape 28">
            <a:extLst xmlns:a="http://schemas.openxmlformats.org/drawingml/2006/main">
              <a:ext uri="{FF2B5EF4-FFF2-40B4-BE49-F238E27FC236}">
                <a16:creationId xmlns:a16="http://schemas.microsoft.com/office/drawing/2014/main" id="{31CE3FF1-1FE5-4D00-8CEC-93F717327E22}"/>
              </a:ext>
            </a:extLst>
          </p:cNvPr>
          <p:cNvSpPr>
            <a:spLocks xmlns:a="http://schemas.openxmlformats.org/drawingml/2006/main" noGrp="1"/>
          </p:cNvSpPr>
          <p:nvPr/>
        </p:nvSpPr>
        <p:spPr>
          <a:xfrm xmlns:a="http://schemas.openxmlformats.org/drawingml/2006/main">
            <a:off x="557784" y="3904488"/>
            <a:ext cx="54864" cy="128930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2" name="Text 29">
            <a:extLst xmlns:a="http://schemas.openxmlformats.org/drawingml/2006/main">
              <a:ext uri="{FF2B5EF4-FFF2-40B4-BE49-F238E27FC236}">
                <a16:creationId xmlns:a16="http://schemas.microsoft.com/office/drawing/2014/main" id="{918D54AD-B295-4DB2-9E5A-99C31126A024}"/>
              </a:ext>
            </a:extLst>
          </p:cNvPr>
          <p:cNvSpPr>
            <a:spLocks xmlns:a="http://schemas.openxmlformats.org/drawingml/2006/main" noGrp="1"/>
          </p:cNvSpPr>
          <p:nvPr/>
        </p:nvSpPr>
        <p:spPr>
          <a:xfrm xmlns:a="http://schemas.openxmlformats.org/drawingml/2006/main">
            <a:off x="822960" y="3995928"/>
            <a:ext cx="2697480" cy="11064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650">
                <a:solidFill>
                  <a:srgbClr val="171717"/>
                </a:solidFill>
                <a:latin typeface="Helvetica Neue"/>
                <a:ea typeface="Helvetica Neue"/>
                <a:cs typeface="Helvetica Neue"/>
              </a:rPr>
              <a:t>Operator funds bounded AI use. Verify reliability, usefulness and real costs.</a:t>
            </a:r>
            <a:endParaRPr sz="1650"/>
          </a:p>
        </p:txBody>
      </p:sp>
      <p:sp>
        <p:nvSpPr>
          <p:cNvPr id="33" name="Shape 30">
            <a:extLst xmlns:a="http://schemas.openxmlformats.org/drawingml/2006/main">
              <a:ext uri="{FF2B5EF4-FFF2-40B4-BE49-F238E27FC236}">
                <a16:creationId xmlns:a16="http://schemas.microsoft.com/office/drawing/2014/main" id="{D6E2AEBC-A60D-4E0E-8EEC-0B1A76E3C930}"/>
              </a:ext>
            </a:extLst>
          </p:cNvPr>
          <p:cNvSpPr>
            <a:spLocks xmlns:a="http://schemas.openxmlformats.org/drawingml/2006/main" noGrp="1"/>
          </p:cNvSpPr>
          <p:nvPr/>
        </p:nvSpPr>
        <p:spPr>
          <a:xfrm xmlns:a="http://schemas.openxmlformats.org/drawingml/2006/main">
            <a:off x="4472788" y="3794760"/>
            <a:ext cx="3246120" cy="1508760"/>
          </a:xfrm>
          <a:prstGeom xmlns:a="http://schemas.openxmlformats.org/drawingml/2006/main" prst="roundRect">
            <a:avLst>
              <a:gd name="adj" fmla="val 4848"/>
            </a:avLst>
          </a:prstGeom>
          <a:solidFill xmlns:a="http://schemas.openxmlformats.org/drawingml/2006/main">
            <a:srgbClr val="F3F6FB"/>
          </a:solidFill>
          <a:ln xmlns:a="http://schemas.openxmlformats.org/drawingml/2006/main" w="9525">
            <a:solidFill>
              <a:srgbClr val="C9D6E8"/>
            </a:solidFill>
            <a:prstDash val="solid"/>
          </a:ln>
        </p:spPr>
      </p:sp>
      <p:sp>
        <p:nvSpPr>
          <p:cNvPr id="34" name="Shape 31">
            <a:extLst xmlns:a="http://schemas.openxmlformats.org/drawingml/2006/main">
              <a:ext uri="{FF2B5EF4-FFF2-40B4-BE49-F238E27FC236}">
                <a16:creationId xmlns:a16="http://schemas.microsoft.com/office/drawing/2014/main" id="{30F949A2-382D-41B2-87A4-F982B6DA7634}"/>
              </a:ext>
            </a:extLst>
          </p:cNvPr>
          <p:cNvSpPr>
            <a:spLocks xmlns:a="http://schemas.openxmlformats.org/drawingml/2006/main" noGrp="1"/>
          </p:cNvSpPr>
          <p:nvPr/>
        </p:nvSpPr>
        <p:spPr>
          <a:xfrm xmlns:a="http://schemas.openxmlformats.org/drawingml/2006/main">
            <a:off x="4481932" y="3904488"/>
            <a:ext cx="54864" cy="128930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5" name="Text 32">
            <a:extLst xmlns:a="http://schemas.openxmlformats.org/drawingml/2006/main">
              <a:ext uri="{FF2B5EF4-FFF2-40B4-BE49-F238E27FC236}">
                <a16:creationId xmlns:a16="http://schemas.microsoft.com/office/drawing/2014/main" id="{AFB86CA5-2BEE-4F1C-802D-71F7AB31CEDF}"/>
              </a:ext>
            </a:extLst>
          </p:cNvPr>
          <p:cNvSpPr>
            <a:spLocks xmlns:a="http://schemas.openxmlformats.org/drawingml/2006/main" noGrp="1"/>
          </p:cNvSpPr>
          <p:nvPr/>
        </p:nvSpPr>
        <p:spPr>
          <a:xfrm xmlns:a="http://schemas.openxmlformats.org/drawingml/2006/main">
            <a:off x="4747108" y="3995928"/>
            <a:ext cx="2697480" cy="11064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650">
                <a:solidFill>
                  <a:srgbClr val="171717"/>
                </a:solidFill>
                <a:latin typeface="Helvetica Neue"/>
                <a:ea typeface="Helvetica Neue"/>
                <a:cs typeface="Helvetica Neue"/>
              </a:rPr>
              <a:t>Add billing, clear allowances and the operating processes to support customers.</a:t>
            </a:r>
            <a:endParaRPr sz="1650"/>
          </a:p>
        </p:txBody>
      </p:sp>
      <p:sp>
        <p:nvSpPr>
          <p:cNvPr id="36" name="Shape 33">
            <a:extLst xmlns:a="http://schemas.openxmlformats.org/drawingml/2006/main">
              <a:ext uri="{FF2B5EF4-FFF2-40B4-BE49-F238E27FC236}">
                <a16:creationId xmlns:a16="http://schemas.microsoft.com/office/drawing/2014/main" id="{74DFFD45-2337-4070-97E9-16ADC939F604}"/>
              </a:ext>
            </a:extLst>
          </p:cNvPr>
          <p:cNvSpPr>
            <a:spLocks xmlns:a="http://schemas.openxmlformats.org/drawingml/2006/main" noGrp="1"/>
          </p:cNvSpPr>
          <p:nvPr/>
        </p:nvSpPr>
        <p:spPr>
          <a:xfrm xmlns:a="http://schemas.openxmlformats.org/drawingml/2006/main">
            <a:off x="8396935" y="3794760"/>
            <a:ext cx="3246120" cy="1508760"/>
          </a:xfrm>
          <a:prstGeom xmlns:a="http://schemas.openxmlformats.org/drawingml/2006/main" prst="roundRect">
            <a:avLst>
              <a:gd name="adj" fmla="val 4848"/>
            </a:avLst>
          </a:prstGeom>
          <a:solidFill xmlns:a="http://schemas.openxmlformats.org/drawingml/2006/main">
            <a:srgbClr val="F3F6FB"/>
          </a:solidFill>
          <a:ln xmlns:a="http://schemas.openxmlformats.org/drawingml/2006/main" w="9525">
            <a:solidFill>
              <a:srgbClr val="C9D6E8"/>
            </a:solidFill>
            <a:prstDash val="solid"/>
          </a:ln>
        </p:spPr>
      </p:sp>
      <p:sp>
        <p:nvSpPr>
          <p:cNvPr id="37" name="Shape 34">
            <a:extLst xmlns:a="http://schemas.openxmlformats.org/drawingml/2006/main">
              <a:ext uri="{FF2B5EF4-FFF2-40B4-BE49-F238E27FC236}">
                <a16:creationId xmlns:a16="http://schemas.microsoft.com/office/drawing/2014/main" id="{79E1B9AB-B124-4123-AEE3-A1F383F35870}"/>
              </a:ext>
            </a:extLst>
          </p:cNvPr>
          <p:cNvSpPr>
            <a:spLocks xmlns:a="http://schemas.openxmlformats.org/drawingml/2006/main" noGrp="1"/>
          </p:cNvSpPr>
          <p:nvPr/>
        </p:nvSpPr>
        <p:spPr>
          <a:xfrm xmlns:a="http://schemas.openxmlformats.org/drawingml/2006/main">
            <a:off x="8406079" y="3904488"/>
            <a:ext cx="54864" cy="128930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8" name="Text 35">
            <a:extLst xmlns:a="http://schemas.openxmlformats.org/drawingml/2006/main">
              <a:ext uri="{FF2B5EF4-FFF2-40B4-BE49-F238E27FC236}">
                <a16:creationId xmlns:a16="http://schemas.microsoft.com/office/drawing/2014/main" id="{26768F38-6571-4899-806F-8421DDFCE743}"/>
              </a:ext>
            </a:extLst>
          </p:cNvPr>
          <p:cNvSpPr>
            <a:spLocks xmlns:a="http://schemas.openxmlformats.org/drawingml/2006/main" noGrp="1"/>
          </p:cNvSpPr>
          <p:nvPr/>
        </p:nvSpPr>
        <p:spPr>
          <a:xfrm xmlns:a="http://schemas.openxmlformats.org/drawingml/2006/main">
            <a:off x="8671255" y="3995928"/>
            <a:ext cx="2697480" cy="11064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650">
                <a:solidFill>
                  <a:srgbClr val="171717"/>
                </a:solidFill>
                <a:latin typeface="Helvetica Neue"/>
                <a:ea typeface="Helvetica Neue"/>
                <a:cs typeface="Helvetica Neue"/>
              </a:rPr>
              <a:t>Revisit ChatGPT linking and broader job sources after support and demand checks.</a:t>
            </a:r>
            <a:endParaRPr sz="1650"/>
          </a:p>
        </p:txBody>
      </p:sp>
    </p:spTree>
    <p:extLst>
      <p:ext uri="{BB962C8B-B14F-4D97-AF65-F5344CB8AC3E}">
        <p14:creationId xmlns:p14="http://schemas.microsoft.com/office/powerpoint/2010/main" val="1026854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6FF5D0C7-B9AC-419A-A388-65C0B513D68A}"/>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BE6FFCE9-C56A-401F-A8E6-14B219BB30FC}"/>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99250EBE-B34D-4BB2-A921-646FE08099C8}"/>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5152A4CF-4613-4DF6-A0B2-F748601AB2C0}"/>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AI access at launch and later</a:t>
            </a:r>
            <a:endParaRPr sz="3000"/>
          </a:p>
        </p:txBody>
      </p:sp>
      <p:sp>
        <p:nvSpPr>
          <p:cNvPr id="7" name="Text 4">
            <a:extLst xmlns:a="http://schemas.openxmlformats.org/drawingml/2006/main">
              <a:ext uri="{FF2B5EF4-FFF2-40B4-BE49-F238E27FC236}">
                <a16:creationId xmlns:a16="http://schemas.microsoft.com/office/drawing/2014/main" id="{1F6118EB-6708-4ECD-BF0C-44EB34FD3DFE}"/>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Customers should be able to use the product without managing an API key or buying a separate ChatGPT plan.</a:t>
            </a:r>
            <a:endParaRPr sz="1500"/>
          </a:p>
        </p:txBody>
      </p:sp>
      <p:sp>
        <p:nvSpPr>
          <p:cNvPr id="8" name="Shape 5">
            <a:extLst xmlns:a="http://schemas.openxmlformats.org/drawingml/2006/main">
              <a:ext uri="{FF2B5EF4-FFF2-40B4-BE49-F238E27FC236}">
                <a16:creationId xmlns:a16="http://schemas.microsoft.com/office/drawing/2014/main" id="{9EBA5936-B255-44EA-8BFB-7B05B6F117C4}"/>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9D3F26DB-67A0-4038-A735-CF99B77D9763}"/>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72CE69B4-C0C1-4C36-975A-7FC7F8636B4D}"/>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17 / 29</a:t>
            </a:r>
            <a:endParaRPr sz="900"/>
          </a:p>
        </p:txBody>
      </p:sp>
      <p:sp>
        <p:nvSpPr>
          <p:cNvPr id="11" name="Text 8">
            <a:extLst xmlns:a="http://schemas.openxmlformats.org/drawingml/2006/main">
              <a:ext uri="{FF2B5EF4-FFF2-40B4-BE49-F238E27FC236}">
                <a16:creationId xmlns:a16="http://schemas.microsoft.com/office/drawing/2014/main" id="{05626824-3298-4C81-8D03-9DA19042C1C9}"/>
              </a:ext>
            </a:extLst>
          </p:cNvPr>
          <p:cNvSpPr>
            <a:spLocks xmlns:a="http://schemas.openxmlformats.org/drawingml/2006/main" noGrp="1"/>
          </p:cNvSpPr>
          <p:nvPr/>
        </p:nvSpPr>
        <p:spPr>
          <a:xfrm xmlns:a="http://schemas.openxmlformats.org/drawingml/2006/main">
            <a:off x="548640" y="1444752"/>
            <a:ext cx="1109441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20">
                <a:solidFill>
                  <a:srgbClr val="175CD4"/>
                </a:solidFill>
                <a:latin typeface="Helvetica Neue"/>
                <a:ea typeface="Helvetica Neue"/>
                <a:cs typeface="Helvetica Neue"/>
              </a:rPr>
              <a:t>CHOSEN FOR LAUNCH</a:t>
            </a:r>
            <a:r>
              <a:rPr sz="1400">
                <a:solidFill>
                  <a:srgbClr val="52677F"/>
                </a:solidFill>
                <a:latin typeface="Helvetica Neue"/>
                <a:ea typeface="Helvetica Neue"/>
                <a:cs typeface="Helvetica Neue"/>
              </a:rPr>
              <a:t>   AI runs through the product’s own API account.</a:t>
            </a:r>
            <a:endParaRPr sz="1050"/>
          </a:p>
        </p:txBody>
      </p:sp>
      <p:sp>
        <p:nvSpPr>
          <p:cNvPr id="12" name="Shape 9">
            <a:extLst xmlns:a="http://schemas.openxmlformats.org/drawingml/2006/main">
              <a:ext uri="{FF2B5EF4-FFF2-40B4-BE49-F238E27FC236}">
                <a16:creationId xmlns:a16="http://schemas.microsoft.com/office/drawing/2014/main" id="{F35F5172-5D85-4D61-B0FA-918DBCFB65AF}"/>
              </a:ext>
            </a:extLst>
          </p:cNvPr>
          <p:cNvSpPr>
            <a:spLocks xmlns:a="http://schemas.openxmlformats.org/drawingml/2006/main" noGrp="1"/>
          </p:cNvSpPr>
          <p:nvPr/>
        </p:nvSpPr>
        <p:spPr>
          <a:xfrm xmlns:a="http://schemas.openxmlformats.org/drawingml/2006/main">
            <a:off x="548640" y="1828800"/>
            <a:ext cx="2697480" cy="1417320"/>
          </a:xfrm>
          <a:prstGeom xmlns:a="http://schemas.openxmlformats.org/drawingml/2006/main" prst="roundRect">
            <a:avLst>
              <a:gd name="adj" fmla="val 5161"/>
            </a:avLst>
          </a:prstGeom>
          <a:solidFill xmlns:a="http://schemas.openxmlformats.org/drawingml/2006/main">
            <a:srgbClr val="175CD4"/>
          </a:solidFill>
          <a:ln xmlns:a="http://schemas.openxmlformats.org/drawingml/2006/main" w="15875">
            <a:solidFill>
              <a:srgbClr val="175CD4"/>
            </a:solidFill>
            <a:prstDash val="solid"/>
          </a:ln>
        </p:spPr>
      </p:sp>
      <p:sp>
        <p:nvSpPr>
          <p:cNvPr id="13" name="Text 10">
            <a:extLst xmlns:a="http://schemas.openxmlformats.org/drawingml/2006/main">
              <a:ext uri="{FF2B5EF4-FFF2-40B4-BE49-F238E27FC236}">
                <a16:creationId xmlns:a16="http://schemas.microsoft.com/office/drawing/2014/main" id="{61DE80E8-CCFD-4439-ADE5-69306B51128F}"/>
              </a:ext>
            </a:extLst>
          </p:cNvPr>
          <p:cNvSpPr>
            <a:spLocks xmlns:a="http://schemas.openxmlformats.org/drawingml/2006/main" noGrp="1"/>
          </p:cNvSpPr>
          <p:nvPr/>
        </p:nvSpPr>
        <p:spPr>
          <a:xfrm xmlns:a="http://schemas.openxmlformats.org/drawingml/2006/main">
            <a:off x="676656" y="1956816"/>
            <a:ext cx="2441448" cy="11612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Helvetica Neue"/>
                <a:ea typeface="Helvetica Neue"/>
                <a:cs typeface="Helvetica Neue"/>
              </a:rPr>
              <a:t>Customer browser</a:t>
            </a:r>
            <a:endParaRPr sz="1350"/>
          </a:p>
          <a:p xmlns:a="http://schemas.openxmlformats.org/drawingml/2006/main">
            <a:pPr marL="0" indent="0" algn="ctr">
              <a:spcBef>
                <a:spcPts val="500"/>
              </a:spcBef>
              <a:buNone/>
            </a:pPr>
            <a:r>
              <a:rPr sz="1200">
                <a:solidFill>
                  <a:srgbClr val="E7F0FA"/>
                </a:solidFill>
                <a:latin typeface="Helvetica Neue"/>
                <a:ea typeface="Helvetica Neue"/>
                <a:cs typeface="Helvetica Neue"/>
              </a:rPr>
              <a:t>Customers never handle a key or buy a separate plan.</a:t>
            </a:r>
            <a:endParaRPr sz="1350"/>
          </a:p>
        </p:txBody>
      </p:sp>
      <p:sp>
        <p:nvSpPr>
          <p:cNvPr id="14" name="Shape 11">
            <a:extLst xmlns:a="http://schemas.openxmlformats.org/drawingml/2006/main">
              <a:ext uri="{FF2B5EF4-FFF2-40B4-BE49-F238E27FC236}">
                <a16:creationId xmlns:a16="http://schemas.microsoft.com/office/drawing/2014/main" id="{AF861552-458F-4B9D-A064-798AB4E96BE9}"/>
              </a:ext>
            </a:extLst>
          </p:cNvPr>
          <p:cNvSpPr>
            <a:spLocks xmlns:a="http://schemas.openxmlformats.org/drawingml/2006/main" noGrp="1"/>
          </p:cNvSpPr>
          <p:nvPr/>
        </p:nvSpPr>
        <p:spPr>
          <a:xfrm xmlns:a="http://schemas.openxmlformats.org/drawingml/2006/main">
            <a:off x="3291840" y="2537460"/>
            <a:ext cx="140954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5" name="Text 12">
            <a:extLst xmlns:a="http://schemas.openxmlformats.org/drawingml/2006/main">
              <a:ext uri="{FF2B5EF4-FFF2-40B4-BE49-F238E27FC236}">
                <a16:creationId xmlns:a16="http://schemas.microsoft.com/office/drawing/2014/main" id="{31B4FF3F-BCDE-461D-B456-E29B3618628F}"/>
              </a:ext>
            </a:extLst>
          </p:cNvPr>
          <p:cNvSpPr>
            <a:spLocks xmlns:a="http://schemas.openxmlformats.org/drawingml/2006/main" noGrp="1"/>
          </p:cNvSpPr>
          <p:nvPr/>
        </p:nvSpPr>
        <p:spPr>
          <a:xfrm xmlns:a="http://schemas.openxmlformats.org/drawingml/2006/main">
            <a:off x="3255950" y="2189988"/>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gn="ctr">
              <a:lnSpc>
                <a:spcPts val="1239"/>
              </a:lnSpc>
              <a:buNone/>
            </a:pPr>
            <a:r>
              <a:rPr sz="1050">
                <a:solidFill>
                  <a:srgbClr val="52677F"/>
                </a:solidFill>
                <a:latin typeface="Helvetica Neue"/>
                <a:ea typeface="Helvetica Neue"/>
                <a:cs typeface="Helvetica Neue"/>
              </a:rPr>
              <a:t>Authenticated HTTPS requests</a:t>
            </a:r>
            <a:endParaRPr sz="1050"/>
          </a:p>
        </p:txBody>
      </p:sp>
      <p:sp>
        <p:nvSpPr>
          <p:cNvPr id="16" name="Shape 13">
            <a:extLst xmlns:a="http://schemas.openxmlformats.org/drawingml/2006/main">
              <a:ext uri="{FF2B5EF4-FFF2-40B4-BE49-F238E27FC236}">
                <a16:creationId xmlns:a16="http://schemas.microsoft.com/office/drawing/2014/main" id="{06074FCA-A531-47E7-AEC1-CFDDFBFC2E3C}"/>
              </a:ext>
            </a:extLst>
          </p:cNvPr>
          <p:cNvSpPr>
            <a:spLocks xmlns:a="http://schemas.openxmlformats.org/drawingml/2006/main" noGrp="1"/>
          </p:cNvSpPr>
          <p:nvPr/>
        </p:nvSpPr>
        <p:spPr>
          <a:xfrm xmlns:a="http://schemas.openxmlformats.org/drawingml/2006/main">
            <a:off x="4747108" y="1828800"/>
            <a:ext cx="2697480" cy="1417320"/>
          </a:xfrm>
          <a:prstGeom xmlns:a="http://schemas.openxmlformats.org/drawingml/2006/main" prst="roundRect">
            <a:avLst>
              <a:gd name="adj" fmla="val 5161"/>
            </a:avLst>
          </a:prstGeom>
          <a:solidFill xmlns:a="http://schemas.openxmlformats.org/drawingml/2006/main">
            <a:srgbClr val="F3F6FB"/>
          </a:solidFill>
          <a:ln xmlns:a="http://schemas.openxmlformats.org/drawingml/2006/main" w="15875">
            <a:solidFill>
              <a:srgbClr val="175CD4"/>
            </a:solidFill>
            <a:prstDash val="solid"/>
          </a:ln>
        </p:spPr>
      </p:sp>
      <p:sp>
        <p:nvSpPr>
          <p:cNvPr id="17" name="Text 14">
            <a:extLst xmlns:a="http://schemas.openxmlformats.org/drawingml/2006/main">
              <a:ext uri="{FF2B5EF4-FFF2-40B4-BE49-F238E27FC236}">
                <a16:creationId xmlns:a16="http://schemas.microsoft.com/office/drawing/2014/main" id="{045BFE89-B2C7-4418-87C3-8E3F5E53BDD9}"/>
              </a:ext>
            </a:extLst>
          </p:cNvPr>
          <p:cNvSpPr>
            <a:spLocks xmlns:a="http://schemas.openxmlformats.org/drawingml/2006/main" noGrp="1"/>
          </p:cNvSpPr>
          <p:nvPr/>
        </p:nvSpPr>
        <p:spPr>
          <a:xfrm xmlns:a="http://schemas.openxmlformats.org/drawingml/2006/main">
            <a:off x="4875124" y="1956816"/>
            <a:ext cx="2441448" cy="11612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2545"/>
                </a:solidFill>
                <a:latin typeface="Helvetica Neue"/>
                <a:ea typeface="Helvetica Neue"/>
                <a:cs typeface="Helvetica Neue"/>
              </a:rPr>
              <a:t>Product server</a:t>
            </a:r>
            <a:endParaRPr sz="1350"/>
          </a:p>
          <a:p xmlns:a="http://schemas.openxmlformats.org/drawingml/2006/main">
            <a:pPr marL="0" indent="0" algn="ctr">
              <a:spcBef>
                <a:spcPts val="500"/>
              </a:spcBef>
              <a:buNone/>
            </a:pPr>
            <a:r>
              <a:rPr sz="1200">
                <a:solidFill>
                  <a:srgbClr val="52677F"/>
                </a:solidFill>
                <a:latin typeface="Helvetica Neue"/>
                <a:ea typeface="Helvetica Neue"/>
                <a:cs typeface="Helvetica Neue"/>
              </a:rPr>
              <a:t>Operator stores the API key on the server. Per-customer allowances bound every request.</a:t>
            </a:r>
            <a:endParaRPr sz="1350"/>
          </a:p>
        </p:txBody>
      </p:sp>
      <p:sp>
        <p:nvSpPr>
          <p:cNvPr id="18" name="Shape 15">
            <a:extLst xmlns:a="http://schemas.openxmlformats.org/drawingml/2006/main">
              <a:ext uri="{FF2B5EF4-FFF2-40B4-BE49-F238E27FC236}">
                <a16:creationId xmlns:a16="http://schemas.microsoft.com/office/drawing/2014/main" id="{D175BC06-462A-42E7-92DF-C3DEC15E7C16}"/>
              </a:ext>
            </a:extLst>
          </p:cNvPr>
          <p:cNvSpPr>
            <a:spLocks xmlns:a="http://schemas.openxmlformats.org/drawingml/2006/main" noGrp="1"/>
          </p:cNvSpPr>
          <p:nvPr/>
        </p:nvSpPr>
        <p:spPr>
          <a:xfrm xmlns:a="http://schemas.openxmlformats.org/drawingml/2006/main">
            <a:off x="7490308" y="2537460"/>
            <a:ext cx="140954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9" name="Text 16">
            <a:extLst xmlns:a="http://schemas.openxmlformats.org/drawingml/2006/main">
              <a:ext uri="{FF2B5EF4-FFF2-40B4-BE49-F238E27FC236}">
                <a16:creationId xmlns:a16="http://schemas.microsoft.com/office/drawing/2014/main" id="{57814321-189E-4F52-ADB7-AC9EB5D4E976}"/>
              </a:ext>
            </a:extLst>
          </p:cNvPr>
          <p:cNvSpPr>
            <a:spLocks xmlns:a="http://schemas.openxmlformats.org/drawingml/2006/main" noGrp="1"/>
          </p:cNvSpPr>
          <p:nvPr/>
        </p:nvSpPr>
        <p:spPr>
          <a:xfrm xmlns:a="http://schemas.openxmlformats.org/drawingml/2006/main">
            <a:off x="7454417" y="2189988"/>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gn="ctr">
              <a:lnSpc>
                <a:spcPts val="1239"/>
              </a:lnSpc>
              <a:buNone/>
            </a:pPr>
            <a:r>
              <a:rPr sz="1050">
                <a:solidFill>
                  <a:srgbClr val="52677F"/>
                </a:solidFill>
                <a:latin typeface="Helvetica Neue"/>
                <a:ea typeface="Helvetica Neue"/>
                <a:cs typeface="Helvetica Neue"/>
              </a:rPr>
              <a:t>Bounded requests</a:t>
            </a:r>
            <a:endParaRPr sz="1050"/>
          </a:p>
        </p:txBody>
      </p:sp>
      <p:sp>
        <p:nvSpPr>
          <p:cNvPr id="20" name="Shape 17">
            <a:extLst xmlns:a="http://schemas.openxmlformats.org/drawingml/2006/main">
              <a:ext uri="{FF2B5EF4-FFF2-40B4-BE49-F238E27FC236}">
                <a16:creationId xmlns:a16="http://schemas.microsoft.com/office/drawing/2014/main" id="{1602A1A0-844B-44D4-8F3F-D074421EAC02}"/>
              </a:ext>
            </a:extLst>
          </p:cNvPr>
          <p:cNvSpPr>
            <a:spLocks xmlns:a="http://schemas.openxmlformats.org/drawingml/2006/main" noGrp="1"/>
          </p:cNvSpPr>
          <p:nvPr/>
        </p:nvSpPr>
        <p:spPr>
          <a:xfrm xmlns:a="http://schemas.openxmlformats.org/drawingml/2006/main">
            <a:off x="8945575" y="1828800"/>
            <a:ext cx="2697480" cy="1417320"/>
          </a:xfrm>
          <a:prstGeom xmlns:a="http://schemas.openxmlformats.org/drawingml/2006/main" prst="roundRect">
            <a:avLst>
              <a:gd name="adj" fmla="val 5161"/>
            </a:avLst>
          </a:prstGeom>
          <a:solidFill xmlns:a="http://schemas.openxmlformats.org/drawingml/2006/main">
            <a:srgbClr val="0B2545"/>
          </a:solidFill>
          <a:ln xmlns:a="http://schemas.openxmlformats.org/drawingml/2006/main" w="15875">
            <a:solidFill>
              <a:srgbClr val="0B2545"/>
            </a:solidFill>
            <a:prstDash val="solid"/>
          </a:ln>
        </p:spPr>
      </p:sp>
      <p:sp>
        <p:nvSpPr>
          <p:cNvPr id="21" name="Text 18">
            <a:extLst xmlns:a="http://schemas.openxmlformats.org/drawingml/2006/main">
              <a:ext uri="{FF2B5EF4-FFF2-40B4-BE49-F238E27FC236}">
                <a16:creationId xmlns:a16="http://schemas.microsoft.com/office/drawing/2014/main" id="{E98D370E-C391-4AEF-B250-BE32EE366118}"/>
              </a:ext>
            </a:extLst>
          </p:cNvPr>
          <p:cNvSpPr>
            <a:spLocks xmlns:a="http://schemas.openxmlformats.org/drawingml/2006/main" noGrp="1"/>
          </p:cNvSpPr>
          <p:nvPr/>
        </p:nvSpPr>
        <p:spPr>
          <a:xfrm xmlns:a="http://schemas.openxmlformats.org/drawingml/2006/main">
            <a:off x="9073591" y="1956816"/>
            <a:ext cx="2441448" cy="11612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Helvetica Neue"/>
                <a:ea typeface="Helvetica Neue"/>
                <a:cs typeface="Helvetica Neue"/>
              </a:rPr>
              <a:t>OpenAI API</a:t>
            </a:r>
            <a:endParaRPr sz="1350"/>
          </a:p>
          <a:p xmlns:a="http://schemas.openxmlformats.org/drawingml/2006/main">
            <a:pPr marL="0" indent="0" algn="ctr">
              <a:spcBef>
                <a:spcPts val="500"/>
              </a:spcBef>
              <a:buNone/>
            </a:pPr>
            <a:r>
              <a:rPr sz="1200">
                <a:solidFill>
                  <a:srgbClr val="C6D5E8"/>
                </a:solidFill>
                <a:latin typeface="Helvetica Neue"/>
                <a:ea typeface="Helvetica Neue"/>
                <a:cs typeface="Helvetica Neue"/>
              </a:rPr>
              <a:t>Measure real costs before setting paid plans.</a:t>
            </a:r>
            <a:endParaRPr sz="1350"/>
          </a:p>
        </p:txBody>
      </p:sp>
      <p:sp>
        <p:nvSpPr>
          <p:cNvPr id="22" name="Shape 19">
            <a:extLst xmlns:a="http://schemas.openxmlformats.org/drawingml/2006/main">
              <a:ext uri="{FF2B5EF4-FFF2-40B4-BE49-F238E27FC236}">
                <a16:creationId xmlns:a16="http://schemas.microsoft.com/office/drawing/2014/main" id="{F2B5E0CA-8A00-4F37-9C1D-413F7AB13D34}"/>
              </a:ext>
            </a:extLst>
          </p:cNvPr>
          <p:cNvSpPr>
            <a:spLocks xmlns:a="http://schemas.openxmlformats.org/drawingml/2006/main" noGrp="1"/>
          </p:cNvSpPr>
          <p:nvPr/>
        </p:nvSpPr>
        <p:spPr>
          <a:xfrm xmlns:a="http://schemas.openxmlformats.org/drawingml/2006/main">
            <a:off x="548640" y="3611880"/>
            <a:ext cx="5120640" cy="1508760"/>
          </a:xfrm>
          <a:prstGeom xmlns:a="http://schemas.openxmlformats.org/drawingml/2006/main" prst="roundRect">
            <a:avLst>
              <a:gd name="adj" fmla="val 4848"/>
            </a:avLst>
          </a:prstGeom>
          <a:solidFill xmlns:a="http://schemas.openxmlformats.org/drawingml/2006/main">
            <a:srgbClr val="F6F8FA"/>
          </a:solidFill>
          <a:ln xmlns:a="http://schemas.openxmlformats.org/drawingml/2006/main" w="15875">
            <a:solidFill>
              <a:srgbClr val="A9B6C7"/>
            </a:solidFill>
            <a:prstDash val="dash"/>
          </a:ln>
        </p:spPr>
      </p:sp>
      <p:sp>
        <p:nvSpPr>
          <p:cNvPr id="23" name="Text 20">
            <a:extLst xmlns:a="http://schemas.openxmlformats.org/drawingml/2006/main">
              <a:ext uri="{FF2B5EF4-FFF2-40B4-BE49-F238E27FC236}">
                <a16:creationId xmlns:a16="http://schemas.microsoft.com/office/drawing/2014/main" id="{7EC69859-593D-4299-9290-5468D854D142}"/>
              </a:ext>
            </a:extLst>
          </p:cNvPr>
          <p:cNvSpPr>
            <a:spLocks xmlns:a="http://schemas.openxmlformats.org/drawingml/2006/main" noGrp="1"/>
          </p:cNvSpPr>
          <p:nvPr/>
        </p:nvSpPr>
        <p:spPr>
          <a:xfrm xmlns:a="http://schemas.openxmlformats.org/drawingml/2006/main">
            <a:off x="768096" y="3831336"/>
            <a:ext cx="468172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950" b="1" spc="80">
                <a:solidFill>
                  <a:srgbClr val="52677F"/>
                </a:solidFill>
                <a:latin typeface="Helvetica Neue"/>
                <a:ea typeface="Helvetica Neue"/>
                <a:cs typeface="Helvetica Neue"/>
              </a:rPr>
              <a:t>DEFERRED · NOT IMPLEMENTED</a:t>
            </a:r>
            <a:endParaRPr sz="950"/>
          </a:p>
        </p:txBody>
      </p:sp>
      <p:sp>
        <p:nvSpPr>
          <p:cNvPr id="24" name="Text 21">
            <a:extLst xmlns:a="http://schemas.openxmlformats.org/drawingml/2006/main">
              <a:ext uri="{FF2B5EF4-FFF2-40B4-BE49-F238E27FC236}">
                <a16:creationId xmlns:a16="http://schemas.microsoft.com/office/drawing/2014/main" id="{84A8AE76-C2F3-4098-B5BE-32041BBF0B9A}"/>
              </a:ext>
            </a:extLst>
          </p:cNvPr>
          <p:cNvSpPr>
            <a:spLocks xmlns:a="http://schemas.openxmlformats.org/drawingml/2006/main" noGrp="1"/>
          </p:cNvSpPr>
          <p:nvPr/>
        </p:nvSpPr>
        <p:spPr>
          <a:xfrm xmlns:a="http://schemas.openxmlformats.org/drawingml/2006/main">
            <a:off x="768096" y="4085654"/>
            <a:ext cx="4681728" cy="81553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52677F"/>
                </a:solidFill>
                <a:latin typeface="Helvetica Neue"/>
                <a:ea typeface="Helvetica Neue"/>
                <a:cs typeface="Helvetica Neue"/>
              </a:rPr>
              <a:t>Customer’s own ChatGPT subscription</a:t>
            </a:r>
            <a:endParaRPr sz="1400"/>
          </a:p>
          <a:p xmlns:a="http://schemas.openxmlformats.org/drawingml/2006/main">
            <a:pPr marL="0" indent="0" algn="l">
              <a:spcBef>
                <a:spcPts val="500"/>
              </a:spcBef>
              <a:buNone/>
            </a:pPr>
            <a:r>
              <a:rPr sz="1250">
                <a:solidFill>
                  <a:srgbClr val="52677F"/>
                </a:solidFill>
                <a:latin typeface="Helvetica Neue"/>
                <a:ea typeface="Helvetica Neue"/>
                <a:cs typeface="Helvetica Neue"/>
              </a:rPr>
              <a:t>A research track, not a launch feature.</a:t>
            </a:r>
            <a:endParaRPr sz="1400"/>
          </a:p>
        </p:txBody>
      </p:sp>
      <p:sp>
        <p:nvSpPr>
          <p:cNvPr id="25" name="Shape 22">
            <a:extLst xmlns:a="http://schemas.openxmlformats.org/drawingml/2006/main">
              <a:ext uri="{FF2B5EF4-FFF2-40B4-BE49-F238E27FC236}">
                <a16:creationId xmlns:a16="http://schemas.microsoft.com/office/drawing/2014/main" id="{5F7FF5FC-EA6F-444B-AA0A-1F23D2B2ED4D}"/>
              </a:ext>
            </a:extLst>
          </p:cNvPr>
          <p:cNvSpPr>
            <a:spLocks xmlns:a="http://schemas.openxmlformats.org/drawingml/2006/main" noGrp="1"/>
          </p:cNvSpPr>
          <p:nvPr/>
        </p:nvSpPr>
        <p:spPr>
          <a:xfrm xmlns:a="http://schemas.openxmlformats.org/drawingml/2006/main">
            <a:off x="5971032" y="3611880"/>
            <a:ext cx="5672023" cy="1508760"/>
          </a:xfrm>
          <a:prstGeom xmlns:a="http://schemas.openxmlformats.org/drawingml/2006/main" prst="roundRect">
            <a:avLst>
              <a:gd name="adj" fmla="val 4848"/>
            </a:avLst>
          </a:prstGeom>
          <a:solidFill xmlns:a="http://schemas.openxmlformats.org/drawingml/2006/main">
            <a:srgbClr val="F3F6FB"/>
          </a:solidFill>
          <a:ln xmlns:a="http://schemas.openxmlformats.org/drawingml/2006/main" w="9525">
            <a:solidFill>
              <a:srgbClr val="C9D6E8"/>
            </a:solidFill>
            <a:prstDash val="solid"/>
          </a:ln>
        </p:spPr>
      </p:sp>
      <p:sp>
        <p:nvSpPr>
          <p:cNvPr id="26" name="Text 23">
            <a:extLst xmlns:a="http://schemas.openxmlformats.org/drawingml/2006/main">
              <a:ext uri="{FF2B5EF4-FFF2-40B4-BE49-F238E27FC236}">
                <a16:creationId xmlns:a16="http://schemas.microsoft.com/office/drawing/2014/main" id="{5E2C9346-D285-4A4D-9EAB-9E5554636049}"/>
              </a:ext>
            </a:extLst>
          </p:cNvPr>
          <p:cNvSpPr>
            <a:spLocks xmlns:a="http://schemas.openxmlformats.org/drawingml/2006/main" noGrp="1"/>
          </p:cNvSpPr>
          <p:nvPr/>
        </p:nvSpPr>
        <p:spPr>
          <a:xfrm xmlns:a="http://schemas.openxmlformats.org/drawingml/2006/main">
            <a:off x="6227064" y="38313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20">
                <a:solidFill>
                  <a:srgbClr val="52677F"/>
                </a:solidFill>
                <a:latin typeface="Helvetica Neue"/>
                <a:ea typeface="Helvetica Neue"/>
                <a:cs typeface="Helvetica Neue"/>
              </a:rPr>
              <a:t>CHATGPT LINK, LATER</a:t>
            </a:r>
            <a:endParaRPr sz="1050"/>
          </a:p>
        </p:txBody>
      </p:sp>
      <p:sp>
        <p:nvSpPr>
          <p:cNvPr id="27" name="Shape 24">
            <a:extLst xmlns:a="http://schemas.openxmlformats.org/drawingml/2006/main">
              <a:ext uri="{FF2B5EF4-FFF2-40B4-BE49-F238E27FC236}">
                <a16:creationId xmlns:a16="http://schemas.microsoft.com/office/drawing/2014/main" id="{9D17AB6E-57E4-44AD-B62C-F72AB7C47F4C}"/>
              </a:ext>
            </a:extLst>
          </p:cNvPr>
          <p:cNvSpPr>
            <a:spLocks xmlns:a="http://schemas.openxmlformats.org/drawingml/2006/main" noGrp="1"/>
          </p:cNvSpPr>
          <p:nvPr/>
        </p:nvSpPr>
        <p:spPr>
          <a:xfrm xmlns:a="http://schemas.openxmlformats.org/drawingml/2006/main">
            <a:off x="6227064" y="4257294"/>
            <a:ext cx="77724" cy="77724"/>
          </a:xfrm>
          <a:prstGeom xmlns:a="http://schemas.openxmlformats.org/drawingml/2006/main" prst="rect">
            <a:avLst/>
          </a:prstGeom>
          <a:solidFill xmlns:a="http://schemas.openxmlformats.org/drawingml/2006/main">
            <a:srgbClr val="52677F"/>
          </a:solidFill>
          <a:ln xmlns:a="http://schemas.openxmlformats.org/drawingml/2006/main" w="12700">
            <a:solidFill>
              <a:srgbClr val="52677F"/>
            </a:solidFill>
            <a:prstDash val="solid"/>
          </a:ln>
        </p:spPr>
      </p:sp>
      <p:sp>
        <p:nvSpPr>
          <p:cNvPr id="28" name="Text 25">
            <a:extLst xmlns:a="http://schemas.openxmlformats.org/drawingml/2006/main">
              <a:ext uri="{FF2B5EF4-FFF2-40B4-BE49-F238E27FC236}">
                <a16:creationId xmlns:a16="http://schemas.microsoft.com/office/drawing/2014/main" id="{4D32654A-30C5-4620-8579-8EE51A79B12C}"/>
              </a:ext>
            </a:extLst>
          </p:cNvPr>
          <p:cNvSpPr>
            <a:spLocks xmlns:a="http://schemas.openxmlformats.org/drawingml/2006/main" noGrp="1"/>
          </p:cNvSpPr>
          <p:nvPr/>
        </p:nvSpPr>
        <p:spPr>
          <a:xfrm xmlns:a="http://schemas.openxmlformats.org/drawingml/2006/main">
            <a:off x="6446520" y="4169664"/>
            <a:ext cx="49405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52677F"/>
                </a:solidFill>
                <a:latin typeface="Helvetica Neue"/>
                <a:ea typeface="Helvetica Neue"/>
                <a:cs typeface="Helvetica Neue"/>
              </a:rPr>
              <a:t>Explore an official account connection only.</a:t>
            </a:r>
            <a:endParaRPr sz="1300"/>
          </a:p>
        </p:txBody>
      </p:sp>
      <p:sp>
        <p:nvSpPr>
          <p:cNvPr id="29" name="Shape 26">
            <a:extLst xmlns:a="http://schemas.openxmlformats.org/drawingml/2006/main">
              <a:ext uri="{FF2B5EF4-FFF2-40B4-BE49-F238E27FC236}">
                <a16:creationId xmlns:a16="http://schemas.microsoft.com/office/drawing/2014/main" id="{3943219C-1290-4935-BA30-9FA4C7AE38E8}"/>
              </a:ext>
            </a:extLst>
          </p:cNvPr>
          <p:cNvSpPr>
            <a:spLocks xmlns:a="http://schemas.openxmlformats.org/drawingml/2006/main" noGrp="1"/>
          </p:cNvSpPr>
          <p:nvPr/>
        </p:nvSpPr>
        <p:spPr>
          <a:xfrm xmlns:a="http://schemas.openxmlformats.org/drawingml/2006/main">
            <a:off x="6227064" y="4586478"/>
            <a:ext cx="77724" cy="77724"/>
          </a:xfrm>
          <a:prstGeom xmlns:a="http://schemas.openxmlformats.org/drawingml/2006/main" prst="rect">
            <a:avLst/>
          </a:prstGeom>
          <a:solidFill xmlns:a="http://schemas.openxmlformats.org/drawingml/2006/main">
            <a:srgbClr val="52677F"/>
          </a:solidFill>
          <a:ln xmlns:a="http://schemas.openxmlformats.org/drawingml/2006/main" w="12700">
            <a:solidFill>
              <a:srgbClr val="52677F"/>
            </a:solidFill>
            <a:prstDash val="solid"/>
          </a:ln>
        </p:spPr>
      </p:sp>
      <p:sp>
        <p:nvSpPr>
          <p:cNvPr id="30" name="Text 27">
            <a:extLst xmlns:a="http://schemas.openxmlformats.org/drawingml/2006/main">
              <a:ext uri="{FF2B5EF4-FFF2-40B4-BE49-F238E27FC236}">
                <a16:creationId xmlns:a16="http://schemas.microsoft.com/office/drawing/2014/main" id="{EA8CF3BA-2EAD-4C5B-AEF6-90BD21675AD0}"/>
              </a:ext>
            </a:extLst>
          </p:cNvPr>
          <p:cNvSpPr>
            <a:spLocks xmlns:a="http://schemas.openxmlformats.org/drawingml/2006/main" noGrp="1"/>
          </p:cNvSpPr>
          <p:nvPr/>
        </p:nvSpPr>
        <p:spPr>
          <a:xfrm xmlns:a="http://schemas.openxmlformats.org/drawingml/2006/main">
            <a:off x="6446520" y="4498848"/>
            <a:ext cx="49405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52677F"/>
                </a:solidFill>
                <a:latin typeface="Helvetica Neue"/>
                <a:ea typeface="Helvetica Neue"/>
                <a:cs typeface="Helvetica Neue"/>
              </a:rPr>
              <a:t>Resolve production support and isolation first.</a:t>
            </a:r>
            <a:endParaRPr sz="1300"/>
          </a:p>
        </p:txBody>
      </p:sp>
      <p:sp>
        <p:nvSpPr>
          <p:cNvPr id="31" name="Shape 28">
            <a:extLst xmlns:a="http://schemas.openxmlformats.org/drawingml/2006/main">
              <a:ext uri="{FF2B5EF4-FFF2-40B4-BE49-F238E27FC236}">
                <a16:creationId xmlns:a16="http://schemas.microsoft.com/office/drawing/2014/main" id="{94338774-B6A3-418C-B227-9A00C2CD7B24}"/>
              </a:ext>
            </a:extLst>
          </p:cNvPr>
          <p:cNvSpPr>
            <a:spLocks xmlns:a="http://schemas.openxmlformats.org/drawingml/2006/main" noGrp="1"/>
          </p:cNvSpPr>
          <p:nvPr/>
        </p:nvSpPr>
        <p:spPr>
          <a:xfrm xmlns:a="http://schemas.openxmlformats.org/drawingml/2006/main">
            <a:off x="6227064" y="4915662"/>
            <a:ext cx="77724" cy="77724"/>
          </a:xfrm>
          <a:prstGeom xmlns:a="http://schemas.openxmlformats.org/drawingml/2006/main" prst="rect">
            <a:avLst/>
          </a:prstGeom>
          <a:solidFill xmlns:a="http://schemas.openxmlformats.org/drawingml/2006/main">
            <a:srgbClr val="52677F"/>
          </a:solidFill>
          <a:ln xmlns:a="http://schemas.openxmlformats.org/drawingml/2006/main" w="12700">
            <a:solidFill>
              <a:srgbClr val="52677F"/>
            </a:solidFill>
            <a:prstDash val="solid"/>
          </a:ln>
        </p:spPr>
      </p:sp>
      <p:sp>
        <p:nvSpPr>
          <p:cNvPr id="32" name="Text 29">
            <a:extLst xmlns:a="http://schemas.openxmlformats.org/drawingml/2006/main">
              <a:ext uri="{FF2B5EF4-FFF2-40B4-BE49-F238E27FC236}">
                <a16:creationId xmlns:a16="http://schemas.microsoft.com/office/drawing/2014/main" id="{DE830792-61C5-4CCA-AE57-B1A9722174E0}"/>
              </a:ext>
            </a:extLst>
          </p:cNvPr>
          <p:cNvSpPr>
            <a:spLocks xmlns:a="http://schemas.openxmlformats.org/drawingml/2006/main" noGrp="1"/>
          </p:cNvSpPr>
          <p:nvPr/>
        </p:nvSpPr>
        <p:spPr>
          <a:xfrm xmlns:a="http://schemas.openxmlformats.org/drawingml/2006/main">
            <a:off x="6446520" y="4828032"/>
            <a:ext cx="494050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52677F"/>
                </a:solidFill>
                <a:latin typeface="Helvetica Neue"/>
                <a:ea typeface="Helvetica Neue"/>
                <a:cs typeface="Helvetica Neue"/>
              </a:rPr>
              <a:t>Provide disconnect and limit recovery.</a:t>
            </a:r>
            <a:endParaRPr sz="1300"/>
          </a:p>
        </p:txBody>
      </p:sp>
      <p:sp>
        <p:nvSpPr>
          <p:cNvPr id="33" name="Shape 30">
            <a:extLst xmlns:a="http://schemas.openxmlformats.org/drawingml/2006/main">
              <a:ext uri="{FF2B5EF4-FFF2-40B4-BE49-F238E27FC236}">
                <a16:creationId xmlns:a16="http://schemas.microsoft.com/office/drawing/2014/main" id="{D74B81AC-B2DF-4C58-B266-5E982A789536}"/>
              </a:ext>
            </a:extLst>
          </p:cNvPr>
          <p:cNvSpPr>
            <a:spLocks xmlns:a="http://schemas.openxmlformats.org/drawingml/2006/main" noGrp="1"/>
          </p:cNvSpPr>
          <p:nvPr/>
        </p:nvSpPr>
        <p:spPr>
          <a:xfrm xmlns:a="http://schemas.openxmlformats.org/drawingml/2006/main">
            <a:off x="548640" y="5340096"/>
            <a:ext cx="11094415" cy="566928"/>
          </a:xfrm>
          <a:prstGeom xmlns:a="http://schemas.openxmlformats.org/drawingml/2006/main" prst="roundRect">
            <a:avLst>
              <a:gd name="adj" fmla="val 12903"/>
            </a:avLst>
          </a:prstGeom>
          <a:solidFill xmlns:a="http://schemas.openxmlformats.org/drawingml/2006/main">
            <a:srgbClr val="FDECEC"/>
          </a:solidFill>
          <a:ln xmlns:a="http://schemas.openxmlformats.org/drawingml/2006/main" w="9525">
            <a:solidFill>
              <a:srgbClr val="F3C4C4"/>
            </a:solidFill>
            <a:prstDash val="solid"/>
          </a:ln>
        </p:spPr>
      </p:sp>
      <p:sp>
        <p:nvSpPr>
          <p:cNvPr id="34" name="Text 31">
            <a:extLst xmlns:a="http://schemas.openxmlformats.org/drawingml/2006/main">
              <a:ext uri="{FF2B5EF4-FFF2-40B4-BE49-F238E27FC236}">
                <a16:creationId xmlns:a16="http://schemas.microsoft.com/office/drawing/2014/main" id="{B8C187B6-86F1-4919-9AC8-5EDD96C06AB4}"/>
              </a:ext>
            </a:extLst>
          </p:cNvPr>
          <p:cNvSpPr>
            <a:spLocks xmlns:a="http://schemas.openxmlformats.org/drawingml/2006/main" noGrp="1"/>
          </p:cNvSpPr>
          <p:nvPr/>
        </p:nvSpPr>
        <p:spPr>
          <a:xfrm xmlns:a="http://schemas.openxmlformats.org/drawingml/2006/main">
            <a:off x="804672" y="5431536"/>
            <a:ext cx="1058235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b="1">
                <a:solidFill>
                  <a:srgbClr val="B42318"/>
                </a:solidFill>
                <a:latin typeface="Helvetica Neue"/>
                <a:ea typeface="Helvetica Neue"/>
                <a:cs typeface="Helvetica Neue"/>
              </a:rPr>
              <a:t>Subscription linking is not implemented and is not included in launch claims.</a:t>
            </a:r>
            <a:endParaRPr sz="1350"/>
          </a:p>
        </p:txBody>
      </p:sp>
    </p:spTree>
    <p:extLst>
      <p:ext uri="{BB962C8B-B14F-4D97-AF65-F5344CB8AC3E}">
        <p14:creationId xmlns:p14="http://schemas.microsoft.com/office/powerpoint/2010/main" val="14248561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D81FB8C-EC78-4048-91A5-BBE8D1A41967}"/>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84EEA2C8-E496-46C2-A26C-85CE66DDF59D}"/>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FC7BAC8D-CFA5-4063-B6EE-F7117C06DEFB}"/>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ENGINEER</a:t>
            </a:r>
            <a:endParaRPr sz="1000"/>
          </a:p>
        </p:txBody>
      </p:sp>
      <p:sp>
        <p:nvSpPr>
          <p:cNvPr id="6" name="Text 3">
            <a:extLst xmlns:a="http://schemas.openxmlformats.org/drawingml/2006/main">
              <a:ext uri="{FF2B5EF4-FFF2-40B4-BE49-F238E27FC236}">
                <a16:creationId xmlns:a16="http://schemas.microsoft.com/office/drawing/2014/main" id="{BCFC0018-E9A9-4ABA-8E30-F3DC650C533E}"/>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current system</a:t>
            </a:r>
            <a:endParaRPr sz="3000"/>
          </a:p>
        </p:txBody>
      </p:sp>
      <p:sp>
        <p:nvSpPr>
          <p:cNvPr id="7" name="Text 4">
            <a:extLst xmlns:a="http://schemas.openxmlformats.org/drawingml/2006/main">
              <a:ext uri="{FF2B5EF4-FFF2-40B4-BE49-F238E27FC236}">
                <a16:creationId xmlns:a16="http://schemas.microsoft.com/office/drawing/2014/main" id="{88550C82-267D-440E-95FD-1D4CE5FB60CF}"/>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One authenticated Node.js service controls access and stores the customer’s approved work.</a:t>
            </a:r>
            <a:endParaRPr sz="1500"/>
          </a:p>
        </p:txBody>
      </p:sp>
      <p:sp>
        <p:nvSpPr>
          <p:cNvPr id="8" name="Shape 5">
            <a:extLst xmlns:a="http://schemas.openxmlformats.org/drawingml/2006/main">
              <a:ext uri="{FF2B5EF4-FFF2-40B4-BE49-F238E27FC236}">
                <a16:creationId xmlns:a16="http://schemas.microsoft.com/office/drawing/2014/main" id="{96062045-CE98-45B2-8167-279421EAE86C}"/>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658DF9BF-DDDD-489F-ADE1-F90828C33B8B}"/>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239A3067-E20E-484A-B2FD-3973028CEE5B}"/>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18 / 29</a:t>
            </a:r>
            <a:endParaRPr sz="900"/>
          </a:p>
        </p:txBody>
      </p:sp>
      <p:sp>
        <p:nvSpPr>
          <p:cNvPr id="11" name="Shape 8">
            <a:extLst xmlns:a="http://schemas.openxmlformats.org/drawingml/2006/main">
              <a:ext uri="{FF2B5EF4-FFF2-40B4-BE49-F238E27FC236}">
                <a16:creationId xmlns:a16="http://schemas.microsoft.com/office/drawing/2014/main" id="{C2C93CA7-C144-4B9B-84BD-6B06F03FBEF2}"/>
              </a:ext>
            </a:extLst>
          </p:cNvPr>
          <p:cNvSpPr>
            <a:spLocks xmlns:a="http://schemas.openxmlformats.org/drawingml/2006/main" noGrp="1"/>
          </p:cNvSpPr>
          <p:nvPr/>
        </p:nvSpPr>
        <p:spPr>
          <a:xfrm xmlns:a="http://schemas.openxmlformats.org/drawingml/2006/main">
            <a:off x="548640" y="1874520"/>
            <a:ext cx="2834640" cy="1325880"/>
          </a:xfrm>
          <a:prstGeom xmlns:a="http://schemas.openxmlformats.org/drawingml/2006/main" prst="roundRect">
            <a:avLst>
              <a:gd name="adj" fmla="val 5517"/>
            </a:avLst>
          </a:prstGeom>
          <a:solidFill xmlns:a="http://schemas.openxmlformats.org/drawingml/2006/main">
            <a:srgbClr val="175CD4"/>
          </a:solidFill>
          <a:ln xmlns:a="http://schemas.openxmlformats.org/drawingml/2006/main" w="15875">
            <a:solidFill>
              <a:srgbClr val="175CD4"/>
            </a:solidFill>
            <a:prstDash val="solid"/>
          </a:ln>
        </p:spPr>
      </p:sp>
      <p:sp>
        <p:nvSpPr>
          <p:cNvPr id="12" name="Text 9">
            <a:extLst xmlns:a="http://schemas.openxmlformats.org/drawingml/2006/main">
              <a:ext uri="{FF2B5EF4-FFF2-40B4-BE49-F238E27FC236}">
                <a16:creationId xmlns:a16="http://schemas.microsoft.com/office/drawing/2014/main" id="{FA5337F1-E8E8-4F5B-BAFA-4DB0FF510278}"/>
              </a:ext>
            </a:extLst>
          </p:cNvPr>
          <p:cNvSpPr>
            <a:spLocks xmlns:a="http://schemas.openxmlformats.org/drawingml/2006/main" noGrp="1"/>
          </p:cNvSpPr>
          <p:nvPr/>
        </p:nvSpPr>
        <p:spPr>
          <a:xfrm xmlns:a="http://schemas.openxmlformats.org/drawingml/2006/main">
            <a:off x="676656" y="2002536"/>
            <a:ext cx="2578608" cy="10698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Helvetica Neue"/>
                <a:ea typeface="Helvetica Neue"/>
                <a:cs typeface="Helvetica Neue"/>
              </a:rPr>
              <a:t>Browser</a:t>
            </a:r>
            <a:endParaRPr sz="1350"/>
          </a:p>
          <a:p xmlns:a="http://schemas.openxmlformats.org/drawingml/2006/main">
            <a:pPr marL="0" indent="0" algn="ctr">
              <a:spcBef>
                <a:spcPts val="500"/>
              </a:spcBef>
              <a:buNone/>
            </a:pPr>
            <a:r>
              <a:rPr sz="1200">
                <a:solidFill>
                  <a:srgbClr val="E7F0FA"/>
                </a:solidFill>
                <a:latin typeface="Helvetica Neue"/>
                <a:ea typeface="Helvetica Neue"/>
                <a:cs typeface="Helvetica Neue"/>
              </a:rPr>
              <a:t>Profile, interview, resumes and CRM. Demo uses a separate in-memory adapter.</a:t>
            </a:r>
            <a:endParaRPr sz="1350"/>
          </a:p>
        </p:txBody>
      </p:sp>
      <p:sp>
        <p:nvSpPr>
          <p:cNvPr id="13" name="Shape 10">
            <a:extLst xmlns:a="http://schemas.openxmlformats.org/drawingml/2006/main">
              <a:ext uri="{FF2B5EF4-FFF2-40B4-BE49-F238E27FC236}">
                <a16:creationId xmlns:a16="http://schemas.microsoft.com/office/drawing/2014/main" id="{20DEF862-6D87-4DEF-9DA3-0A9DEDEA71C8}"/>
              </a:ext>
            </a:extLst>
          </p:cNvPr>
          <p:cNvSpPr>
            <a:spLocks xmlns:a="http://schemas.openxmlformats.org/drawingml/2006/main" noGrp="1"/>
          </p:cNvSpPr>
          <p:nvPr/>
        </p:nvSpPr>
        <p:spPr>
          <a:xfrm xmlns:a="http://schemas.openxmlformats.org/drawingml/2006/main">
            <a:off x="3429000" y="2537460"/>
            <a:ext cx="12038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4" name="Text 11">
            <a:extLst xmlns:a="http://schemas.openxmlformats.org/drawingml/2006/main">
              <a:ext uri="{FF2B5EF4-FFF2-40B4-BE49-F238E27FC236}">
                <a16:creationId xmlns:a16="http://schemas.microsoft.com/office/drawing/2014/main" id="{745F033E-D781-44B4-92C7-3C63FC0A5EBE}"/>
              </a:ext>
            </a:extLst>
          </p:cNvPr>
          <p:cNvSpPr>
            <a:spLocks xmlns:a="http://schemas.openxmlformats.org/drawingml/2006/main" noGrp="1"/>
          </p:cNvSpPr>
          <p:nvPr/>
        </p:nvSpPr>
        <p:spPr>
          <a:xfrm xmlns:a="http://schemas.openxmlformats.org/drawingml/2006/main">
            <a:off x="3399968" y="2189988"/>
            <a:ext cx="12618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gn="ctr">
              <a:lnSpc>
                <a:spcPts val="1239"/>
              </a:lnSpc>
              <a:buNone/>
            </a:pPr>
            <a:r>
              <a:rPr sz="1050">
                <a:solidFill>
                  <a:srgbClr val="52677F"/>
                </a:solidFill>
                <a:latin typeface="Helvetica Neue"/>
                <a:ea typeface="Helvetica Neue"/>
                <a:cs typeface="Helvetica Neue"/>
              </a:rPr>
              <a:t>Authenticated HTTPS requests</a:t>
            </a:r>
            <a:endParaRPr sz="1050"/>
          </a:p>
        </p:txBody>
      </p:sp>
      <p:sp>
        <p:nvSpPr>
          <p:cNvPr id="15" name="Shape 12">
            <a:extLst xmlns:a="http://schemas.openxmlformats.org/drawingml/2006/main">
              <a:ext uri="{FF2B5EF4-FFF2-40B4-BE49-F238E27FC236}">
                <a16:creationId xmlns:a16="http://schemas.microsoft.com/office/drawing/2014/main" id="{9FD3DCE9-FD74-4446-9625-091296BCB040}"/>
              </a:ext>
            </a:extLst>
          </p:cNvPr>
          <p:cNvSpPr>
            <a:spLocks xmlns:a="http://schemas.openxmlformats.org/drawingml/2006/main" noGrp="1"/>
          </p:cNvSpPr>
          <p:nvPr/>
        </p:nvSpPr>
        <p:spPr>
          <a:xfrm xmlns:a="http://schemas.openxmlformats.org/drawingml/2006/main">
            <a:off x="4678528" y="1874520"/>
            <a:ext cx="2834640"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5875">
            <a:solidFill>
              <a:srgbClr val="175CD4"/>
            </a:solidFill>
            <a:prstDash val="solid"/>
          </a:ln>
        </p:spPr>
      </p:sp>
      <p:sp>
        <p:nvSpPr>
          <p:cNvPr id="16" name="Text 13">
            <a:extLst xmlns:a="http://schemas.openxmlformats.org/drawingml/2006/main">
              <a:ext uri="{FF2B5EF4-FFF2-40B4-BE49-F238E27FC236}">
                <a16:creationId xmlns:a16="http://schemas.microsoft.com/office/drawing/2014/main" id="{7EE58FAB-59DD-4772-82D3-4ED47299AE38}"/>
              </a:ext>
            </a:extLst>
          </p:cNvPr>
          <p:cNvSpPr>
            <a:spLocks xmlns:a="http://schemas.openxmlformats.org/drawingml/2006/main" noGrp="1"/>
          </p:cNvSpPr>
          <p:nvPr/>
        </p:nvSpPr>
        <p:spPr>
          <a:xfrm xmlns:a="http://schemas.openxmlformats.org/drawingml/2006/main">
            <a:off x="4806544" y="2002536"/>
            <a:ext cx="2578608" cy="10698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2545"/>
                </a:solidFill>
                <a:latin typeface="Helvetica Neue"/>
                <a:ea typeface="Helvetica Neue"/>
                <a:cs typeface="Helvetica Neue"/>
              </a:rPr>
              <a:t>Node server</a:t>
            </a:r>
            <a:endParaRPr sz="1350"/>
          </a:p>
          <a:p xmlns:a="http://schemas.openxmlformats.org/drawingml/2006/main">
            <a:pPr marL="0" indent="0" algn="ctr">
              <a:spcBef>
                <a:spcPts val="500"/>
              </a:spcBef>
              <a:buNone/>
            </a:pPr>
            <a:r>
              <a:rPr sz="1200">
                <a:solidFill>
                  <a:srgbClr val="52677F"/>
                </a:solidFill>
                <a:latin typeface="Helvetica Neue"/>
                <a:ea typeface="Helvetica Neue"/>
                <a:cs typeface="Helvetica Neue"/>
              </a:rPr>
              <a:t>Sessions, ownership, consent, quotas and validated writes.</a:t>
            </a:r>
            <a:endParaRPr sz="1350"/>
          </a:p>
        </p:txBody>
      </p:sp>
      <p:sp>
        <p:nvSpPr>
          <p:cNvPr id="17" name="Shape 14">
            <a:extLst xmlns:a="http://schemas.openxmlformats.org/drawingml/2006/main">
              <a:ext uri="{FF2B5EF4-FFF2-40B4-BE49-F238E27FC236}">
                <a16:creationId xmlns:a16="http://schemas.microsoft.com/office/drawing/2014/main" id="{4C878D2E-32D7-465F-999B-D0CF8E8B73FC}"/>
              </a:ext>
            </a:extLst>
          </p:cNvPr>
          <p:cNvSpPr>
            <a:spLocks xmlns:a="http://schemas.openxmlformats.org/drawingml/2006/main" noGrp="1"/>
          </p:cNvSpPr>
          <p:nvPr/>
        </p:nvSpPr>
        <p:spPr>
          <a:xfrm xmlns:a="http://schemas.openxmlformats.org/drawingml/2006/main">
            <a:off x="7558888" y="2537460"/>
            <a:ext cx="12038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8" name="Text 15">
            <a:extLst xmlns:a="http://schemas.openxmlformats.org/drawingml/2006/main">
              <a:ext uri="{FF2B5EF4-FFF2-40B4-BE49-F238E27FC236}">
                <a16:creationId xmlns:a16="http://schemas.microsoft.com/office/drawing/2014/main" id="{E455F9C1-FB56-4F93-86A5-10273AFF3D92}"/>
              </a:ext>
            </a:extLst>
          </p:cNvPr>
          <p:cNvSpPr>
            <a:spLocks xmlns:a="http://schemas.openxmlformats.org/drawingml/2006/main" noGrp="1"/>
          </p:cNvSpPr>
          <p:nvPr/>
        </p:nvSpPr>
        <p:spPr>
          <a:xfrm xmlns:a="http://schemas.openxmlformats.org/drawingml/2006/main">
            <a:off x="7529855" y="2189988"/>
            <a:ext cx="12618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gn="ctr">
              <a:lnSpc>
                <a:spcPts val="1239"/>
              </a:lnSpc>
              <a:buNone/>
            </a:pPr>
            <a:r>
              <a:rPr sz="1050">
                <a:solidFill>
                  <a:srgbClr val="52677F"/>
                </a:solidFill>
                <a:latin typeface="Helvetica Neue"/>
                <a:ea typeface="Helvetica Neue"/>
                <a:cs typeface="Helvetica Neue"/>
              </a:rPr>
              <a:t>Owner-scoped rows</a:t>
            </a:r>
            <a:endParaRPr sz="1050"/>
          </a:p>
        </p:txBody>
      </p:sp>
      <p:sp>
        <p:nvSpPr>
          <p:cNvPr id="19" name="Shape 16">
            <a:extLst xmlns:a="http://schemas.openxmlformats.org/drawingml/2006/main">
              <a:ext uri="{FF2B5EF4-FFF2-40B4-BE49-F238E27FC236}">
                <a16:creationId xmlns:a16="http://schemas.microsoft.com/office/drawing/2014/main" id="{17A636AB-EC92-4051-954E-3D5C01463FFF}"/>
              </a:ext>
            </a:extLst>
          </p:cNvPr>
          <p:cNvSpPr>
            <a:spLocks xmlns:a="http://schemas.openxmlformats.org/drawingml/2006/main" noGrp="1"/>
          </p:cNvSpPr>
          <p:nvPr/>
        </p:nvSpPr>
        <p:spPr>
          <a:xfrm xmlns:a="http://schemas.openxmlformats.org/drawingml/2006/main">
            <a:off x="8808415" y="1874520"/>
            <a:ext cx="2834640" cy="1325880"/>
          </a:xfrm>
          <a:prstGeom xmlns:a="http://schemas.openxmlformats.org/drawingml/2006/main" prst="roundRect">
            <a:avLst>
              <a:gd name="adj" fmla="val 5517"/>
            </a:avLst>
          </a:prstGeom>
          <a:solidFill xmlns:a="http://schemas.openxmlformats.org/drawingml/2006/main">
            <a:srgbClr val="0B2545"/>
          </a:solidFill>
          <a:ln xmlns:a="http://schemas.openxmlformats.org/drawingml/2006/main" w="15875">
            <a:solidFill>
              <a:srgbClr val="0B2545"/>
            </a:solidFill>
            <a:prstDash val="solid"/>
          </a:ln>
        </p:spPr>
      </p:sp>
      <p:sp>
        <p:nvSpPr>
          <p:cNvPr id="20" name="Text 17">
            <a:extLst xmlns:a="http://schemas.openxmlformats.org/drawingml/2006/main">
              <a:ext uri="{FF2B5EF4-FFF2-40B4-BE49-F238E27FC236}">
                <a16:creationId xmlns:a16="http://schemas.microsoft.com/office/drawing/2014/main" id="{1ABBD1B1-A56D-4589-918C-75E7CB9475F8}"/>
              </a:ext>
            </a:extLst>
          </p:cNvPr>
          <p:cNvSpPr>
            <a:spLocks xmlns:a="http://schemas.openxmlformats.org/drawingml/2006/main" noGrp="1"/>
          </p:cNvSpPr>
          <p:nvPr/>
        </p:nvSpPr>
        <p:spPr>
          <a:xfrm xmlns:a="http://schemas.openxmlformats.org/drawingml/2006/main">
            <a:off x="8936431" y="2002536"/>
            <a:ext cx="2578608" cy="10698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FFFFFF"/>
                </a:solidFill>
                <a:latin typeface="Helvetica Neue"/>
                <a:ea typeface="Helvetica Neue"/>
                <a:cs typeface="Helvetica Neue"/>
              </a:rPr>
              <a:t>SQLite</a:t>
            </a:r>
            <a:endParaRPr sz="1350"/>
          </a:p>
          <a:p xmlns:a="http://schemas.openxmlformats.org/drawingml/2006/main">
            <a:pPr marL="0" indent="0" algn="ctr">
              <a:spcBef>
                <a:spcPts val="500"/>
              </a:spcBef>
              <a:buNone/>
            </a:pPr>
            <a:r>
              <a:rPr sz="1200">
                <a:solidFill>
                  <a:srgbClr val="C6D5E8"/>
                </a:solidFill>
                <a:latin typeface="Helvetica Neue"/>
                <a:ea typeface="Helvetica Neue"/>
                <a:cs typeface="Helvetica Neue"/>
              </a:rPr>
              <a:t>Private profiles, interviews, proposals, resumes and applications.</a:t>
            </a:r>
            <a:endParaRPr sz="1350"/>
          </a:p>
        </p:txBody>
      </p:sp>
      <p:sp>
        <p:nvSpPr>
          <p:cNvPr id="21" name="Shape 18">
            <a:extLst xmlns:a="http://schemas.openxmlformats.org/drawingml/2006/main">
              <a:ext uri="{FF2B5EF4-FFF2-40B4-BE49-F238E27FC236}">
                <a16:creationId xmlns:a16="http://schemas.microsoft.com/office/drawing/2014/main" id="{2CA6EA4A-C282-428B-8984-3C68422D5DDB}"/>
              </a:ext>
            </a:extLst>
          </p:cNvPr>
          <p:cNvSpPr>
            <a:spLocks xmlns:a="http://schemas.openxmlformats.org/drawingml/2006/main" noGrp="1"/>
          </p:cNvSpPr>
          <p:nvPr/>
        </p:nvSpPr>
        <p:spPr>
          <a:xfrm xmlns:a="http://schemas.openxmlformats.org/drawingml/2006/main" flipH="1">
            <a:off x="3840480" y="3200400"/>
            <a:ext cx="1478128" cy="86868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2" name="Shape 19">
            <a:extLst xmlns:a="http://schemas.openxmlformats.org/drawingml/2006/main">
              <a:ext uri="{FF2B5EF4-FFF2-40B4-BE49-F238E27FC236}">
                <a16:creationId xmlns:a16="http://schemas.microsoft.com/office/drawing/2014/main" id="{CB84DC1C-050A-4F3F-96E9-112ED42B16AA}"/>
              </a:ext>
            </a:extLst>
          </p:cNvPr>
          <p:cNvSpPr>
            <a:spLocks xmlns:a="http://schemas.openxmlformats.org/drawingml/2006/main" noGrp="1"/>
          </p:cNvSpPr>
          <p:nvPr/>
        </p:nvSpPr>
        <p:spPr>
          <a:xfrm xmlns:a="http://schemas.openxmlformats.org/drawingml/2006/main">
            <a:off x="2503856" y="3497580"/>
            <a:ext cx="1783080" cy="2743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C8E1E016-7B33-4F3E-A5F5-2168C8DFAFDA}"/>
              </a:ext>
            </a:extLst>
          </p:cNvPr>
          <p:cNvSpPr>
            <a:spLocks xmlns:a="http://schemas.openxmlformats.org/drawingml/2006/main" noGrp="1"/>
          </p:cNvSpPr>
          <p:nvPr/>
        </p:nvSpPr>
        <p:spPr>
          <a:xfrm xmlns:a="http://schemas.openxmlformats.org/drawingml/2006/main">
            <a:off x="2503856" y="3538728"/>
            <a:ext cx="1783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2677F"/>
                </a:solidFill>
                <a:latin typeface="Helvetica Neue"/>
                <a:ea typeface="Helvetica Neue"/>
                <a:cs typeface="Helvetica Neue"/>
              </a:rPr>
              <a:t>Consent and quotas</a:t>
            </a:r>
            <a:endParaRPr sz="1100"/>
          </a:p>
        </p:txBody>
      </p:sp>
      <p:sp>
        <p:nvSpPr>
          <p:cNvPr id="24" name="Shape 21">
            <a:extLst xmlns:a="http://schemas.openxmlformats.org/drawingml/2006/main">
              <a:ext uri="{FF2B5EF4-FFF2-40B4-BE49-F238E27FC236}">
                <a16:creationId xmlns:a16="http://schemas.microsoft.com/office/drawing/2014/main" id="{5C2F2CAB-4A74-41E7-AD1F-16403DD855B3}"/>
              </a:ext>
            </a:extLst>
          </p:cNvPr>
          <p:cNvSpPr>
            <a:spLocks xmlns:a="http://schemas.openxmlformats.org/drawingml/2006/main" noGrp="1"/>
          </p:cNvSpPr>
          <p:nvPr/>
        </p:nvSpPr>
        <p:spPr>
          <a:xfrm xmlns:a="http://schemas.openxmlformats.org/drawingml/2006/main">
            <a:off x="2423160" y="4069080"/>
            <a:ext cx="2834640" cy="1234440"/>
          </a:xfrm>
          <a:prstGeom xmlns:a="http://schemas.openxmlformats.org/drawingml/2006/main" prst="roundRect">
            <a:avLst>
              <a:gd name="adj" fmla="val 5926"/>
            </a:avLst>
          </a:prstGeom>
          <a:solidFill xmlns:a="http://schemas.openxmlformats.org/drawingml/2006/main">
            <a:srgbClr val="F3F6FB"/>
          </a:solidFill>
          <a:ln xmlns:a="http://schemas.openxmlformats.org/drawingml/2006/main" w="15875">
            <a:solidFill>
              <a:srgbClr val="175CD4"/>
            </a:solidFill>
            <a:prstDash val="solid"/>
          </a:ln>
        </p:spPr>
      </p:sp>
      <p:sp>
        <p:nvSpPr>
          <p:cNvPr id="25" name="Text 22">
            <a:extLst xmlns:a="http://schemas.openxmlformats.org/drawingml/2006/main">
              <a:ext uri="{FF2B5EF4-FFF2-40B4-BE49-F238E27FC236}">
                <a16:creationId xmlns:a16="http://schemas.microsoft.com/office/drawing/2014/main" id="{6271E97A-481E-4714-A6DA-8D005251BDB6}"/>
              </a:ext>
            </a:extLst>
          </p:cNvPr>
          <p:cNvSpPr>
            <a:spLocks xmlns:a="http://schemas.openxmlformats.org/drawingml/2006/main" noGrp="1"/>
          </p:cNvSpPr>
          <p:nvPr/>
        </p:nvSpPr>
        <p:spPr>
          <a:xfrm xmlns:a="http://schemas.openxmlformats.org/drawingml/2006/main">
            <a:off x="2551176" y="4197096"/>
            <a:ext cx="257860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175CD4"/>
                </a:solidFill>
                <a:latin typeface="Helvetica Neue"/>
                <a:ea typeface="Helvetica Neue"/>
                <a:cs typeface="Helvetica Neue"/>
              </a:rPr>
              <a:t>EXTERNAL SERVICE</a:t>
            </a:r>
            <a:endParaRPr sz="950"/>
          </a:p>
        </p:txBody>
      </p:sp>
      <p:sp>
        <p:nvSpPr>
          <p:cNvPr id="26" name="Text 23">
            <a:extLst xmlns:a="http://schemas.openxmlformats.org/drawingml/2006/main">
              <a:ext uri="{FF2B5EF4-FFF2-40B4-BE49-F238E27FC236}">
                <a16:creationId xmlns:a16="http://schemas.microsoft.com/office/drawing/2014/main" id="{2021B09E-B6A5-458A-9057-A22A4E5D1CF1}"/>
              </a:ext>
            </a:extLst>
          </p:cNvPr>
          <p:cNvSpPr>
            <a:spLocks xmlns:a="http://schemas.openxmlformats.org/drawingml/2006/main" noGrp="1"/>
          </p:cNvSpPr>
          <p:nvPr/>
        </p:nvSpPr>
        <p:spPr>
          <a:xfrm xmlns:a="http://schemas.openxmlformats.org/drawingml/2006/main">
            <a:off x="2551176" y="4451414"/>
            <a:ext cx="2578608" cy="7240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2545"/>
                </a:solidFill>
                <a:latin typeface="Helvetica Neue"/>
                <a:ea typeface="Helvetica Neue"/>
                <a:cs typeface="Helvetica Neue"/>
              </a:rPr>
              <a:t>OpenAI</a:t>
            </a:r>
            <a:endParaRPr sz="1350"/>
          </a:p>
          <a:p xmlns:a="http://schemas.openxmlformats.org/drawingml/2006/main">
            <a:pPr marL="0" indent="0" algn="ctr">
              <a:spcBef>
                <a:spcPts val="500"/>
              </a:spcBef>
              <a:buNone/>
            </a:pPr>
            <a:r>
              <a:rPr sz="1200">
                <a:solidFill>
                  <a:srgbClr val="52677F"/>
                </a:solidFill>
                <a:latin typeface="Helvetica Neue"/>
                <a:ea typeface="Helvetica Neue"/>
                <a:cs typeface="Helvetica Neue"/>
              </a:rPr>
              <a:t>Bounded requests.</a:t>
            </a:r>
            <a:endParaRPr sz="1350"/>
          </a:p>
        </p:txBody>
      </p:sp>
      <p:sp>
        <p:nvSpPr>
          <p:cNvPr id="27" name="Shape 24">
            <a:extLst xmlns:a="http://schemas.openxmlformats.org/drawingml/2006/main">
              <a:ext uri="{FF2B5EF4-FFF2-40B4-BE49-F238E27FC236}">
                <a16:creationId xmlns:a16="http://schemas.microsoft.com/office/drawing/2014/main" id="{02A507A6-8A8B-48E7-83DD-F70D24980222}"/>
              </a:ext>
            </a:extLst>
          </p:cNvPr>
          <p:cNvSpPr>
            <a:spLocks xmlns:a="http://schemas.openxmlformats.org/drawingml/2006/main" noGrp="1"/>
          </p:cNvSpPr>
          <p:nvPr/>
        </p:nvSpPr>
        <p:spPr>
          <a:xfrm xmlns:a="http://schemas.openxmlformats.org/drawingml/2006/main">
            <a:off x="6873088" y="3200400"/>
            <a:ext cx="1475384" cy="86868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8" name="Shape 25">
            <a:extLst xmlns:a="http://schemas.openxmlformats.org/drawingml/2006/main">
              <a:ext uri="{FF2B5EF4-FFF2-40B4-BE49-F238E27FC236}">
                <a16:creationId xmlns:a16="http://schemas.microsoft.com/office/drawing/2014/main" id="{0CBDB9A5-03B8-4D49-AD76-72EE559DDACE}"/>
              </a:ext>
            </a:extLst>
          </p:cNvPr>
          <p:cNvSpPr>
            <a:spLocks xmlns:a="http://schemas.openxmlformats.org/drawingml/2006/main" noGrp="1"/>
          </p:cNvSpPr>
          <p:nvPr/>
        </p:nvSpPr>
        <p:spPr>
          <a:xfrm xmlns:a="http://schemas.openxmlformats.org/drawingml/2006/main">
            <a:off x="7903388" y="3497580"/>
            <a:ext cx="1783080" cy="2743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E9E6EF81-BAD0-4EAE-9E2F-F0CCAD6D5901}"/>
              </a:ext>
            </a:extLst>
          </p:cNvPr>
          <p:cNvSpPr>
            <a:spLocks xmlns:a="http://schemas.openxmlformats.org/drawingml/2006/main" noGrp="1"/>
          </p:cNvSpPr>
          <p:nvPr/>
        </p:nvSpPr>
        <p:spPr>
          <a:xfrm xmlns:a="http://schemas.openxmlformats.org/drawingml/2006/main">
            <a:off x="7903388" y="3538728"/>
            <a:ext cx="1783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100">
                <a:solidFill>
                  <a:srgbClr val="52677F"/>
                </a:solidFill>
                <a:latin typeface="Helvetica Neue"/>
                <a:ea typeface="Helvetica Neue"/>
                <a:cs typeface="Helvetica Neue"/>
              </a:rPr>
              <a:t>Cached public feed</a:t>
            </a:r>
            <a:endParaRPr sz="1100"/>
          </a:p>
        </p:txBody>
      </p:sp>
      <p:sp>
        <p:nvSpPr>
          <p:cNvPr id="30" name="Shape 27">
            <a:extLst xmlns:a="http://schemas.openxmlformats.org/drawingml/2006/main">
              <a:ext uri="{FF2B5EF4-FFF2-40B4-BE49-F238E27FC236}">
                <a16:creationId xmlns:a16="http://schemas.microsoft.com/office/drawing/2014/main" id="{5C0E1A1A-AAF7-48F8-8A00-151B9CF055A9}"/>
              </a:ext>
            </a:extLst>
          </p:cNvPr>
          <p:cNvSpPr>
            <a:spLocks xmlns:a="http://schemas.openxmlformats.org/drawingml/2006/main" noGrp="1"/>
          </p:cNvSpPr>
          <p:nvPr/>
        </p:nvSpPr>
        <p:spPr>
          <a:xfrm xmlns:a="http://schemas.openxmlformats.org/drawingml/2006/main">
            <a:off x="6931152" y="4069080"/>
            <a:ext cx="2834640" cy="1234440"/>
          </a:xfrm>
          <a:prstGeom xmlns:a="http://schemas.openxmlformats.org/drawingml/2006/main" prst="roundRect">
            <a:avLst>
              <a:gd name="adj" fmla="val 5926"/>
            </a:avLst>
          </a:prstGeom>
          <a:solidFill xmlns:a="http://schemas.openxmlformats.org/drawingml/2006/main">
            <a:srgbClr val="F3F6FB"/>
          </a:solidFill>
          <a:ln xmlns:a="http://schemas.openxmlformats.org/drawingml/2006/main" w="15875">
            <a:solidFill>
              <a:srgbClr val="175CD4"/>
            </a:solidFill>
            <a:prstDash val="solid"/>
          </a:ln>
        </p:spPr>
      </p:sp>
      <p:sp>
        <p:nvSpPr>
          <p:cNvPr id="31" name="Text 28">
            <a:extLst xmlns:a="http://schemas.openxmlformats.org/drawingml/2006/main">
              <a:ext uri="{FF2B5EF4-FFF2-40B4-BE49-F238E27FC236}">
                <a16:creationId xmlns:a16="http://schemas.microsoft.com/office/drawing/2014/main" id="{79F761E6-6C8D-4537-B070-3383C210E834}"/>
              </a:ext>
            </a:extLst>
          </p:cNvPr>
          <p:cNvSpPr>
            <a:spLocks xmlns:a="http://schemas.openxmlformats.org/drawingml/2006/main" noGrp="1"/>
          </p:cNvSpPr>
          <p:nvPr/>
        </p:nvSpPr>
        <p:spPr>
          <a:xfrm xmlns:a="http://schemas.openxmlformats.org/drawingml/2006/main">
            <a:off x="7059168" y="4197096"/>
            <a:ext cx="257860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950" b="1" spc="80">
                <a:solidFill>
                  <a:srgbClr val="175CD4"/>
                </a:solidFill>
                <a:latin typeface="Helvetica Neue"/>
                <a:ea typeface="Helvetica Neue"/>
                <a:cs typeface="Helvetica Neue"/>
              </a:rPr>
              <a:t>EXTERNAL SERVICE</a:t>
            </a:r>
            <a:endParaRPr sz="950"/>
          </a:p>
        </p:txBody>
      </p:sp>
      <p:sp>
        <p:nvSpPr>
          <p:cNvPr id="32" name="Text 29">
            <a:extLst xmlns:a="http://schemas.openxmlformats.org/drawingml/2006/main">
              <a:ext uri="{FF2B5EF4-FFF2-40B4-BE49-F238E27FC236}">
                <a16:creationId xmlns:a16="http://schemas.microsoft.com/office/drawing/2014/main" id="{96B0C7C8-49BA-422E-A8BD-2541C48F1135}"/>
              </a:ext>
            </a:extLst>
          </p:cNvPr>
          <p:cNvSpPr>
            <a:spLocks xmlns:a="http://schemas.openxmlformats.org/drawingml/2006/main" noGrp="1"/>
          </p:cNvSpPr>
          <p:nvPr/>
        </p:nvSpPr>
        <p:spPr>
          <a:xfrm xmlns:a="http://schemas.openxmlformats.org/drawingml/2006/main">
            <a:off x="7059168" y="4451414"/>
            <a:ext cx="2578608" cy="72409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0B2545"/>
                </a:solidFill>
                <a:latin typeface="Helvetica Neue"/>
                <a:ea typeface="Helvetica Neue"/>
                <a:cs typeface="Helvetica Neue"/>
              </a:rPr>
              <a:t>Remotive feed</a:t>
            </a:r>
            <a:endParaRPr sz="1350"/>
          </a:p>
          <a:p xmlns:a="http://schemas.openxmlformats.org/drawingml/2006/main">
            <a:pPr marL="0" indent="0" algn="ctr">
              <a:spcBef>
                <a:spcPts val="500"/>
              </a:spcBef>
              <a:buNone/>
            </a:pPr>
            <a:r>
              <a:rPr sz="1200">
                <a:solidFill>
                  <a:srgbClr val="52677F"/>
                </a:solidFill>
                <a:latin typeface="Helvetica Neue"/>
                <a:ea typeface="Helvetica Neue"/>
                <a:cs typeface="Helvetica Neue"/>
              </a:rPr>
              <a:t>Shared public feed cache.</a:t>
            </a:r>
            <a:endParaRPr sz="1350"/>
          </a:p>
        </p:txBody>
      </p:sp>
      <p:sp>
        <p:nvSpPr>
          <p:cNvPr id="33" name="Shape 30">
            <a:extLst xmlns:a="http://schemas.openxmlformats.org/drawingml/2006/main">
              <a:ext uri="{FF2B5EF4-FFF2-40B4-BE49-F238E27FC236}">
                <a16:creationId xmlns:a16="http://schemas.microsoft.com/office/drawing/2014/main" id="{156BF771-3357-42AC-8E7E-3C96C9F6D6A3}"/>
              </a:ext>
            </a:extLst>
          </p:cNvPr>
          <p:cNvSpPr>
            <a:spLocks xmlns:a="http://schemas.openxmlformats.org/drawingml/2006/main" noGrp="1"/>
          </p:cNvSpPr>
          <p:nvPr/>
        </p:nvSpPr>
        <p:spPr>
          <a:xfrm xmlns:a="http://schemas.openxmlformats.org/drawingml/2006/main">
            <a:off x="548640" y="5504688"/>
            <a:ext cx="11094415" cy="512064"/>
          </a:xfrm>
          <a:prstGeom xmlns:a="http://schemas.openxmlformats.org/drawingml/2006/main" prst="roundRect">
            <a:avLst>
              <a:gd name="adj" fmla="val 14286"/>
            </a:avLst>
          </a:prstGeom>
          <a:solidFill xmlns:a="http://schemas.openxmlformats.org/drawingml/2006/main">
            <a:srgbClr val="F3F6FB"/>
          </a:solidFill>
          <a:ln xmlns:a="http://schemas.openxmlformats.org/drawingml/2006/main" w="9525">
            <a:solidFill>
              <a:srgbClr val="C9D6E8"/>
            </a:solidFill>
            <a:prstDash val="solid"/>
          </a:ln>
        </p:spPr>
      </p:sp>
      <p:sp>
        <p:nvSpPr>
          <p:cNvPr id="34" name="Shape 31">
            <a:extLst xmlns:a="http://schemas.openxmlformats.org/drawingml/2006/main">
              <a:ext uri="{FF2B5EF4-FFF2-40B4-BE49-F238E27FC236}">
                <a16:creationId xmlns:a16="http://schemas.microsoft.com/office/drawing/2014/main" id="{256519DD-DCBF-487D-80F4-6C3AA6771B6C}"/>
              </a:ext>
            </a:extLst>
          </p:cNvPr>
          <p:cNvSpPr>
            <a:spLocks xmlns:a="http://schemas.openxmlformats.org/drawingml/2006/main" noGrp="1"/>
          </p:cNvSpPr>
          <p:nvPr/>
        </p:nvSpPr>
        <p:spPr>
          <a:xfrm xmlns:a="http://schemas.openxmlformats.org/drawingml/2006/main">
            <a:off x="557784" y="5614416"/>
            <a:ext cx="54864" cy="292608"/>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5" name="Text 32">
            <a:extLst xmlns:a="http://schemas.openxmlformats.org/drawingml/2006/main">
              <a:ext uri="{FF2B5EF4-FFF2-40B4-BE49-F238E27FC236}">
                <a16:creationId xmlns:a16="http://schemas.microsoft.com/office/drawing/2014/main" id="{D1FA66C1-2190-4DD3-95CB-26FCC0AE4DB9}"/>
              </a:ext>
            </a:extLst>
          </p:cNvPr>
          <p:cNvSpPr>
            <a:spLocks xmlns:a="http://schemas.openxmlformats.org/drawingml/2006/main" noGrp="1"/>
          </p:cNvSpPr>
          <p:nvPr/>
        </p:nvSpPr>
        <p:spPr>
          <a:xfrm xmlns:a="http://schemas.openxmlformats.org/drawingml/2006/main">
            <a:off x="859536" y="5596128"/>
            <a:ext cx="10472623"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B2545"/>
                </a:solidFill>
                <a:latin typeface="Helvetica Neue"/>
                <a:ea typeface="Helvetica Neue"/>
                <a:cs typeface="Helvetica Neue"/>
              </a:rPr>
              <a:t>Model responses never decide account ownership. Every private read and write is scoped to the signed-in owner.</a:t>
            </a:r>
            <a:endParaRPr sz="1350"/>
          </a:p>
        </p:txBody>
      </p:sp>
    </p:spTree>
    <p:extLst>
      <p:ext uri="{BB962C8B-B14F-4D97-AF65-F5344CB8AC3E}">
        <p14:creationId xmlns:p14="http://schemas.microsoft.com/office/powerpoint/2010/main" val="5197049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4A790F6-407D-498B-933F-5791E814AB67}"/>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6731C571-D7C8-4713-9CD4-4D84865456D6}"/>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A765A98F-BA26-4D69-99DB-6637C704E2FE}"/>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ENGINEER</a:t>
            </a:r>
            <a:endParaRPr sz="1000"/>
          </a:p>
        </p:txBody>
      </p:sp>
      <p:sp>
        <p:nvSpPr>
          <p:cNvPr id="6" name="Text 3">
            <a:extLst xmlns:a="http://schemas.openxmlformats.org/drawingml/2006/main">
              <a:ext uri="{FF2B5EF4-FFF2-40B4-BE49-F238E27FC236}">
                <a16:creationId xmlns:a16="http://schemas.microsoft.com/office/drawing/2014/main" id="{D1B9F5B1-1A12-420D-AF6B-C9F23B58FC16}"/>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Where the next engineer works</a:t>
            </a:r>
            <a:endParaRPr sz="3000"/>
          </a:p>
        </p:txBody>
      </p:sp>
      <p:sp>
        <p:nvSpPr>
          <p:cNvPr id="7" name="Text 4">
            <a:extLst xmlns:a="http://schemas.openxmlformats.org/drawingml/2006/main">
              <a:ext uri="{FF2B5EF4-FFF2-40B4-BE49-F238E27FC236}">
                <a16:creationId xmlns:a16="http://schemas.microsoft.com/office/drawing/2014/main" id="{4E65E653-CA7A-422E-AFCA-B1624890A6B2}"/>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Each row points at existing code, not a new implementation task.</a:t>
            </a:r>
            <a:endParaRPr sz="1500"/>
          </a:p>
        </p:txBody>
      </p:sp>
      <p:sp>
        <p:nvSpPr>
          <p:cNvPr id="8" name="Shape 5">
            <a:extLst xmlns:a="http://schemas.openxmlformats.org/drawingml/2006/main">
              <a:ext uri="{FF2B5EF4-FFF2-40B4-BE49-F238E27FC236}">
                <a16:creationId xmlns:a16="http://schemas.microsoft.com/office/drawing/2014/main" id="{32F92B67-35A9-4AEA-A873-9B0E3531873B}"/>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68E10140-1334-48D1-8B21-EC6E54D7F1DF}"/>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5F3D3FA5-B6F5-4819-91E2-E417E0816A88}"/>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19 / 29</a:t>
            </a:r>
            <a:endParaRPr sz="900"/>
          </a:p>
        </p:txBody>
      </p:sp>
      <p:graphicFrame>
        <p:nvGraphicFramePr>
          <p:cNvPr id="20" name="Table 0"/>
          <p:cNvGraphicFramePr/>
          <p:nvPr/>
        </p:nvGraphicFramePr>
        <p:xfrm>
          <a:off xmlns:a="http://schemas.openxmlformats.org/drawingml/2006/main" x="548640" y="1737360"/>
          <a:ext xmlns:a="http://schemas.openxmlformats.org/drawingml/2006/main" cx="11094415" cy="914400"/>
        </p:xfrm>
        <a:graphic xmlns:a="http://schemas.openxmlformats.org/drawingml/2006/main">
          <a:graphicData uri="http://schemas.openxmlformats.org/drawingml/2006/table">
            <a:tbl>
              <a:tblPr/>
              <a:tblGrid>
                <a:gridCol w="3657600"/>
                <a:gridCol w="7436815"/>
              </a:tblGrid>
              <a:tr h="530352">
                <a:tc>
                  <a:txBody>
                    <a:bodyPr/>
                    <a:lstStyle/>
                    <a:p>
                      <a:pPr marL="0" indent="0">
                        <a:buNone/>
                      </a:pPr>
                      <a:r>
                        <a:rPr sz="1200" b="1">
                          <a:solidFill>
                            <a:srgbClr val="FFFFFF"/>
                          </a:solidFill>
                          <a:latin typeface="Helvetica Neue"/>
                          <a:ea typeface="Helvetica Neue"/>
                          <a:cs typeface="Helvetica Neue"/>
                        </a:rPr>
                        <a:t>PATH IN THE REPOSITORY</a:t>
                      </a:r>
                      <a:endParaRPr sz="12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0B2545"/>
                    </a:solidFill>
                  </a:tcPr>
                </a:tc>
                <a:tc>
                  <a:txBody>
                    <a:bodyPr/>
                    <a:lstStyle/>
                    <a:p>
                      <a:pPr marL="0" indent="0">
                        <a:buNone/>
                      </a:pPr>
                      <a:r>
                        <a:rPr sz="1200" b="1">
                          <a:solidFill>
                            <a:srgbClr val="FFFFFF"/>
                          </a:solidFill>
                          <a:latin typeface="Helvetica Neue"/>
                          <a:ea typeface="Helvetica Neue"/>
                          <a:cs typeface="Helvetica Neue"/>
                        </a:rPr>
                        <a:t>WHAT IT OWNS</a:t>
                      </a:r>
                      <a:endParaRPr sz="12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0B2545"/>
                    </a:solidFill>
                  </a:tcPr>
                </a:tc>
              </a:tr>
              <a:tr h="530352">
                <a:tc>
                  <a:txBody>
                    <a:bodyPr/>
                    <a:lstStyle/>
                    <a:p>
                      <a:pPr marL="0" indent="0">
                        <a:buNone/>
                      </a:pPr>
                      <a:r>
                        <a:rPr sz="1500" b="1">
                          <a:solidFill>
                            <a:srgbClr val="175CD4"/>
                          </a:solidFill>
                          <a:latin typeface="Helvetica Neue"/>
                          <a:ea typeface="Helvetica Neue"/>
                          <a:cs typeface="Helvetica Neue"/>
                        </a:rPr>
                        <a:t>server.js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Routes, identity and request controls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175CD4"/>
                          </a:solidFill>
                          <a:latin typeface="Helvetica Neue"/>
                          <a:ea typeface="Helvetica Neue"/>
                          <a:cs typeface="Helvetica Neue"/>
                        </a:rPr>
                        <a:t>lib/store.js + auth.js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Owner-scoped data, sessions and recovery</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r h="530352">
                <a:tc>
                  <a:txBody>
                    <a:bodyPr/>
                    <a:lstStyle/>
                    <a:p>
                      <a:pPr marL="0" indent="0">
                        <a:buNone/>
                      </a:pPr>
                      <a:r>
                        <a:rPr sz="1500" b="1">
                          <a:solidFill>
                            <a:srgbClr val="175CD4"/>
                          </a:solidFill>
                          <a:latin typeface="Helvetica Neue"/>
                          <a:ea typeface="Helvetica Neue"/>
                          <a:cs typeface="Helvetica Neue"/>
                        </a:rPr>
                        <a:t>lib/ai.js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Interview, review, tailoring and evidence checks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175CD4"/>
                          </a:solidFill>
                          <a:latin typeface="Helvetica Neue"/>
                          <a:ea typeface="Helvetica Neue"/>
                          <a:cs typeface="Helvetica Neue"/>
                        </a:rPr>
                        <a:t>lib/resume-model.js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Profile, skill catalog and resume text</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r h="530352">
                <a:tc>
                  <a:txBody>
                    <a:bodyPr/>
                    <a:lstStyle/>
                    <a:p>
                      <a:pPr marL="0" indent="0">
                        <a:buNone/>
                      </a:pPr>
                      <a:r>
                        <a:rPr sz="1500" b="1">
                          <a:solidFill>
                            <a:srgbClr val="175CD4"/>
                          </a:solidFill>
                          <a:latin typeface="Helvetica Neue"/>
                          <a:ea typeface="Helvetica Neue"/>
                          <a:cs typeface="Helvetica Neue"/>
                        </a:rPr>
                        <a:t>lib/documents.js + jobs.js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Document workers and job feed</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175CD4"/>
                          </a:solidFill>
                          <a:latin typeface="Helvetica Neue"/>
                          <a:ea typeface="Helvetica Neue"/>
                          <a:cs typeface="Helvetica Neue"/>
                        </a:rPr>
                        <a:t>public/ + tests/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Customer UI, demo and behavioral checks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bl>
          </a:graphicData>
        </a:graphic>
      </p:graphicFrame>
    </p:spTree>
    <p:extLst>
      <p:ext uri="{BB962C8B-B14F-4D97-AF65-F5344CB8AC3E}">
        <p14:creationId xmlns:p14="http://schemas.microsoft.com/office/powerpoint/2010/main" val="5018228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5825355C-07DA-499A-A50E-9209F2D2322E}"/>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87BB4118-F101-458D-BB88-D733818600ED}"/>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08AFE3A3-EA69-4332-BF9D-1B6D870942F9}"/>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ENGINEER</a:t>
            </a:r>
            <a:endParaRPr sz="1000"/>
          </a:p>
        </p:txBody>
      </p:sp>
      <p:sp>
        <p:nvSpPr>
          <p:cNvPr id="6" name="Text 3">
            <a:extLst xmlns:a="http://schemas.openxmlformats.org/drawingml/2006/main">
              <a:ext uri="{FF2B5EF4-FFF2-40B4-BE49-F238E27FC236}">
                <a16:creationId xmlns:a16="http://schemas.microsoft.com/office/drawing/2014/main" id="{55B5FD04-D0E3-417E-8069-4444AC29A773}"/>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Rules to preserve in every refactor</a:t>
            </a:r>
            <a:endParaRPr sz="3000"/>
          </a:p>
        </p:txBody>
      </p:sp>
      <p:sp>
        <p:nvSpPr>
          <p:cNvPr id="7" name="Text 4">
            <a:extLst xmlns:a="http://schemas.openxmlformats.org/drawingml/2006/main">
              <a:ext uri="{FF2B5EF4-FFF2-40B4-BE49-F238E27FC236}">
                <a16:creationId xmlns:a16="http://schemas.microsoft.com/office/drawing/2014/main" id="{52EDBCD2-7F1F-471C-BC6A-F7916FBE9380}"/>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Four behaviours must survive any rewrite of the code beneath them.</a:t>
            </a:r>
            <a:endParaRPr sz="1500"/>
          </a:p>
        </p:txBody>
      </p:sp>
      <p:sp>
        <p:nvSpPr>
          <p:cNvPr id="8" name="Shape 5">
            <a:extLst xmlns:a="http://schemas.openxmlformats.org/drawingml/2006/main">
              <a:ext uri="{FF2B5EF4-FFF2-40B4-BE49-F238E27FC236}">
                <a16:creationId xmlns:a16="http://schemas.microsoft.com/office/drawing/2014/main" id="{57F805C0-526B-4E71-BD13-8AD16F182012}"/>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F31CD779-C9C6-457D-890E-30DE6920D852}"/>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1EE4212E-B831-467E-9BD0-A7F7CAF92DE3}"/>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20 / 29</a:t>
            </a:r>
            <a:endParaRPr sz="900"/>
          </a:p>
        </p:txBody>
      </p:sp>
      <p:sp>
        <p:nvSpPr>
          <p:cNvPr id="11" name="Shape 8">
            <a:extLst xmlns:a="http://schemas.openxmlformats.org/drawingml/2006/main">
              <a:ext uri="{FF2B5EF4-FFF2-40B4-BE49-F238E27FC236}">
                <a16:creationId xmlns:a16="http://schemas.microsoft.com/office/drawing/2014/main" id="{AC41E0E5-65C8-4648-BB09-29A6A3908AA7}"/>
              </a:ext>
            </a:extLst>
          </p:cNvPr>
          <p:cNvSpPr>
            <a:spLocks xmlns:a="http://schemas.openxmlformats.org/drawingml/2006/main" noGrp="1"/>
          </p:cNvSpPr>
          <p:nvPr/>
        </p:nvSpPr>
        <p:spPr>
          <a:xfrm xmlns:a="http://schemas.openxmlformats.org/drawingml/2006/main">
            <a:off x="548640" y="1883664"/>
            <a:ext cx="1365460" cy="438912"/>
          </a:xfrm>
          <a:prstGeom xmlns:a="http://schemas.openxmlformats.org/drawingml/2006/main" prst="roundRect">
            <a:avLst>
              <a:gd name="adj" fmla="val 18750"/>
            </a:avLst>
          </a:prstGeom>
          <a:solidFill xmlns:a="http://schemas.openxmlformats.org/drawingml/2006/main">
            <a:srgbClr val="175CD4"/>
          </a:solidFill>
          <a:ln xmlns:a="http://schemas.openxmlformats.org/drawingml/2006/main" w="12700">
            <a:solidFill>
              <a:srgbClr val="175CD4"/>
            </a:solidFill>
            <a:prstDash val="solid"/>
          </a:ln>
        </p:spPr>
      </p:sp>
      <p:sp>
        <p:nvSpPr>
          <p:cNvPr id="12" name="Text 9">
            <a:extLst xmlns:a="http://schemas.openxmlformats.org/drawingml/2006/main">
              <a:ext uri="{FF2B5EF4-FFF2-40B4-BE49-F238E27FC236}">
                <a16:creationId xmlns:a16="http://schemas.microsoft.com/office/drawing/2014/main" id="{5C2E2E97-121C-4227-88E0-CD7B3B00F310}"/>
              </a:ext>
            </a:extLst>
          </p:cNvPr>
          <p:cNvSpPr>
            <a:spLocks xmlns:a="http://schemas.openxmlformats.org/drawingml/2006/main" noGrp="1"/>
          </p:cNvSpPr>
          <p:nvPr/>
        </p:nvSpPr>
        <p:spPr>
          <a:xfrm xmlns:a="http://schemas.openxmlformats.org/drawingml/2006/main">
            <a:off x="603504" y="1920240"/>
            <a:ext cx="12557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CUSTOMER</a:t>
            </a:r>
            <a:endParaRPr sz="950"/>
          </a:p>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OWNERSHIP</a:t>
            </a:r>
            <a:endParaRPr sz="950"/>
          </a:p>
        </p:txBody>
      </p:sp>
      <p:sp>
        <p:nvSpPr>
          <p:cNvPr id="13" name="Shape 10">
            <a:extLst xmlns:a="http://schemas.openxmlformats.org/drawingml/2006/main">
              <a:ext uri="{FF2B5EF4-FFF2-40B4-BE49-F238E27FC236}">
                <a16:creationId xmlns:a16="http://schemas.microsoft.com/office/drawing/2014/main" id="{C022EFA6-9725-429C-8C93-B700CD8F3D33}"/>
              </a:ext>
            </a:extLst>
          </p:cNvPr>
          <p:cNvSpPr>
            <a:spLocks xmlns:a="http://schemas.openxmlformats.org/drawingml/2006/main" noGrp="1"/>
          </p:cNvSpPr>
          <p:nvPr/>
        </p:nvSpPr>
        <p:spPr>
          <a:xfrm xmlns:a="http://schemas.openxmlformats.org/drawingml/2006/main">
            <a:off x="3791625" y="1883664"/>
            <a:ext cx="2986953" cy="438912"/>
          </a:xfrm>
          <a:prstGeom xmlns:a="http://schemas.openxmlformats.org/drawingml/2006/main" prst="roundRect">
            <a:avLst>
              <a:gd name="adj" fmla="val 18750"/>
            </a:avLst>
          </a:prstGeom>
          <a:solidFill xmlns:a="http://schemas.openxmlformats.org/drawingml/2006/main">
            <a:srgbClr val="175CD4"/>
          </a:solidFill>
          <a:ln xmlns:a="http://schemas.openxmlformats.org/drawingml/2006/main" w="12700">
            <a:solidFill>
              <a:srgbClr val="175CD4"/>
            </a:solidFill>
            <a:prstDash val="solid"/>
          </a:ln>
        </p:spPr>
      </p:sp>
      <p:sp>
        <p:nvSpPr>
          <p:cNvPr id="14" name="Text 11">
            <a:extLst xmlns:a="http://schemas.openxmlformats.org/drawingml/2006/main">
              <a:ext uri="{FF2B5EF4-FFF2-40B4-BE49-F238E27FC236}">
                <a16:creationId xmlns:a16="http://schemas.microsoft.com/office/drawing/2014/main" id="{E1B23B5A-1E1F-4FEB-99CE-550797C7842E}"/>
              </a:ext>
            </a:extLst>
          </p:cNvPr>
          <p:cNvSpPr>
            <a:spLocks xmlns:a="http://schemas.openxmlformats.org/drawingml/2006/main" noGrp="1"/>
          </p:cNvSpPr>
          <p:nvPr/>
        </p:nvSpPr>
        <p:spPr>
          <a:xfrm xmlns:a="http://schemas.openxmlformats.org/drawingml/2006/main">
            <a:off x="3846489" y="1920240"/>
            <a:ext cx="287722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BOUNDED AI WORK</a:t>
            </a:r>
            <a:endParaRPr sz="950"/>
          </a:p>
        </p:txBody>
      </p:sp>
      <p:sp>
        <p:nvSpPr>
          <p:cNvPr id="15" name="Shape 12">
            <a:extLst xmlns:a="http://schemas.openxmlformats.org/drawingml/2006/main">
              <a:ext uri="{FF2B5EF4-FFF2-40B4-BE49-F238E27FC236}">
                <a16:creationId xmlns:a16="http://schemas.microsoft.com/office/drawing/2014/main" id="{28947732-8C84-4071-B466-436960823732}"/>
              </a:ext>
            </a:extLst>
          </p:cNvPr>
          <p:cNvSpPr>
            <a:spLocks xmlns:a="http://schemas.openxmlformats.org/drawingml/2006/main" noGrp="1"/>
          </p:cNvSpPr>
          <p:nvPr/>
        </p:nvSpPr>
        <p:spPr>
          <a:xfrm xmlns:a="http://schemas.openxmlformats.org/drawingml/2006/main">
            <a:off x="7034610" y="1883664"/>
            <a:ext cx="2986953" cy="438912"/>
          </a:xfrm>
          <a:prstGeom xmlns:a="http://schemas.openxmlformats.org/drawingml/2006/main" prst="roundRect">
            <a:avLst>
              <a:gd name="adj" fmla="val 18750"/>
            </a:avLst>
          </a:prstGeom>
          <a:solidFill xmlns:a="http://schemas.openxmlformats.org/drawingml/2006/main">
            <a:srgbClr val="175CD4"/>
          </a:solidFill>
          <a:ln xmlns:a="http://schemas.openxmlformats.org/drawingml/2006/main" w="12700">
            <a:solidFill>
              <a:srgbClr val="175CD4"/>
            </a:solidFill>
            <a:prstDash val="solid"/>
          </a:ln>
        </p:spPr>
      </p:sp>
      <p:sp>
        <p:nvSpPr>
          <p:cNvPr id="16" name="Text 13">
            <a:extLst xmlns:a="http://schemas.openxmlformats.org/drawingml/2006/main">
              <a:ext uri="{FF2B5EF4-FFF2-40B4-BE49-F238E27FC236}">
                <a16:creationId xmlns:a16="http://schemas.microsoft.com/office/drawing/2014/main" id="{0B04525F-4C69-4433-917C-D57CE60C7BC1}"/>
              </a:ext>
            </a:extLst>
          </p:cNvPr>
          <p:cNvSpPr>
            <a:spLocks xmlns:a="http://schemas.openxmlformats.org/drawingml/2006/main" noGrp="1"/>
          </p:cNvSpPr>
          <p:nvPr/>
        </p:nvSpPr>
        <p:spPr>
          <a:xfrm xmlns:a="http://schemas.openxmlformats.org/drawingml/2006/main">
            <a:off x="7089474" y="1920240"/>
            <a:ext cx="287722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FACT APPROVAL</a:t>
            </a:r>
            <a:endParaRPr sz="950"/>
          </a:p>
        </p:txBody>
      </p:sp>
      <p:sp>
        <p:nvSpPr>
          <p:cNvPr id="17" name="Shape 14">
            <a:extLst xmlns:a="http://schemas.openxmlformats.org/drawingml/2006/main">
              <a:ext uri="{FF2B5EF4-FFF2-40B4-BE49-F238E27FC236}">
                <a16:creationId xmlns:a16="http://schemas.microsoft.com/office/drawing/2014/main" id="{818DFAC6-16D7-4287-8DB1-9087C1590AD7}"/>
              </a:ext>
            </a:extLst>
          </p:cNvPr>
          <p:cNvSpPr>
            <a:spLocks xmlns:a="http://schemas.openxmlformats.org/drawingml/2006/main" noGrp="1"/>
          </p:cNvSpPr>
          <p:nvPr/>
        </p:nvSpPr>
        <p:spPr>
          <a:xfrm xmlns:a="http://schemas.openxmlformats.org/drawingml/2006/main">
            <a:off x="10277595" y="1883664"/>
            <a:ext cx="1365460" cy="438912"/>
          </a:xfrm>
          <a:prstGeom xmlns:a="http://schemas.openxmlformats.org/drawingml/2006/main" prst="roundRect">
            <a:avLst>
              <a:gd name="adj" fmla="val 18750"/>
            </a:avLst>
          </a:prstGeom>
          <a:solidFill xmlns:a="http://schemas.openxmlformats.org/drawingml/2006/main">
            <a:srgbClr val="175CD4"/>
          </a:solidFill>
          <a:ln xmlns:a="http://schemas.openxmlformats.org/drawingml/2006/main" w="12700">
            <a:solidFill>
              <a:srgbClr val="175CD4"/>
            </a:solidFill>
            <a:prstDash val="solid"/>
          </a:ln>
        </p:spPr>
      </p:sp>
      <p:sp>
        <p:nvSpPr>
          <p:cNvPr id="18" name="Text 15">
            <a:extLst xmlns:a="http://schemas.openxmlformats.org/drawingml/2006/main">
              <a:ext uri="{FF2B5EF4-FFF2-40B4-BE49-F238E27FC236}">
                <a16:creationId xmlns:a16="http://schemas.microsoft.com/office/drawing/2014/main" id="{0ED9602D-8658-4A8D-9BB6-0D67352975BB}"/>
              </a:ext>
            </a:extLst>
          </p:cNvPr>
          <p:cNvSpPr>
            <a:spLocks xmlns:a="http://schemas.openxmlformats.org/drawingml/2006/main" noGrp="1"/>
          </p:cNvSpPr>
          <p:nvPr/>
        </p:nvSpPr>
        <p:spPr>
          <a:xfrm xmlns:a="http://schemas.openxmlformats.org/drawingml/2006/main">
            <a:off x="10332459" y="1920240"/>
            <a:ext cx="12557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PRESERVED</a:t>
            </a:r>
            <a:endParaRPr sz="950"/>
          </a:p>
          <a:p xmlns:a="http://schemas.openxmlformats.org/drawingml/2006/main">
            <a:pPr marL="0" indent="0" algn="ctr">
              <a:lnSpc>
                <a:spcPts val="1150"/>
              </a:lnSpc>
              <a:buNone/>
            </a:pPr>
            <a:r>
              <a:rPr sz="950" b="1" spc="60">
                <a:solidFill>
                  <a:srgbClr val="FFFFFF"/>
                </a:solidFill>
                <a:latin typeface="Helvetica Neue"/>
                <a:ea typeface="Helvetica Neue"/>
                <a:cs typeface="Helvetica Neue"/>
              </a:rPr>
              <a:t>VERSIONS</a:t>
            </a:r>
            <a:endParaRPr sz="950"/>
          </a:p>
        </p:txBody>
      </p:sp>
      <p:sp>
        <p:nvSpPr>
          <p:cNvPr id="19" name="Shape 16">
            <a:extLst xmlns:a="http://schemas.openxmlformats.org/drawingml/2006/main">
              <a:ext uri="{FF2B5EF4-FFF2-40B4-BE49-F238E27FC236}">
                <a16:creationId xmlns:a16="http://schemas.microsoft.com/office/drawing/2014/main" id="{B6E4691E-1EEC-4C04-8729-F12A00A37982}"/>
              </a:ext>
            </a:extLst>
          </p:cNvPr>
          <p:cNvSpPr>
            <a:spLocks xmlns:a="http://schemas.openxmlformats.org/drawingml/2006/main" noGrp="1"/>
          </p:cNvSpPr>
          <p:nvPr/>
        </p:nvSpPr>
        <p:spPr>
          <a:xfrm xmlns:a="http://schemas.openxmlformats.org/drawingml/2006/main">
            <a:off x="548640" y="2395728"/>
            <a:ext cx="1365460" cy="1444752"/>
          </a:xfrm>
          <a:prstGeom xmlns:a="http://schemas.openxmlformats.org/drawingml/2006/main" prst="roundRect">
            <a:avLst>
              <a:gd name="adj" fmla="val 5357"/>
            </a:avLst>
          </a:prstGeom>
          <a:solidFill xmlns:a="http://schemas.openxmlformats.org/drawingml/2006/main">
            <a:srgbClr val="175CD4"/>
          </a:solidFill>
          <a:ln xmlns:a="http://schemas.openxmlformats.org/drawingml/2006/main" w="15875">
            <a:solidFill>
              <a:srgbClr val="175CD4"/>
            </a:solidFill>
            <a:prstDash val="solid"/>
          </a:ln>
        </p:spPr>
      </p:sp>
      <p:sp>
        <p:nvSpPr>
          <p:cNvPr id="20" name="Text 17">
            <a:extLst xmlns:a="http://schemas.openxmlformats.org/drawingml/2006/main">
              <a:ext uri="{FF2B5EF4-FFF2-40B4-BE49-F238E27FC236}">
                <a16:creationId xmlns:a16="http://schemas.microsoft.com/office/drawing/2014/main" id="{EFBB0D04-F2B6-4950-9431-F6DBA793A028}"/>
              </a:ext>
            </a:extLst>
          </p:cNvPr>
          <p:cNvSpPr>
            <a:spLocks xmlns:a="http://schemas.openxmlformats.org/drawingml/2006/main" noGrp="1"/>
          </p:cNvSpPr>
          <p:nvPr/>
        </p:nvSpPr>
        <p:spPr>
          <a:xfrm xmlns:a="http://schemas.openxmlformats.org/drawingml/2006/main">
            <a:off x="676656"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Request</a:t>
            </a:r>
            <a:endParaRPr sz="1250"/>
          </a:p>
        </p:txBody>
      </p:sp>
      <p:sp>
        <p:nvSpPr>
          <p:cNvPr id="21" name="Shape 18">
            <a:extLst xmlns:a="http://schemas.openxmlformats.org/drawingml/2006/main">
              <a:ext uri="{FF2B5EF4-FFF2-40B4-BE49-F238E27FC236}">
                <a16:creationId xmlns:a16="http://schemas.microsoft.com/office/drawing/2014/main" id="{9B0630AD-60C3-4C7B-AD60-268E8833B463}"/>
              </a:ext>
            </a:extLst>
          </p:cNvPr>
          <p:cNvSpPr>
            <a:spLocks xmlns:a="http://schemas.openxmlformats.org/drawingml/2006/main" noGrp="1"/>
          </p:cNvSpPr>
          <p:nvPr/>
        </p:nvSpPr>
        <p:spPr>
          <a:xfrm xmlns:a="http://schemas.openxmlformats.org/drawingml/2006/main">
            <a:off x="1959820"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22" name="Shape 19">
            <a:extLst xmlns:a="http://schemas.openxmlformats.org/drawingml/2006/main">
              <a:ext uri="{FF2B5EF4-FFF2-40B4-BE49-F238E27FC236}">
                <a16:creationId xmlns:a16="http://schemas.microsoft.com/office/drawing/2014/main" id="{18F69F63-5EB9-4353-A92A-90F5B4E1B937}"/>
              </a:ext>
            </a:extLst>
          </p:cNvPr>
          <p:cNvSpPr>
            <a:spLocks xmlns:a="http://schemas.openxmlformats.org/drawingml/2006/main" noGrp="1"/>
          </p:cNvSpPr>
          <p:nvPr/>
        </p:nvSpPr>
        <p:spPr>
          <a:xfrm xmlns:a="http://schemas.openxmlformats.org/drawingml/2006/main">
            <a:off x="2170132" y="2395728"/>
            <a:ext cx="1365460" cy="1444752"/>
          </a:xfrm>
          <a:prstGeom xmlns:a="http://schemas.openxmlformats.org/drawingml/2006/main" prst="roundRect">
            <a:avLst>
              <a:gd name="adj" fmla="val 5357"/>
            </a:avLst>
          </a:prstGeom>
          <a:solidFill xmlns:a="http://schemas.openxmlformats.org/drawingml/2006/main">
            <a:srgbClr val="F3F6FB"/>
          </a:solidFill>
          <a:ln xmlns:a="http://schemas.openxmlformats.org/drawingml/2006/main" w="15875">
            <a:solidFill>
              <a:srgbClr val="175CD4"/>
            </a:solidFill>
            <a:prstDash val="solid"/>
          </a:ln>
        </p:spPr>
      </p:sp>
      <p:sp>
        <p:nvSpPr>
          <p:cNvPr id="23" name="Text 20">
            <a:extLst xmlns:a="http://schemas.openxmlformats.org/drawingml/2006/main">
              <a:ext uri="{FF2B5EF4-FFF2-40B4-BE49-F238E27FC236}">
                <a16:creationId xmlns:a16="http://schemas.microsoft.com/office/drawing/2014/main" id="{3A4F9594-089B-43A3-95CF-8B29013FA971}"/>
              </a:ext>
            </a:extLst>
          </p:cNvPr>
          <p:cNvSpPr>
            <a:spLocks xmlns:a="http://schemas.openxmlformats.org/drawingml/2006/main" noGrp="1"/>
          </p:cNvSpPr>
          <p:nvPr/>
        </p:nvSpPr>
        <p:spPr>
          <a:xfrm xmlns:a="http://schemas.openxmlformats.org/drawingml/2006/main">
            <a:off x="2298148"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Owner check</a:t>
            </a:r>
            <a:endParaRPr sz="1250"/>
          </a:p>
        </p:txBody>
      </p:sp>
      <p:sp>
        <p:nvSpPr>
          <p:cNvPr id="24" name="Shape 21">
            <a:extLst xmlns:a="http://schemas.openxmlformats.org/drawingml/2006/main">
              <a:ext uri="{FF2B5EF4-FFF2-40B4-BE49-F238E27FC236}">
                <a16:creationId xmlns:a16="http://schemas.microsoft.com/office/drawing/2014/main" id="{5330C4F7-91A3-4A23-A272-C1C6B0E1C88F}"/>
              </a:ext>
            </a:extLst>
          </p:cNvPr>
          <p:cNvSpPr>
            <a:spLocks xmlns:a="http://schemas.openxmlformats.org/drawingml/2006/main" noGrp="1"/>
          </p:cNvSpPr>
          <p:nvPr/>
        </p:nvSpPr>
        <p:spPr>
          <a:xfrm xmlns:a="http://schemas.openxmlformats.org/drawingml/2006/main">
            <a:off x="3581313"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25" name="Shape 22">
            <a:extLst xmlns:a="http://schemas.openxmlformats.org/drawingml/2006/main">
              <a:ext uri="{FF2B5EF4-FFF2-40B4-BE49-F238E27FC236}">
                <a16:creationId xmlns:a16="http://schemas.microsoft.com/office/drawing/2014/main" id="{8F906B5E-1338-4FC5-854D-E54E599B274A}"/>
              </a:ext>
            </a:extLst>
          </p:cNvPr>
          <p:cNvSpPr>
            <a:spLocks xmlns:a="http://schemas.openxmlformats.org/drawingml/2006/main" noGrp="1"/>
          </p:cNvSpPr>
          <p:nvPr/>
        </p:nvSpPr>
        <p:spPr>
          <a:xfrm xmlns:a="http://schemas.openxmlformats.org/drawingml/2006/main">
            <a:off x="3791625" y="2395728"/>
            <a:ext cx="1365460" cy="1444752"/>
          </a:xfrm>
          <a:prstGeom xmlns:a="http://schemas.openxmlformats.org/drawingml/2006/main" prst="roundRect">
            <a:avLst>
              <a:gd name="adj" fmla="val 5357"/>
            </a:avLst>
          </a:prstGeom>
          <a:solidFill xmlns:a="http://schemas.openxmlformats.org/drawingml/2006/main">
            <a:srgbClr val="F3F6FB"/>
          </a:solidFill>
          <a:ln xmlns:a="http://schemas.openxmlformats.org/drawingml/2006/main" w="15875">
            <a:solidFill>
              <a:srgbClr val="175CD4"/>
            </a:solidFill>
            <a:prstDash val="solid"/>
          </a:ln>
        </p:spPr>
      </p:sp>
      <p:sp>
        <p:nvSpPr>
          <p:cNvPr id="26" name="Text 23">
            <a:extLst xmlns:a="http://schemas.openxmlformats.org/drawingml/2006/main">
              <a:ext uri="{FF2B5EF4-FFF2-40B4-BE49-F238E27FC236}">
                <a16:creationId xmlns:a16="http://schemas.microsoft.com/office/drawing/2014/main" id="{BF798371-0783-4590-BFDC-47FF5FB4A4C9}"/>
              </a:ext>
            </a:extLst>
          </p:cNvPr>
          <p:cNvSpPr>
            <a:spLocks xmlns:a="http://schemas.openxmlformats.org/drawingml/2006/main" noGrp="1"/>
          </p:cNvSpPr>
          <p:nvPr/>
        </p:nvSpPr>
        <p:spPr>
          <a:xfrm xmlns:a="http://schemas.openxmlformats.org/drawingml/2006/main">
            <a:off x="3919641"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Consent and quota</a:t>
            </a:r>
            <a:endParaRPr sz="1250"/>
          </a:p>
        </p:txBody>
      </p:sp>
      <p:sp>
        <p:nvSpPr>
          <p:cNvPr id="27" name="Shape 24">
            <a:extLst xmlns:a="http://schemas.openxmlformats.org/drawingml/2006/main">
              <a:ext uri="{FF2B5EF4-FFF2-40B4-BE49-F238E27FC236}">
                <a16:creationId xmlns:a16="http://schemas.microsoft.com/office/drawing/2014/main" id="{4AC34A31-6407-426B-A2B4-F8365299510A}"/>
              </a:ext>
            </a:extLst>
          </p:cNvPr>
          <p:cNvSpPr>
            <a:spLocks xmlns:a="http://schemas.openxmlformats.org/drawingml/2006/main" noGrp="1"/>
          </p:cNvSpPr>
          <p:nvPr/>
        </p:nvSpPr>
        <p:spPr>
          <a:xfrm xmlns:a="http://schemas.openxmlformats.org/drawingml/2006/main">
            <a:off x="5202805"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28" name="Shape 25">
            <a:extLst xmlns:a="http://schemas.openxmlformats.org/drawingml/2006/main">
              <a:ext uri="{FF2B5EF4-FFF2-40B4-BE49-F238E27FC236}">
                <a16:creationId xmlns:a16="http://schemas.microsoft.com/office/drawing/2014/main" id="{23FFFE22-6405-4D81-8D7B-497FA08FAC0F}"/>
              </a:ext>
            </a:extLst>
          </p:cNvPr>
          <p:cNvSpPr>
            <a:spLocks xmlns:a="http://schemas.openxmlformats.org/drawingml/2006/main" noGrp="1"/>
          </p:cNvSpPr>
          <p:nvPr/>
        </p:nvSpPr>
        <p:spPr>
          <a:xfrm xmlns:a="http://schemas.openxmlformats.org/drawingml/2006/main">
            <a:off x="5413117" y="2395728"/>
            <a:ext cx="1365460" cy="1444752"/>
          </a:xfrm>
          <a:prstGeom xmlns:a="http://schemas.openxmlformats.org/drawingml/2006/main" prst="roundRect">
            <a:avLst>
              <a:gd name="adj" fmla="val 5357"/>
            </a:avLst>
          </a:prstGeom>
          <a:solidFill xmlns:a="http://schemas.openxmlformats.org/drawingml/2006/main">
            <a:srgbClr val="F3F6FB"/>
          </a:solidFill>
          <a:ln xmlns:a="http://schemas.openxmlformats.org/drawingml/2006/main" w="15875">
            <a:solidFill>
              <a:srgbClr val="175CD4"/>
            </a:solidFill>
            <a:prstDash val="solid"/>
          </a:ln>
        </p:spPr>
      </p:sp>
      <p:sp>
        <p:nvSpPr>
          <p:cNvPr id="29" name="Text 26">
            <a:extLst xmlns:a="http://schemas.openxmlformats.org/drawingml/2006/main">
              <a:ext uri="{FF2B5EF4-FFF2-40B4-BE49-F238E27FC236}">
                <a16:creationId xmlns:a16="http://schemas.microsoft.com/office/drawing/2014/main" id="{9DAF4FA3-44BC-4CA3-81E9-40CAF2E5B4D0}"/>
              </a:ext>
            </a:extLst>
          </p:cNvPr>
          <p:cNvSpPr>
            <a:spLocks xmlns:a="http://schemas.openxmlformats.org/drawingml/2006/main" noGrp="1"/>
          </p:cNvSpPr>
          <p:nvPr/>
        </p:nvSpPr>
        <p:spPr>
          <a:xfrm xmlns:a="http://schemas.openxmlformats.org/drawingml/2006/main">
            <a:off x="5541133"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Provider call</a:t>
            </a:r>
            <a:endParaRPr sz="1250"/>
          </a:p>
        </p:txBody>
      </p:sp>
      <p:sp>
        <p:nvSpPr>
          <p:cNvPr id="30" name="Shape 27">
            <a:extLst xmlns:a="http://schemas.openxmlformats.org/drawingml/2006/main">
              <a:ext uri="{FF2B5EF4-FFF2-40B4-BE49-F238E27FC236}">
                <a16:creationId xmlns:a16="http://schemas.microsoft.com/office/drawing/2014/main" id="{91A03A43-6A2D-4DCA-9F9A-717825743C58}"/>
              </a:ext>
            </a:extLst>
          </p:cNvPr>
          <p:cNvSpPr>
            <a:spLocks xmlns:a="http://schemas.openxmlformats.org/drawingml/2006/main" noGrp="1"/>
          </p:cNvSpPr>
          <p:nvPr/>
        </p:nvSpPr>
        <p:spPr>
          <a:xfrm xmlns:a="http://schemas.openxmlformats.org/drawingml/2006/main">
            <a:off x="6824298"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31" name="Shape 28">
            <a:extLst xmlns:a="http://schemas.openxmlformats.org/drawingml/2006/main">
              <a:ext uri="{FF2B5EF4-FFF2-40B4-BE49-F238E27FC236}">
                <a16:creationId xmlns:a16="http://schemas.microsoft.com/office/drawing/2014/main" id="{9AB66519-61C2-498D-9CF7-A74F409D0069}"/>
              </a:ext>
            </a:extLst>
          </p:cNvPr>
          <p:cNvSpPr>
            <a:spLocks xmlns:a="http://schemas.openxmlformats.org/drawingml/2006/main" noGrp="1"/>
          </p:cNvSpPr>
          <p:nvPr/>
        </p:nvSpPr>
        <p:spPr>
          <a:xfrm xmlns:a="http://schemas.openxmlformats.org/drawingml/2006/main">
            <a:off x="7034610" y="2395728"/>
            <a:ext cx="1365460" cy="1444752"/>
          </a:xfrm>
          <a:prstGeom xmlns:a="http://schemas.openxmlformats.org/drawingml/2006/main" prst="roundRect">
            <a:avLst>
              <a:gd name="adj" fmla="val 5357"/>
            </a:avLst>
          </a:prstGeom>
          <a:solidFill xmlns:a="http://schemas.openxmlformats.org/drawingml/2006/main">
            <a:srgbClr val="F3F6FB"/>
          </a:solidFill>
          <a:ln xmlns:a="http://schemas.openxmlformats.org/drawingml/2006/main" w="15875">
            <a:solidFill>
              <a:srgbClr val="175CD4"/>
            </a:solidFill>
            <a:prstDash val="solid"/>
          </a:ln>
        </p:spPr>
      </p:sp>
      <p:sp>
        <p:nvSpPr>
          <p:cNvPr id="32" name="Text 29">
            <a:extLst xmlns:a="http://schemas.openxmlformats.org/drawingml/2006/main">
              <a:ext uri="{FF2B5EF4-FFF2-40B4-BE49-F238E27FC236}">
                <a16:creationId xmlns:a16="http://schemas.microsoft.com/office/drawing/2014/main" id="{A5D8DB7E-C87E-43C6-8EAB-1CCA3E3A9D14}"/>
              </a:ext>
            </a:extLst>
          </p:cNvPr>
          <p:cNvSpPr>
            <a:spLocks xmlns:a="http://schemas.openxmlformats.org/drawingml/2006/main" noGrp="1"/>
          </p:cNvSpPr>
          <p:nvPr/>
        </p:nvSpPr>
        <p:spPr>
          <a:xfrm xmlns:a="http://schemas.openxmlformats.org/drawingml/2006/main">
            <a:off x="7162626"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Proposal</a:t>
            </a:r>
            <a:endParaRPr sz="1250"/>
          </a:p>
        </p:txBody>
      </p:sp>
      <p:sp>
        <p:nvSpPr>
          <p:cNvPr id="33" name="Shape 30">
            <a:extLst xmlns:a="http://schemas.openxmlformats.org/drawingml/2006/main">
              <a:ext uri="{FF2B5EF4-FFF2-40B4-BE49-F238E27FC236}">
                <a16:creationId xmlns:a16="http://schemas.microsoft.com/office/drawing/2014/main" id="{8D91CC39-EF83-41E9-9C3E-5F751DB3F43B}"/>
              </a:ext>
            </a:extLst>
          </p:cNvPr>
          <p:cNvSpPr>
            <a:spLocks xmlns:a="http://schemas.openxmlformats.org/drawingml/2006/main" noGrp="1"/>
          </p:cNvSpPr>
          <p:nvPr/>
        </p:nvSpPr>
        <p:spPr>
          <a:xfrm xmlns:a="http://schemas.openxmlformats.org/drawingml/2006/main">
            <a:off x="8445790"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34" name="Shape 31">
            <a:extLst xmlns:a="http://schemas.openxmlformats.org/drawingml/2006/main">
              <a:ext uri="{FF2B5EF4-FFF2-40B4-BE49-F238E27FC236}">
                <a16:creationId xmlns:a16="http://schemas.microsoft.com/office/drawing/2014/main" id="{A0AA5E56-72B7-4617-A2E3-EFFD38BE82AC}"/>
              </a:ext>
            </a:extLst>
          </p:cNvPr>
          <p:cNvSpPr>
            <a:spLocks xmlns:a="http://schemas.openxmlformats.org/drawingml/2006/main" noGrp="1"/>
          </p:cNvSpPr>
          <p:nvPr/>
        </p:nvSpPr>
        <p:spPr>
          <a:xfrm xmlns:a="http://schemas.openxmlformats.org/drawingml/2006/main">
            <a:off x="8656102" y="2395728"/>
            <a:ext cx="1365460" cy="1444752"/>
          </a:xfrm>
          <a:prstGeom xmlns:a="http://schemas.openxmlformats.org/drawingml/2006/main" prst="roundRect">
            <a:avLst>
              <a:gd name="adj" fmla="val 5357"/>
            </a:avLst>
          </a:prstGeom>
          <a:solidFill xmlns:a="http://schemas.openxmlformats.org/drawingml/2006/main">
            <a:srgbClr val="F3F6FB"/>
          </a:solidFill>
          <a:ln xmlns:a="http://schemas.openxmlformats.org/drawingml/2006/main" w="15875">
            <a:solidFill>
              <a:srgbClr val="175CD4"/>
            </a:solidFill>
            <a:prstDash val="solid"/>
          </a:ln>
        </p:spPr>
      </p:sp>
      <p:sp>
        <p:nvSpPr>
          <p:cNvPr id="35" name="Text 32">
            <a:extLst xmlns:a="http://schemas.openxmlformats.org/drawingml/2006/main">
              <a:ext uri="{FF2B5EF4-FFF2-40B4-BE49-F238E27FC236}">
                <a16:creationId xmlns:a16="http://schemas.microsoft.com/office/drawing/2014/main" id="{48E0D533-CB58-49B5-9BF7-768CA8063C21}"/>
              </a:ext>
            </a:extLst>
          </p:cNvPr>
          <p:cNvSpPr>
            <a:spLocks xmlns:a="http://schemas.openxmlformats.org/drawingml/2006/main" noGrp="1"/>
          </p:cNvSpPr>
          <p:nvPr/>
        </p:nvSpPr>
        <p:spPr>
          <a:xfrm xmlns:a="http://schemas.openxmlformats.org/drawingml/2006/main">
            <a:off x="8784118"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Customer approval</a:t>
            </a:r>
            <a:endParaRPr sz="1250"/>
          </a:p>
        </p:txBody>
      </p:sp>
      <p:sp>
        <p:nvSpPr>
          <p:cNvPr id="36" name="Shape 33">
            <a:extLst xmlns:a="http://schemas.openxmlformats.org/drawingml/2006/main">
              <a:ext uri="{FF2B5EF4-FFF2-40B4-BE49-F238E27FC236}">
                <a16:creationId xmlns:a16="http://schemas.microsoft.com/office/drawing/2014/main" id="{FB3AFEA2-ADC3-45D8-940D-4A070324DB73}"/>
              </a:ext>
            </a:extLst>
          </p:cNvPr>
          <p:cNvSpPr>
            <a:spLocks xmlns:a="http://schemas.openxmlformats.org/drawingml/2006/main" noGrp="1"/>
          </p:cNvSpPr>
          <p:nvPr/>
        </p:nvSpPr>
        <p:spPr>
          <a:xfrm xmlns:a="http://schemas.openxmlformats.org/drawingml/2006/main">
            <a:off x="10067283" y="3008376"/>
            <a:ext cx="164592" cy="219456"/>
          </a:xfrm>
          <a:prstGeom xmlns:a="http://schemas.openxmlformats.org/drawingml/2006/main" prst="rightArrow">
            <a:avLst/>
          </a:prstGeom>
          <a:solidFill xmlns:a="http://schemas.openxmlformats.org/drawingml/2006/main">
            <a:srgbClr val="52677F"/>
          </a:solidFill>
          <a:ln xmlns:a="http://schemas.openxmlformats.org/drawingml/2006/main" w="12700">
            <a:solidFill>
              <a:srgbClr val="52677F"/>
            </a:solidFill>
            <a:prstDash val="solid"/>
          </a:ln>
        </p:spPr>
      </p:sp>
      <p:sp>
        <p:nvSpPr>
          <p:cNvPr id="37" name="Shape 34">
            <a:extLst xmlns:a="http://schemas.openxmlformats.org/drawingml/2006/main">
              <a:ext uri="{FF2B5EF4-FFF2-40B4-BE49-F238E27FC236}">
                <a16:creationId xmlns:a16="http://schemas.microsoft.com/office/drawing/2014/main" id="{32819464-9576-481C-B38A-696C445DA72A}"/>
              </a:ext>
            </a:extLst>
          </p:cNvPr>
          <p:cNvSpPr>
            <a:spLocks xmlns:a="http://schemas.openxmlformats.org/drawingml/2006/main" noGrp="1"/>
          </p:cNvSpPr>
          <p:nvPr/>
        </p:nvSpPr>
        <p:spPr>
          <a:xfrm xmlns:a="http://schemas.openxmlformats.org/drawingml/2006/main">
            <a:off x="10277595" y="2395728"/>
            <a:ext cx="1365460" cy="1444752"/>
          </a:xfrm>
          <a:prstGeom xmlns:a="http://schemas.openxmlformats.org/drawingml/2006/main" prst="roundRect">
            <a:avLst>
              <a:gd name="adj" fmla="val 5357"/>
            </a:avLst>
          </a:prstGeom>
          <a:solidFill xmlns:a="http://schemas.openxmlformats.org/drawingml/2006/main">
            <a:srgbClr val="0B2545"/>
          </a:solidFill>
          <a:ln xmlns:a="http://schemas.openxmlformats.org/drawingml/2006/main" w="15875">
            <a:solidFill>
              <a:srgbClr val="0B2545"/>
            </a:solidFill>
            <a:prstDash val="solid"/>
          </a:ln>
        </p:spPr>
      </p:sp>
      <p:sp>
        <p:nvSpPr>
          <p:cNvPr id="38" name="Text 35">
            <a:extLst xmlns:a="http://schemas.openxmlformats.org/drawingml/2006/main">
              <a:ext uri="{FF2B5EF4-FFF2-40B4-BE49-F238E27FC236}">
                <a16:creationId xmlns:a16="http://schemas.microsoft.com/office/drawing/2014/main" id="{F4E1372A-4453-4E3E-847D-46234D8A1CD0}"/>
              </a:ext>
            </a:extLst>
          </p:cNvPr>
          <p:cNvSpPr>
            <a:spLocks xmlns:a="http://schemas.openxmlformats.org/drawingml/2006/main" noGrp="1"/>
          </p:cNvSpPr>
          <p:nvPr/>
        </p:nvSpPr>
        <p:spPr>
          <a:xfrm xmlns:a="http://schemas.openxmlformats.org/drawingml/2006/main">
            <a:off x="10405611" y="2523744"/>
            <a:ext cx="110942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Write</a:t>
            </a:r>
            <a:endParaRPr sz="1250"/>
          </a:p>
        </p:txBody>
      </p:sp>
      <p:sp>
        <p:nvSpPr>
          <p:cNvPr id="39" name="Shape 36">
            <a:extLst xmlns:a="http://schemas.openxmlformats.org/drawingml/2006/main">
              <a:ext uri="{FF2B5EF4-FFF2-40B4-BE49-F238E27FC236}">
                <a16:creationId xmlns:a16="http://schemas.microsoft.com/office/drawing/2014/main" id="{64F68E71-8DB2-4784-8AE7-DFFA727EDEC8}"/>
              </a:ext>
            </a:extLst>
          </p:cNvPr>
          <p:cNvSpPr>
            <a:spLocks xmlns:a="http://schemas.openxmlformats.org/drawingml/2006/main" noGrp="1"/>
          </p:cNvSpPr>
          <p:nvPr/>
        </p:nvSpPr>
        <p:spPr>
          <a:xfrm xmlns:a="http://schemas.openxmlformats.org/drawingml/2006/main">
            <a:off x="548640" y="4041648"/>
            <a:ext cx="5432908" cy="969264"/>
          </a:xfrm>
          <a:prstGeom xmlns:a="http://schemas.openxmlformats.org/drawingml/2006/main" prst="roundRect">
            <a:avLst>
              <a:gd name="adj" fmla="val 7547"/>
            </a:avLst>
          </a:prstGeom>
          <a:solidFill xmlns:a="http://schemas.openxmlformats.org/drawingml/2006/main">
            <a:srgbClr val="F3F6FB"/>
          </a:solidFill>
          <a:ln xmlns:a="http://schemas.openxmlformats.org/drawingml/2006/main" w="9525">
            <a:solidFill>
              <a:srgbClr val="C9D6E8"/>
            </a:solidFill>
            <a:prstDash val="solid"/>
          </a:ln>
        </p:spPr>
      </p:sp>
      <p:sp>
        <p:nvSpPr>
          <p:cNvPr id="40" name="Shape 37">
            <a:extLst xmlns:a="http://schemas.openxmlformats.org/drawingml/2006/main">
              <a:ext uri="{FF2B5EF4-FFF2-40B4-BE49-F238E27FC236}">
                <a16:creationId xmlns:a16="http://schemas.microsoft.com/office/drawing/2014/main" id="{84DF1539-28CC-47FC-B67E-0746904AEB0D}"/>
              </a:ext>
            </a:extLst>
          </p:cNvPr>
          <p:cNvSpPr>
            <a:spLocks xmlns:a="http://schemas.openxmlformats.org/drawingml/2006/main" noGrp="1"/>
          </p:cNvSpPr>
          <p:nvPr/>
        </p:nvSpPr>
        <p:spPr>
          <a:xfrm xmlns:a="http://schemas.openxmlformats.org/drawingml/2006/main">
            <a:off x="557784" y="4151376"/>
            <a:ext cx="54864" cy="749808"/>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1" name="Shape 38">
            <a:extLst xmlns:a="http://schemas.openxmlformats.org/drawingml/2006/main">
              <a:ext uri="{FF2B5EF4-FFF2-40B4-BE49-F238E27FC236}">
                <a16:creationId xmlns:a16="http://schemas.microsoft.com/office/drawing/2014/main" id="{150B296D-F014-4983-BAF1-D433F85C7803}"/>
              </a:ext>
            </a:extLst>
          </p:cNvPr>
          <p:cNvSpPr>
            <a:spLocks xmlns:a="http://schemas.openxmlformats.org/drawingml/2006/main" noGrp="1"/>
          </p:cNvSpPr>
          <p:nvPr/>
        </p:nvSpPr>
        <p:spPr>
          <a:xfrm xmlns:a="http://schemas.openxmlformats.org/drawingml/2006/main">
            <a:off x="832104" y="4160520"/>
            <a:ext cx="274320" cy="274320"/>
          </a:xfrm>
          <a:prstGeom xmlns:a="http://schemas.openxmlformats.org/drawingml/2006/main" prst="ellipse">
            <a:avLst/>
          </a:prstGeom>
          <a:solidFill xmlns:a="http://schemas.openxmlformats.org/drawingml/2006/main">
            <a:srgbClr val="175CD4"/>
          </a:solidFill>
          <a:ln xmlns:a="http://schemas.openxmlformats.org/drawingml/2006/main" w="12700">
            <a:solidFill>
              <a:srgbClr val="175CD4"/>
            </a:solidFill>
            <a:prstDash val="solid"/>
          </a:ln>
        </p:spPr>
      </p:sp>
      <p:sp>
        <p:nvSpPr>
          <p:cNvPr id="42" name="Text 39">
            <a:extLst xmlns:a="http://schemas.openxmlformats.org/drawingml/2006/main">
              <a:ext uri="{FF2B5EF4-FFF2-40B4-BE49-F238E27FC236}">
                <a16:creationId xmlns:a16="http://schemas.microsoft.com/office/drawing/2014/main" id="{705D645F-5854-4DBF-9E17-2DB5AB5FEC87}"/>
              </a:ext>
            </a:extLst>
          </p:cNvPr>
          <p:cNvSpPr>
            <a:spLocks xmlns:a="http://schemas.openxmlformats.org/drawingml/2006/main" noGrp="1"/>
          </p:cNvSpPr>
          <p:nvPr/>
        </p:nvSpPr>
        <p:spPr>
          <a:xfrm xmlns:a="http://schemas.openxmlformats.org/drawingml/2006/main">
            <a:off x="832104" y="420243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1</a:t>
            </a:r>
            <a:endParaRPr sz="1200"/>
          </a:p>
        </p:txBody>
      </p:sp>
      <p:sp>
        <p:nvSpPr>
          <p:cNvPr id="43" name="Text 40">
            <a:extLst xmlns:a="http://schemas.openxmlformats.org/drawingml/2006/main">
              <a:ext uri="{FF2B5EF4-FFF2-40B4-BE49-F238E27FC236}">
                <a16:creationId xmlns:a16="http://schemas.microsoft.com/office/drawing/2014/main" id="{61A56AA1-C1D2-49FD-97DE-F475B91744CC}"/>
              </a:ext>
            </a:extLst>
          </p:cNvPr>
          <p:cNvSpPr>
            <a:spLocks xmlns:a="http://schemas.openxmlformats.org/drawingml/2006/main" noGrp="1"/>
          </p:cNvSpPr>
          <p:nvPr/>
        </p:nvSpPr>
        <p:spPr>
          <a:xfrm xmlns:a="http://schemas.openxmlformats.org/drawingml/2006/main">
            <a:off x="1243584" y="4206240"/>
            <a:ext cx="44636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CUSTOMER OWNERSHIP</a:t>
            </a:r>
            <a:endParaRPr sz="1100"/>
          </a:p>
        </p:txBody>
      </p:sp>
      <p:sp>
        <p:nvSpPr>
          <p:cNvPr id="44" name="Text 41">
            <a:extLst xmlns:a="http://schemas.openxmlformats.org/drawingml/2006/main">
              <a:ext uri="{FF2B5EF4-FFF2-40B4-BE49-F238E27FC236}">
                <a16:creationId xmlns:a16="http://schemas.microsoft.com/office/drawing/2014/main" id="{17D9A2F7-238F-4EC0-835A-BDEED3D6BC8B}"/>
              </a:ext>
            </a:extLst>
          </p:cNvPr>
          <p:cNvSpPr>
            <a:spLocks xmlns:a="http://schemas.openxmlformats.org/drawingml/2006/main" noGrp="1"/>
          </p:cNvSpPr>
          <p:nvPr/>
        </p:nvSpPr>
        <p:spPr>
          <a:xfrm xmlns:a="http://schemas.openxmlformats.org/drawingml/2006/main">
            <a:off x="822960" y="4480560"/>
            <a:ext cx="48842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50"/>
              </a:lnSpc>
              <a:buNone/>
            </a:pPr>
            <a:r>
              <a:rPr sz="1300">
                <a:solidFill>
                  <a:srgbClr val="171717"/>
                </a:solidFill>
                <a:latin typeface="Helvetica Neue"/>
                <a:ea typeface="Helvetica Neue"/>
                <a:cs typeface="Helvetica Neue"/>
              </a:rPr>
              <a:t>Every private operation checks the signed-in owner. Test with two accounts.</a:t>
            </a:r>
            <a:endParaRPr sz="1300"/>
          </a:p>
        </p:txBody>
      </p:sp>
      <p:sp>
        <p:nvSpPr>
          <p:cNvPr id="45" name="Shape 42">
            <a:extLst xmlns:a="http://schemas.openxmlformats.org/drawingml/2006/main">
              <a:ext uri="{FF2B5EF4-FFF2-40B4-BE49-F238E27FC236}">
                <a16:creationId xmlns:a16="http://schemas.microsoft.com/office/drawing/2014/main" id="{19871E75-1BE7-4828-8C7B-8681FA8963E1}"/>
              </a:ext>
            </a:extLst>
          </p:cNvPr>
          <p:cNvSpPr>
            <a:spLocks xmlns:a="http://schemas.openxmlformats.org/drawingml/2006/main" noGrp="1"/>
          </p:cNvSpPr>
          <p:nvPr/>
        </p:nvSpPr>
        <p:spPr>
          <a:xfrm xmlns:a="http://schemas.openxmlformats.org/drawingml/2006/main">
            <a:off x="6210148" y="4041648"/>
            <a:ext cx="5432908" cy="969264"/>
          </a:xfrm>
          <a:prstGeom xmlns:a="http://schemas.openxmlformats.org/drawingml/2006/main" prst="roundRect">
            <a:avLst>
              <a:gd name="adj" fmla="val 7547"/>
            </a:avLst>
          </a:prstGeom>
          <a:solidFill xmlns:a="http://schemas.openxmlformats.org/drawingml/2006/main">
            <a:srgbClr val="F3F6FB"/>
          </a:solidFill>
          <a:ln xmlns:a="http://schemas.openxmlformats.org/drawingml/2006/main" w="9525">
            <a:solidFill>
              <a:srgbClr val="C9D6E8"/>
            </a:solidFill>
            <a:prstDash val="solid"/>
          </a:ln>
        </p:spPr>
      </p:sp>
      <p:sp>
        <p:nvSpPr>
          <p:cNvPr id="46" name="Shape 43">
            <a:extLst xmlns:a="http://schemas.openxmlformats.org/drawingml/2006/main">
              <a:ext uri="{FF2B5EF4-FFF2-40B4-BE49-F238E27FC236}">
                <a16:creationId xmlns:a16="http://schemas.microsoft.com/office/drawing/2014/main" id="{E9AFD2FC-79FC-4D7D-BE8C-4FB3F394855C}"/>
              </a:ext>
            </a:extLst>
          </p:cNvPr>
          <p:cNvSpPr>
            <a:spLocks xmlns:a="http://schemas.openxmlformats.org/drawingml/2006/main" noGrp="1"/>
          </p:cNvSpPr>
          <p:nvPr/>
        </p:nvSpPr>
        <p:spPr>
          <a:xfrm xmlns:a="http://schemas.openxmlformats.org/drawingml/2006/main">
            <a:off x="6219292" y="4151376"/>
            <a:ext cx="54864" cy="749808"/>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7" name="Shape 44">
            <a:extLst xmlns:a="http://schemas.openxmlformats.org/drawingml/2006/main">
              <a:ext uri="{FF2B5EF4-FFF2-40B4-BE49-F238E27FC236}">
                <a16:creationId xmlns:a16="http://schemas.microsoft.com/office/drawing/2014/main" id="{5B91A15A-EB7C-490B-B1CA-9EC50C39B707}"/>
              </a:ext>
            </a:extLst>
          </p:cNvPr>
          <p:cNvSpPr>
            <a:spLocks xmlns:a="http://schemas.openxmlformats.org/drawingml/2006/main" noGrp="1"/>
          </p:cNvSpPr>
          <p:nvPr/>
        </p:nvSpPr>
        <p:spPr>
          <a:xfrm xmlns:a="http://schemas.openxmlformats.org/drawingml/2006/main">
            <a:off x="6493612" y="4160520"/>
            <a:ext cx="274320" cy="274320"/>
          </a:xfrm>
          <a:prstGeom xmlns:a="http://schemas.openxmlformats.org/drawingml/2006/main" prst="ellipse">
            <a:avLst/>
          </a:prstGeom>
          <a:solidFill xmlns:a="http://schemas.openxmlformats.org/drawingml/2006/main">
            <a:srgbClr val="175CD4"/>
          </a:solidFill>
          <a:ln xmlns:a="http://schemas.openxmlformats.org/drawingml/2006/main" w="12700">
            <a:solidFill>
              <a:srgbClr val="175CD4"/>
            </a:solidFill>
            <a:prstDash val="solid"/>
          </a:ln>
        </p:spPr>
      </p:sp>
      <p:sp>
        <p:nvSpPr>
          <p:cNvPr id="48" name="Text 45">
            <a:extLst xmlns:a="http://schemas.openxmlformats.org/drawingml/2006/main">
              <a:ext uri="{FF2B5EF4-FFF2-40B4-BE49-F238E27FC236}">
                <a16:creationId xmlns:a16="http://schemas.microsoft.com/office/drawing/2014/main" id="{C43D364C-1343-4418-A3E9-CEF5C5CC276C}"/>
              </a:ext>
            </a:extLst>
          </p:cNvPr>
          <p:cNvSpPr>
            <a:spLocks xmlns:a="http://schemas.openxmlformats.org/drawingml/2006/main" noGrp="1"/>
          </p:cNvSpPr>
          <p:nvPr/>
        </p:nvSpPr>
        <p:spPr>
          <a:xfrm xmlns:a="http://schemas.openxmlformats.org/drawingml/2006/main">
            <a:off x="6493612" y="420243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2</a:t>
            </a:r>
            <a:endParaRPr sz="1200"/>
          </a:p>
        </p:txBody>
      </p:sp>
      <p:sp>
        <p:nvSpPr>
          <p:cNvPr id="49" name="Text 46">
            <a:extLst xmlns:a="http://schemas.openxmlformats.org/drawingml/2006/main">
              <a:ext uri="{FF2B5EF4-FFF2-40B4-BE49-F238E27FC236}">
                <a16:creationId xmlns:a16="http://schemas.microsoft.com/office/drawing/2014/main" id="{AA39536E-8FB9-4DCD-A5B2-96D861B77A01}"/>
              </a:ext>
            </a:extLst>
          </p:cNvPr>
          <p:cNvSpPr>
            <a:spLocks xmlns:a="http://schemas.openxmlformats.org/drawingml/2006/main" noGrp="1"/>
          </p:cNvSpPr>
          <p:nvPr/>
        </p:nvSpPr>
        <p:spPr>
          <a:xfrm xmlns:a="http://schemas.openxmlformats.org/drawingml/2006/main">
            <a:off x="6905092" y="4206240"/>
            <a:ext cx="44636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BOUNDED AI WORK</a:t>
            </a:r>
            <a:endParaRPr sz="1100"/>
          </a:p>
        </p:txBody>
      </p:sp>
      <p:sp>
        <p:nvSpPr>
          <p:cNvPr id="50" name="Text 47">
            <a:extLst xmlns:a="http://schemas.openxmlformats.org/drawingml/2006/main">
              <a:ext uri="{FF2B5EF4-FFF2-40B4-BE49-F238E27FC236}">
                <a16:creationId xmlns:a16="http://schemas.microsoft.com/office/drawing/2014/main" id="{CE40D895-72DA-4231-87AF-2F8DFCFBA373}"/>
              </a:ext>
            </a:extLst>
          </p:cNvPr>
          <p:cNvSpPr>
            <a:spLocks xmlns:a="http://schemas.openxmlformats.org/drawingml/2006/main" noGrp="1"/>
          </p:cNvSpPr>
          <p:nvPr/>
        </p:nvSpPr>
        <p:spPr>
          <a:xfrm xmlns:a="http://schemas.openxmlformats.org/drawingml/2006/main">
            <a:off x="6484468" y="4480560"/>
            <a:ext cx="48842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50"/>
              </a:lnSpc>
              <a:buNone/>
            </a:pPr>
            <a:r>
              <a:rPr sz="1300">
                <a:solidFill>
                  <a:srgbClr val="171717"/>
                </a:solidFill>
                <a:latin typeface="Helvetica Neue"/>
                <a:ea typeface="Helvetica Neue"/>
                <a:cs typeface="Helvetica Neue"/>
              </a:rPr>
              <a:t>Consent, request limits and replay protection apply before provider calls.</a:t>
            </a:r>
            <a:endParaRPr sz="1300"/>
          </a:p>
        </p:txBody>
      </p:sp>
      <p:sp>
        <p:nvSpPr>
          <p:cNvPr id="51" name="Shape 48">
            <a:extLst xmlns:a="http://schemas.openxmlformats.org/drawingml/2006/main">
              <a:ext uri="{FF2B5EF4-FFF2-40B4-BE49-F238E27FC236}">
                <a16:creationId xmlns:a16="http://schemas.microsoft.com/office/drawing/2014/main" id="{757E3498-EAEE-44BD-BF5B-13F1ED371C58}"/>
              </a:ext>
            </a:extLst>
          </p:cNvPr>
          <p:cNvSpPr>
            <a:spLocks xmlns:a="http://schemas.openxmlformats.org/drawingml/2006/main" noGrp="1"/>
          </p:cNvSpPr>
          <p:nvPr/>
        </p:nvSpPr>
        <p:spPr>
          <a:xfrm xmlns:a="http://schemas.openxmlformats.org/drawingml/2006/main">
            <a:off x="548640" y="5138928"/>
            <a:ext cx="5432908" cy="969264"/>
          </a:xfrm>
          <a:prstGeom xmlns:a="http://schemas.openxmlformats.org/drawingml/2006/main" prst="roundRect">
            <a:avLst>
              <a:gd name="adj" fmla="val 7547"/>
            </a:avLst>
          </a:prstGeom>
          <a:solidFill xmlns:a="http://schemas.openxmlformats.org/drawingml/2006/main">
            <a:srgbClr val="F3F6FB"/>
          </a:solidFill>
          <a:ln xmlns:a="http://schemas.openxmlformats.org/drawingml/2006/main" w="9525">
            <a:solidFill>
              <a:srgbClr val="C9D6E8"/>
            </a:solidFill>
            <a:prstDash val="solid"/>
          </a:ln>
        </p:spPr>
      </p:sp>
      <p:sp>
        <p:nvSpPr>
          <p:cNvPr id="52" name="Shape 49">
            <a:extLst xmlns:a="http://schemas.openxmlformats.org/drawingml/2006/main">
              <a:ext uri="{FF2B5EF4-FFF2-40B4-BE49-F238E27FC236}">
                <a16:creationId xmlns:a16="http://schemas.microsoft.com/office/drawing/2014/main" id="{927FBA30-684A-4E33-BC23-BF07F79EEA96}"/>
              </a:ext>
            </a:extLst>
          </p:cNvPr>
          <p:cNvSpPr>
            <a:spLocks xmlns:a="http://schemas.openxmlformats.org/drawingml/2006/main" noGrp="1"/>
          </p:cNvSpPr>
          <p:nvPr/>
        </p:nvSpPr>
        <p:spPr>
          <a:xfrm xmlns:a="http://schemas.openxmlformats.org/drawingml/2006/main">
            <a:off x="557784" y="5248656"/>
            <a:ext cx="54864" cy="749808"/>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3" name="Shape 50">
            <a:extLst xmlns:a="http://schemas.openxmlformats.org/drawingml/2006/main">
              <a:ext uri="{FF2B5EF4-FFF2-40B4-BE49-F238E27FC236}">
                <a16:creationId xmlns:a16="http://schemas.microsoft.com/office/drawing/2014/main" id="{B545BD39-45A1-4285-96F4-E9755D6A6B3B}"/>
              </a:ext>
            </a:extLst>
          </p:cNvPr>
          <p:cNvSpPr>
            <a:spLocks xmlns:a="http://schemas.openxmlformats.org/drawingml/2006/main" noGrp="1"/>
          </p:cNvSpPr>
          <p:nvPr/>
        </p:nvSpPr>
        <p:spPr>
          <a:xfrm xmlns:a="http://schemas.openxmlformats.org/drawingml/2006/main">
            <a:off x="832104" y="5257800"/>
            <a:ext cx="274320" cy="274320"/>
          </a:xfrm>
          <a:prstGeom xmlns:a="http://schemas.openxmlformats.org/drawingml/2006/main" prst="ellipse">
            <a:avLst/>
          </a:prstGeom>
          <a:solidFill xmlns:a="http://schemas.openxmlformats.org/drawingml/2006/main">
            <a:srgbClr val="175CD4"/>
          </a:solidFill>
          <a:ln xmlns:a="http://schemas.openxmlformats.org/drawingml/2006/main" w="12700">
            <a:solidFill>
              <a:srgbClr val="175CD4"/>
            </a:solidFill>
            <a:prstDash val="solid"/>
          </a:ln>
        </p:spPr>
      </p:sp>
      <p:sp>
        <p:nvSpPr>
          <p:cNvPr id="54" name="Text 51">
            <a:extLst xmlns:a="http://schemas.openxmlformats.org/drawingml/2006/main">
              <a:ext uri="{FF2B5EF4-FFF2-40B4-BE49-F238E27FC236}">
                <a16:creationId xmlns:a16="http://schemas.microsoft.com/office/drawing/2014/main" id="{7B694292-71AA-40BA-9A69-A19CF1807D52}"/>
              </a:ext>
            </a:extLst>
          </p:cNvPr>
          <p:cNvSpPr>
            <a:spLocks xmlns:a="http://schemas.openxmlformats.org/drawingml/2006/main" noGrp="1"/>
          </p:cNvSpPr>
          <p:nvPr/>
        </p:nvSpPr>
        <p:spPr>
          <a:xfrm xmlns:a="http://schemas.openxmlformats.org/drawingml/2006/main">
            <a:off x="832104" y="529971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3</a:t>
            </a:r>
            <a:endParaRPr sz="1200"/>
          </a:p>
        </p:txBody>
      </p:sp>
      <p:sp>
        <p:nvSpPr>
          <p:cNvPr id="55" name="Text 52">
            <a:extLst xmlns:a="http://schemas.openxmlformats.org/drawingml/2006/main">
              <a:ext uri="{FF2B5EF4-FFF2-40B4-BE49-F238E27FC236}">
                <a16:creationId xmlns:a16="http://schemas.microsoft.com/office/drawing/2014/main" id="{98158A89-F031-4293-91D6-6459E0609CD4}"/>
              </a:ext>
            </a:extLst>
          </p:cNvPr>
          <p:cNvSpPr>
            <a:spLocks xmlns:a="http://schemas.openxmlformats.org/drawingml/2006/main" noGrp="1"/>
          </p:cNvSpPr>
          <p:nvPr/>
        </p:nvSpPr>
        <p:spPr>
          <a:xfrm xmlns:a="http://schemas.openxmlformats.org/drawingml/2006/main">
            <a:off x="1243584" y="5303520"/>
            <a:ext cx="44636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FACT APPROVAL</a:t>
            </a:r>
            <a:endParaRPr sz="1100"/>
          </a:p>
        </p:txBody>
      </p:sp>
      <p:sp>
        <p:nvSpPr>
          <p:cNvPr id="56" name="Text 53">
            <a:extLst xmlns:a="http://schemas.openxmlformats.org/drawingml/2006/main">
              <a:ext uri="{FF2B5EF4-FFF2-40B4-BE49-F238E27FC236}">
                <a16:creationId xmlns:a16="http://schemas.microsoft.com/office/drawing/2014/main" id="{3D89B877-EDD1-482A-ACF0-33862CFFF2D1}"/>
              </a:ext>
            </a:extLst>
          </p:cNvPr>
          <p:cNvSpPr>
            <a:spLocks xmlns:a="http://schemas.openxmlformats.org/drawingml/2006/main" noGrp="1"/>
          </p:cNvSpPr>
          <p:nvPr/>
        </p:nvSpPr>
        <p:spPr>
          <a:xfrm xmlns:a="http://schemas.openxmlformats.org/drawingml/2006/main">
            <a:off x="822960" y="5577840"/>
            <a:ext cx="48842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50"/>
              </a:lnSpc>
              <a:buNone/>
            </a:pPr>
            <a:r>
              <a:rPr sz="1300">
                <a:solidFill>
                  <a:srgbClr val="171717"/>
                </a:solidFill>
                <a:latin typeface="Helvetica Neue"/>
                <a:ea typeface="Helvetica Neue"/>
                <a:cs typeface="Helvetica Neue"/>
              </a:rPr>
              <a:t>Model output stays a proposal. Customer corrections and profile revisions govern writes.</a:t>
            </a:r>
            <a:endParaRPr sz="1300"/>
          </a:p>
        </p:txBody>
      </p:sp>
      <p:sp>
        <p:nvSpPr>
          <p:cNvPr id="57" name="Shape 54">
            <a:extLst xmlns:a="http://schemas.openxmlformats.org/drawingml/2006/main">
              <a:ext uri="{FF2B5EF4-FFF2-40B4-BE49-F238E27FC236}">
                <a16:creationId xmlns:a16="http://schemas.microsoft.com/office/drawing/2014/main" id="{7E7BE557-8055-4D28-B2E9-92B69EE034BE}"/>
              </a:ext>
            </a:extLst>
          </p:cNvPr>
          <p:cNvSpPr>
            <a:spLocks xmlns:a="http://schemas.openxmlformats.org/drawingml/2006/main" noGrp="1"/>
          </p:cNvSpPr>
          <p:nvPr/>
        </p:nvSpPr>
        <p:spPr>
          <a:xfrm xmlns:a="http://schemas.openxmlformats.org/drawingml/2006/main">
            <a:off x="6210148" y="5138928"/>
            <a:ext cx="5432908" cy="969264"/>
          </a:xfrm>
          <a:prstGeom xmlns:a="http://schemas.openxmlformats.org/drawingml/2006/main" prst="roundRect">
            <a:avLst>
              <a:gd name="adj" fmla="val 7547"/>
            </a:avLst>
          </a:prstGeom>
          <a:solidFill xmlns:a="http://schemas.openxmlformats.org/drawingml/2006/main">
            <a:srgbClr val="F3F6FB"/>
          </a:solidFill>
          <a:ln xmlns:a="http://schemas.openxmlformats.org/drawingml/2006/main" w="9525">
            <a:solidFill>
              <a:srgbClr val="C9D6E8"/>
            </a:solidFill>
            <a:prstDash val="solid"/>
          </a:ln>
        </p:spPr>
      </p:sp>
      <p:sp>
        <p:nvSpPr>
          <p:cNvPr id="58" name="Shape 55">
            <a:extLst xmlns:a="http://schemas.openxmlformats.org/drawingml/2006/main">
              <a:ext uri="{FF2B5EF4-FFF2-40B4-BE49-F238E27FC236}">
                <a16:creationId xmlns:a16="http://schemas.microsoft.com/office/drawing/2014/main" id="{62A2097B-67FF-4EB6-80A1-3E93877FA79D}"/>
              </a:ext>
            </a:extLst>
          </p:cNvPr>
          <p:cNvSpPr>
            <a:spLocks xmlns:a="http://schemas.openxmlformats.org/drawingml/2006/main" noGrp="1"/>
          </p:cNvSpPr>
          <p:nvPr/>
        </p:nvSpPr>
        <p:spPr>
          <a:xfrm xmlns:a="http://schemas.openxmlformats.org/drawingml/2006/main">
            <a:off x="6219292" y="5248656"/>
            <a:ext cx="54864" cy="749808"/>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9" name="Shape 56">
            <a:extLst xmlns:a="http://schemas.openxmlformats.org/drawingml/2006/main">
              <a:ext uri="{FF2B5EF4-FFF2-40B4-BE49-F238E27FC236}">
                <a16:creationId xmlns:a16="http://schemas.microsoft.com/office/drawing/2014/main" id="{CC864BAA-5CD3-459B-A4D5-6E5C11C76F95}"/>
              </a:ext>
            </a:extLst>
          </p:cNvPr>
          <p:cNvSpPr>
            <a:spLocks xmlns:a="http://schemas.openxmlformats.org/drawingml/2006/main" noGrp="1"/>
          </p:cNvSpPr>
          <p:nvPr/>
        </p:nvSpPr>
        <p:spPr>
          <a:xfrm xmlns:a="http://schemas.openxmlformats.org/drawingml/2006/main">
            <a:off x="6493612" y="5257800"/>
            <a:ext cx="274320" cy="274320"/>
          </a:xfrm>
          <a:prstGeom xmlns:a="http://schemas.openxmlformats.org/drawingml/2006/main" prst="ellipse">
            <a:avLst/>
          </a:prstGeom>
          <a:solidFill xmlns:a="http://schemas.openxmlformats.org/drawingml/2006/main">
            <a:srgbClr val="175CD4"/>
          </a:solidFill>
          <a:ln xmlns:a="http://schemas.openxmlformats.org/drawingml/2006/main" w="12700">
            <a:solidFill>
              <a:srgbClr val="175CD4"/>
            </a:solidFill>
            <a:prstDash val="solid"/>
          </a:ln>
        </p:spPr>
      </p:sp>
      <p:sp>
        <p:nvSpPr>
          <p:cNvPr id="60" name="Text 57">
            <a:extLst xmlns:a="http://schemas.openxmlformats.org/drawingml/2006/main">
              <a:ext uri="{FF2B5EF4-FFF2-40B4-BE49-F238E27FC236}">
                <a16:creationId xmlns:a16="http://schemas.microsoft.com/office/drawing/2014/main" id="{8EBF5CAE-086C-4C07-A34B-2029749A1E85}"/>
              </a:ext>
            </a:extLst>
          </p:cNvPr>
          <p:cNvSpPr>
            <a:spLocks xmlns:a="http://schemas.openxmlformats.org/drawingml/2006/main" noGrp="1"/>
          </p:cNvSpPr>
          <p:nvPr/>
        </p:nvSpPr>
        <p:spPr>
          <a:xfrm xmlns:a="http://schemas.openxmlformats.org/drawingml/2006/main">
            <a:off x="6493612" y="5299710"/>
            <a:ext cx="274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4</a:t>
            </a:r>
            <a:endParaRPr sz="1200"/>
          </a:p>
        </p:txBody>
      </p:sp>
      <p:sp>
        <p:nvSpPr>
          <p:cNvPr id="61" name="Text 58">
            <a:extLst xmlns:a="http://schemas.openxmlformats.org/drawingml/2006/main">
              <a:ext uri="{FF2B5EF4-FFF2-40B4-BE49-F238E27FC236}">
                <a16:creationId xmlns:a16="http://schemas.microsoft.com/office/drawing/2014/main" id="{17B1E3F7-06EB-46FC-8E98-B75BF07F6828}"/>
              </a:ext>
            </a:extLst>
          </p:cNvPr>
          <p:cNvSpPr>
            <a:spLocks xmlns:a="http://schemas.openxmlformats.org/drawingml/2006/main" noGrp="1"/>
          </p:cNvSpPr>
          <p:nvPr/>
        </p:nvSpPr>
        <p:spPr>
          <a:xfrm xmlns:a="http://schemas.openxmlformats.org/drawingml/2006/main">
            <a:off x="6905092" y="5303520"/>
            <a:ext cx="44636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175CD4"/>
                </a:solidFill>
                <a:latin typeface="Helvetica Neue"/>
                <a:ea typeface="Helvetica Neue"/>
                <a:cs typeface="Helvetica Neue"/>
              </a:rPr>
              <a:t>PRESERVED VERSIONS</a:t>
            </a:r>
            <a:endParaRPr sz="1100"/>
          </a:p>
        </p:txBody>
      </p:sp>
      <p:sp>
        <p:nvSpPr>
          <p:cNvPr id="62" name="Text 59">
            <a:extLst xmlns:a="http://schemas.openxmlformats.org/drawingml/2006/main">
              <a:ext uri="{FF2B5EF4-FFF2-40B4-BE49-F238E27FC236}">
                <a16:creationId xmlns:a16="http://schemas.microsoft.com/office/drawing/2014/main" id="{282F0DC2-7EF0-4749-8A94-0B0F75869CA2}"/>
              </a:ext>
            </a:extLst>
          </p:cNvPr>
          <p:cNvSpPr>
            <a:spLocks xmlns:a="http://schemas.openxmlformats.org/drawingml/2006/main" noGrp="1"/>
          </p:cNvSpPr>
          <p:nvPr/>
        </p:nvSpPr>
        <p:spPr>
          <a:xfrm xmlns:a="http://schemas.openxmlformats.org/drawingml/2006/main">
            <a:off x="6484468" y="5577840"/>
            <a:ext cx="48842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50"/>
              </a:lnSpc>
              <a:buNone/>
            </a:pPr>
            <a:r>
              <a:rPr sz="1300">
                <a:solidFill>
                  <a:srgbClr val="171717"/>
                </a:solidFill>
                <a:latin typeface="Helvetica Neue"/>
                <a:ea typeface="Helvetica Neue"/>
                <a:cs typeface="Helvetica Neue"/>
              </a:rPr>
              <a:t>An approved resume keeps its text when the career profile changes.</a:t>
            </a:r>
            <a:endParaRPr sz="1300"/>
          </a:p>
        </p:txBody>
      </p:sp>
    </p:spTree>
    <p:extLst>
      <p:ext uri="{BB962C8B-B14F-4D97-AF65-F5344CB8AC3E}">
        <p14:creationId xmlns:p14="http://schemas.microsoft.com/office/powerpoint/2010/main" val="11123301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E962A77C-E8C8-4310-A92E-0D85FF109502}"/>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6D9D2144-F825-4C86-A8CA-45791731842E}"/>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5FB8EA98-1D6E-4ECC-9668-EE2E608E49AE}"/>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ENGINEER</a:t>
            </a:r>
            <a:endParaRPr sz="1000"/>
          </a:p>
        </p:txBody>
      </p:sp>
      <p:sp>
        <p:nvSpPr>
          <p:cNvPr id="6" name="Text 3">
            <a:extLst xmlns:a="http://schemas.openxmlformats.org/drawingml/2006/main">
              <a:ext uri="{FF2B5EF4-FFF2-40B4-BE49-F238E27FC236}">
                <a16:creationId xmlns:a16="http://schemas.microsoft.com/office/drawing/2014/main" id="{18622DF3-B76A-44C1-B71A-B33793C5B260}"/>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pilot hosting model</a:t>
            </a:r>
            <a:endParaRPr sz="3000"/>
          </a:p>
        </p:txBody>
      </p:sp>
      <p:sp>
        <p:nvSpPr>
          <p:cNvPr id="7" name="Text 4">
            <a:extLst xmlns:a="http://schemas.openxmlformats.org/drawingml/2006/main">
              <a:ext uri="{FF2B5EF4-FFF2-40B4-BE49-F238E27FC236}">
                <a16:creationId xmlns:a16="http://schemas.microsoft.com/office/drawing/2014/main" id="{96472B64-01C2-4F60-ABF8-EEA9691178B8}"/>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One HTTPS-fronted Node process, a private SQLite volume, and recovery tested before pilot access.</a:t>
            </a:r>
            <a:endParaRPr sz="1500"/>
          </a:p>
        </p:txBody>
      </p:sp>
      <p:sp>
        <p:nvSpPr>
          <p:cNvPr id="8" name="Shape 5">
            <a:extLst xmlns:a="http://schemas.openxmlformats.org/drawingml/2006/main">
              <a:ext uri="{FF2B5EF4-FFF2-40B4-BE49-F238E27FC236}">
                <a16:creationId xmlns:a16="http://schemas.microsoft.com/office/drawing/2014/main" id="{329E6F0E-B085-4D72-BF94-10B94F7F9342}"/>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D55D0CEE-FC87-4C1C-958D-2D43A27FD417}"/>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2152129E-94FF-4E14-B96C-9A1220313E4D}"/>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21 / 29</a:t>
            </a:r>
            <a:endParaRPr sz="900"/>
          </a:p>
        </p:txBody>
      </p:sp>
      <p:sp>
        <p:nvSpPr>
          <p:cNvPr id="11" name="Shape 8">
            <a:extLst xmlns:a="http://schemas.openxmlformats.org/drawingml/2006/main">
              <a:ext uri="{FF2B5EF4-FFF2-40B4-BE49-F238E27FC236}">
                <a16:creationId xmlns:a16="http://schemas.microsoft.com/office/drawing/2014/main" id="{F30AAA6F-DA77-497B-8DDF-93B3CB698DC2}"/>
              </a:ext>
            </a:extLst>
          </p:cNvPr>
          <p:cNvSpPr>
            <a:spLocks xmlns:a="http://schemas.openxmlformats.org/drawingml/2006/main" noGrp="1"/>
          </p:cNvSpPr>
          <p:nvPr/>
        </p:nvSpPr>
        <p:spPr>
          <a:xfrm xmlns:a="http://schemas.openxmlformats.org/drawingml/2006/main">
            <a:off x="548640" y="1554480"/>
            <a:ext cx="5432908" cy="3611880"/>
          </a:xfrm>
          <a:prstGeom xmlns:a="http://schemas.openxmlformats.org/drawingml/2006/main" prst="roundRect">
            <a:avLst>
              <a:gd name="adj" fmla="val 2025"/>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B3263B91-DEE3-4560-8D64-AC15F5E7F29B}"/>
              </a:ext>
            </a:extLst>
          </p:cNvPr>
          <p:cNvSpPr>
            <a:spLocks xmlns:a="http://schemas.openxmlformats.org/drawingml/2006/main" noGrp="1"/>
          </p:cNvSpPr>
          <p:nvPr/>
        </p:nvSpPr>
        <p:spPr>
          <a:xfrm xmlns:a="http://schemas.openxmlformats.org/drawingml/2006/main">
            <a:off x="557784" y="1664208"/>
            <a:ext cx="54864" cy="33924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3" name="Text 10">
            <a:extLst xmlns:a="http://schemas.openxmlformats.org/drawingml/2006/main">
              <a:ext uri="{FF2B5EF4-FFF2-40B4-BE49-F238E27FC236}">
                <a16:creationId xmlns:a16="http://schemas.microsoft.com/office/drawing/2014/main" id="{320462B5-D295-4DB6-AE8E-5027B37F2CF5}"/>
              </a:ext>
            </a:extLst>
          </p:cNvPr>
          <p:cNvSpPr>
            <a:spLocks xmlns:a="http://schemas.openxmlformats.org/drawingml/2006/main" noGrp="1"/>
          </p:cNvSpPr>
          <p:nvPr/>
        </p:nvSpPr>
        <p:spPr>
          <a:xfrm xmlns:a="http://schemas.openxmlformats.org/drawingml/2006/main">
            <a:off x="804672"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20">
                <a:solidFill>
                  <a:srgbClr val="175CD4"/>
                </a:solidFill>
                <a:latin typeface="Helvetica Neue"/>
                <a:ea typeface="Helvetica Neue"/>
                <a:cs typeface="Helvetica Neue"/>
              </a:rPr>
              <a:t>ONE APPLICATION PROCESS</a:t>
            </a:r>
            <a:endParaRPr sz="1200"/>
          </a:p>
        </p:txBody>
      </p:sp>
      <p:sp>
        <p:nvSpPr>
          <p:cNvPr id="14" name="Text 11">
            <a:extLst xmlns:a="http://schemas.openxmlformats.org/drawingml/2006/main">
              <a:ext uri="{FF2B5EF4-FFF2-40B4-BE49-F238E27FC236}">
                <a16:creationId xmlns:a16="http://schemas.microsoft.com/office/drawing/2014/main" id="{0FB70FCE-F948-4EA6-A1DC-7A5AE1E2173A}"/>
              </a:ext>
            </a:extLst>
          </p:cNvPr>
          <p:cNvSpPr>
            <a:spLocks xmlns:a="http://schemas.openxmlformats.org/drawingml/2006/main" noGrp="1"/>
          </p:cNvSpPr>
          <p:nvPr/>
        </p:nvSpPr>
        <p:spPr>
          <a:xfrm xmlns:a="http://schemas.openxmlformats.org/drawingml/2006/main">
            <a:off x="804672" y="2212848"/>
            <a:ext cx="492084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300"/>
              </a:lnSpc>
              <a:buNone/>
            </a:pPr>
            <a:r>
              <a:rPr sz="1700" b="1">
                <a:solidFill>
                  <a:srgbClr val="0B2545"/>
                </a:solidFill>
                <a:latin typeface="Helvetica Neue"/>
                <a:ea typeface="Helvetica Neue"/>
                <a:cs typeface="Helvetica Neue"/>
              </a:rPr>
              <a:t>HTTPS proxy, one Node process and a private persistent SQLite volume.</a:t>
            </a:r>
            <a:endParaRPr sz="1700"/>
          </a:p>
        </p:txBody>
      </p:sp>
      <p:sp>
        <p:nvSpPr>
          <p:cNvPr id="15" name="Shape 12">
            <a:extLst xmlns:a="http://schemas.openxmlformats.org/drawingml/2006/main">
              <a:ext uri="{FF2B5EF4-FFF2-40B4-BE49-F238E27FC236}">
                <a16:creationId xmlns:a16="http://schemas.microsoft.com/office/drawing/2014/main" id="{03166749-9E60-497F-A887-0E4AB183F28E}"/>
              </a:ext>
            </a:extLst>
          </p:cNvPr>
          <p:cNvSpPr>
            <a:spLocks xmlns:a="http://schemas.openxmlformats.org/drawingml/2006/main" noGrp="1"/>
          </p:cNvSpPr>
          <p:nvPr/>
        </p:nvSpPr>
        <p:spPr>
          <a:xfrm xmlns:a="http://schemas.openxmlformats.org/drawingml/2006/main">
            <a:off x="804672" y="3246120"/>
            <a:ext cx="4920844"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16" name="Shape 13">
            <a:extLst xmlns:a="http://schemas.openxmlformats.org/drawingml/2006/main">
              <a:ext uri="{FF2B5EF4-FFF2-40B4-BE49-F238E27FC236}">
                <a16:creationId xmlns:a16="http://schemas.microsoft.com/office/drawing/2014/main" id="{08332540-F129-4774-8E2B-35B2B1118E54}"/>
              </a:ext>
            </a:extLst>
          </p:cNvPr>
          <p:cNvSpPr>
            <a:spLocks xmlns:a="http://schemas.openxmlformats.org/drawingml/2006/main" noGrp="1"/>
          </p:cNvSpPr>
          <p:nvPr/>
        </p:nvSpPr>
        <p:spPr>
          <a:xfrm xmlns:a="http://schemas.openxmlformats.org/drawingml/2006/main">
            <a:off x="804672" y="3552063"/>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7" name="Text 14">
            <a:extLst xmlns:a="http://schemas.openxmlformats.org/drawingml/2006/main">
              <a:ext uri="{FF2B5EF4-FFF2-40B4-BE49-F238E27FC236}">
                <a16:creationId xmlns:a16="http://schemas.microsoft.com/office/drawing/2014/main" id="{359EE9C1-1F64-49F8-B7D5-B925C379ED72}"/>
              </a:ext>
            </a:extLst>
          </p:cNvPr>
          <p:cNvSpPr>
            <a:spLocks xmlns:a="http://schemas.openxmlformats.org/drawingml/2006/main" noGrp="1"/>
          </p:cNvSpPr>
          <p:nvPr/>
        </p:nvSpPr>
        <p:spPr>
          <a:xfrm xmlns:a="http://schemas.openxmlformats.org/drawingml/2006/main">
            <a:off x="1024128" y="3456432"/>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Configure server secrets and a verified API model.</a:t>
            </a:r>
            <a:endParaRPr sz="1450"/>
          </a:p>
        </p:txBody>
      </p:sp>
      <p:sp>
        <p:nvSpPr>
          <p:cNvPr id="18" name="Shape 15">
            <a:extLst xmlns:a="http://schemas.openxmlformats.org/drawingml/2006/main">
              <a:ext uri="{FF2B5EF4-FFF2-40B4-BE49-F238E27FC236}">
                <a16:creationId xmlns:a16="http://schemas.microsoft.com/office/drawing/2014/main" id="{D46D7CF2-1033-4444-BBC0-D32E01D7DDE5}"/>
              </a:ext>
            </a:extLst>
          </p:cNvPr>
          <p:cNvSpPr>
            <a:spLocks xmlns:a="http://schemas.openxmlformats.org/drawingml/2006/main" noGrp="1"/>
          </p:cNvSpPr>
          <p:nvPr/>
        </p:nvSpPr>
        <p:spPr>
          <a:xfrm xmlns:a="http://schemas.openxmlformats.org/drawingml/2006/main">
            <a:off x="804672" y="4027551"/>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19" name="Text 16">
            <a:extLst xmlns:a="http://schemas.openxmlformats.org/drawingml/2006/main">
              <a:ext uri="{FF2B5EF4-FFF2-40B4-BE49-F238E27FC236}">
                <a16:creationId xmlns:a16="http://schemas.microsoft.com/office/drawing/2014/main" id="{B85206A2-E72F-47A2-AC0D-001BF99A5528}"/>
              </a:ext>
            </a:extLst>
          </p:cNvPr>
          <p:cNvSpPr>
            <a:spLocks xmlns:a="http://schemas.openxmlformats.org/drawingml/2006/main" noGrp="1"/>
          </p:cNvSpPr>
          <p:nvPr/>
        </p:nvSpPr>
        <p:spPr>
          <a:xfrm xmlns:a="http://schemas.openxmlformats.org/drawingml/2006/main">
            <a:off x="1024128" y="3931920"/>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Keep the application port private.</a:t>
            </a:r>
            <a:endParaRPr sz="1450"/>
          </a:p>
        </p:txBody>
      </p:sp>
      <p:sp>
        <p:nvSpPr>
          <p:cNvPr id="20" name="Shape 17">
            <a:extLst xmlns:a="http://schemas.openxmlformats.org/drawingml/2006/main">
              <a:ext uri="{FF2B5EF4-FFF2-40B4-BE49-F238E27FC236}">
                <a16:creationId xmlns:a16="http://schemas.microsoft.com/office/drawing/2014/main" id="{5ABFEE7D-131E-44E4-AC6B-37782B4BD273}"/>
              </a:ext>
            </a:extLst>
          </p:cNvPr>
          <p:cNvSpPr>
            <a:spLocks xmlns:a="http://schemas.openxmlformats.org/drawingml/2006/main" noGrp="1"/>
          </p:cNvSpPr>
          <p:nvPr/>
        </p:nvSpPr>
        <p:spPr>
          <a:xfrm xmlns:a="http://schemas.openxmlformats.org/drawingml/2006/main">
            <a:off x="804672" y="4503039"/>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1" name="Text 18">
            <a:extLst xmlns:a="http://schemas.openxmlformats.org/drawingml/2006/main">
              <a:ext uri="{FF2B5EF4-FFF2-40B4-BE49-F238E27FC236}">
                <a16:creationId xmlns:a16="http://schemas.microsoft.com/office/drawing/2014/main" id="{11C42AF8-EF39-4AB8-84B0-D98B136C11DC}"/>
              </a:ext>
            </a:extLst>
          </p:cNvPr>
          <p:cNvSpPr>
            <a:spLocks xmlns:a="http://schemas.openxmlformats.org/drawingml/2006/main" noGrp="1"/>
          </p:cNvSpPr>
          <p:nvPr/>
        </p:nvSpPr>
        <p:spPr>
          <a:xfrm xmlns:a="http://schemas.openxmlformats.org/drawingml/2006/main">
            <a:off x="1024128" y="4407408"/>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Confirm customer ownership checks on the host.</a:t>
            </a:r>
            <a:endParaRPr sz="1450"/>
          </a:p>
        </p:txBody>
      </p:sp>
      <p:sp>
        <p:nvSpPr>
          <p:cNvPr id="22" name="Shape 19">
            <a:extLst xmlns:a="http://schemas.openxmlformats.org/drawingml/2006/main">
              <a:ext uri="{FF2B5EF4-FFF2-40B4-BE49-F238E27FC236}">
                <a16:creationId xmlns:a16="http://schemas.microsoft.com/office/drawing/2014/main" id="{9B5E033A-7F02-4C97-8AA8-70A45CAF3FE3}"/>
              </a:ext>
            </a:extLst>
          </p:cNvPr>
          <p:cNvSpPr>
            <a:spLocks xmlns:a="http://schemas.openxmlformats.org/drawingml/2006/main" noGrp="1"/>
          </p:cNvSpPr>
          <p:nvPr/>
        </p:nvSpPr>
        <p:spPr>
          <a:xfrm xmlns:a="http://schemas.openxmlformats.org/drawingml/2006/main">
            <a:off x="6210148" y="1554480"/>
            <a:ext cx="5432908" cy="3611880"/>
          </a:xfrm>
          <a:prstGeom xmlns:a="http://schemas.openxmlformats.org/drawingml/2006/main" prst="roundRect">
            <a:avLst>
              <a:gd name="adj" fmla="val 2025"/>
            </a:avLst>
          </a:prstGeom>
          <a:solidFill xmlns:a="http://schemas.openxmlformats.org/drawingml/2006/main">
            <a:srgbClr val="F3F6FB"/>
          </a:solidFill>
          <a:ln xmlns:a="http://schemas.openxmlformats.org/drawingml/2006/main" w="9525">
            <a:solidFill>
              <a:srgbClr val="C9D6E8"/>
            </a:solidFill>
            <a:prstDash val="solid"/>
          </a:ln>
        </p:spPr>
      </p:sp>
      <p:sp>
        <p:nvSpPr>
          <p:cNvPr id="23" name="Shape 20">
            <a:extLst xmlns:a="http://schemas.openxmlformats.org/drawingml/2006/main">
              <a:ext uri="{FF2B5EF4-FFF2-40B4-BE49-F238E27FC236}">
                <a16:creationId xmlns:a16="http://schemas.microsoft.com/office/drawing/2014/main" id="{EED23200-8378-45C1-BEC3-A1E7F2C79D97}"/>
              </a:ext>
            </a:extLst>
          </p:cNvPr>
          <p:cNvSpPr>
            <a:spLocks xmlns:a="http://schemas.openxmlformats.org/drawingml/2006/main" noGrp="1"/>
          </p:cNvSpPr>
          <p:nvPr/>
        </p:nvSpPr>
        <p:spPr>
          <a:xfrm xmlns:a="http://schemas.openxmlformats.org/drawingml/2006/main">
            <a:off x="6219292" y="1664208"/>
            <a:ext cx="54864" cy="33924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4" name="Text 21">
            <a:extLst xmlns:a="http://schemas.openxmlformats.org/drawingml/2006/main">
              <a:ext uri="{FF2B5EF4-FFF2-40B4-BE49-F238E27FC236}">
                <a16:creationId xmlns:a16="http://schemas.microsoft.com/office/drawing/2014/main" id="{8B456021-EC02-4F69-9EDA-88A2D86ABB6A}"/>
              </a:ext>
            </a:extLst>
          </p:cNvPr>
          <p:cNvSpPr>
            <a:spLocks xmlns:a="http://schemas.openxmlformats.org/drawingml/2006/main" noGrp="1"/>
          </p:cNvSpPr>
          <p:nvPr/>
        </p:nvSpPr>
        <p:spPr>
          <a:xfrm xmlns:a="http://schemas.openxmlformats.org/drawingml/2006/main">
            <a:off x="6466180" y="17739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20">
                <a:solidFill>
                  <a:srgbClr val="175CD4"/>
                </a:solidFill>
                <a:latin typeface="Helvetica Neue"/>
                <a:ea typeface="Helvetica Neue"/>
                <a:cs typeface="Helvetica Neue"/>
              </a:rPr>
              <a:t>RECOVERY AND OPERATIONS</a:t>
            </a:r>
            <a:endParaRPr sz="1200"/>
          </a:p>
        </p:txBody>
      </p:sp>
      <p:sp>
        <p:nvSpPr>
          <p:cNvPr id="25" name="Text 22">
            <a:extLst xmlns:a="http://schemas.openxmlformats.org/drawingml/2006/main">
              <a:ext uri="{FF2B5EF4-FFF2-40B4-BE49-F238E27FC236}">
                <a16:creationId xmlns:a16="http://schemas.microsoft.com/office/drawing/2014/main" id="{CAA7E409-3083-4855-8753-760E341B6F9B}"/>
              </a:ext>
            </a:extLst>
          </p:cNvPr>
          <p:cNvSpPr>
            <a:spLocks xmlns:a="http://schemas.openxmlformats.org/drawingml/2006/main" noGrp="1"/>
          </p:cNvSpPr>
          <p:nvPr/>
        </p:nvSpPr>
        <p:spPr>
          <a:xfrm xmlns:a="http://schemas.openxmlformats.org/drawingml/2006/main">
            <a:off x="6466180" y="2212848"/>
            <a:ext cx="492084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300"/>
              </a:lnSpc>
              <a:buNone/>
            </a:pPr>
            <a:r>
              <a:rPr sz="1700" b="1">
                <a:solidFill>
                  <a:srgbClr val="0B2545"/>
                </a:solidFill>
                <a:latin typeface="Helvetica Neue"/>
                <a:ea typeface="Helvetica Neue"/>
                <a:cs typeface="Helvetica Neue"/>
              </a:rPr>
              <a:t>Monitor service failures, disk space, provider usage and backup age.</a:t>
            </a:r>
            <a:endParaRPr sz="1700"/>
          </a:p>
        </p:txBody>
      </p:sp>
      <p:sp>
        <p:nvSpPr>
          <p:cNvPr id="26" name="Shape 23">
            <a:extLst xmlns:a="http://schemas.openxmlformats.org/drawingml/2006/main">
              <a:ext uri="{FF2B5EF4-FFF2-40B4-BE49-F238E27FC236}">
                <a16:creationId xmlns:a16="http://schemas.microsoft.com/office/drawing/2014/main" id="{7F16E55C-4636-42D4-B07B-04A97B74EACA}"/>
              </a:ext>
            </a:extLst>
          </p:cNvPr>
          <p:cNvSpPr>
            <a:spLocks xmlns:a="http://schemas.openxmlformats.org/drawingml/2006/main" noGrp="1"/>
          </p:cNvSpPr>
          <p:nvPr/>
        </p:nvSpPr>
        <p:spPr>
          <a:xfrm xmlns:a="http://schemas.openxmlformats.org/drawingml/2006/main">
            <a:off x="6466180" y="3246120"/>
            <a:ext cx="4920844"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27" name="Shape 24">
            <a:extLst xmlns:a="http://schemas.openxmlformats.org/drawingml/2006/main">
              <a:ext uri="{FF2B5EF4-FFF2-40B4-BE49-F238E27FC236}">
                <a16:creationId xmlns:a16="http://schemas.microsoft.com/office/drawing/2014/main" id="{382F28EA-E048-4F22-B084-7C4F8B89A1FA}"/>
              </a:ext>
            </a:extLst>
          </p:cNvPr>
          <p:cNvSpPr>
            <a:spLocks xmlns:a="http://schemas.openxmlformats.org/drawingml/2006/main" noGrp="1"/>
          </p:cNvSpPr>
          <p:nvPr/>
        </p:nvSpPr>
        <p:spPr>
          <a:xfrm xmlns:a="http://schemas.openxmlformats.org/drawingml/2006/main">
            <a:off x="6466180" y="3552063"/>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28" name="Text 25">
            <a:extLst xmlns:a="http://schemas.openxmlformats.org/drawingml/2006/main">
              <a:ext uri="{FF2B5EF4-FFF2-40B4-BE49-F238E27FC236}">
                <a16:creationId xmlns:a16="http://schemas.microsoft.com/office/drawing/2014/main" id="{5117A19A-5BDB-49D6-9B34-1D54394817D0}"/>
              </a:ext>
            </a:extLst>
          </p:cNvPr>
          <p:cNvSpPr>
            <a:spLocks xmlns:a="http://schemas.openxmlformats.org/drawingml/2006/main" noGrp="1"/>
          </p:cNvSpPr>
          <p:nvPr/>
        </p:nvSpPr>
        <p:spPr>
          <a:xfrm xmlns:a="http://schemas.openxmlformats.org/drawingml/2006/main">
            <a:off x="6685636" y="3456432"/>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Schedule encrypted backups off the host.</a:t>
            </a:r>
            <a:endParaRPr sz="1450"/>
          </a:p>
        </p:txBody>
      </p:sp>
      <p:sp>
        <p:nvSpPr>
          <p:cNvPr id="29" name="Shape 26">
            <a:extLst xmlns:a="http://schemas.openxmlformats.org/drawingml/2006/main">
              <a:ext uri="{FF2B5EF4-FFF2-40B4-BE49-F238E27FC236}">
                <a16:creationId xmlns:a16="http://schemas.microsoft.com/office/drawing/2014/main" id="{A31C1137-68C4-431C-A1BF-1B068C5547B7}"/>
              </a:ext>
            </a:extLst>
          </p:cNvPr>
          <p:cNvSpPr>
            <a:spLocks xmlns:a="http://schemas.openxmlformats.org/drawingml/2006/main" noGrp="1"/>
          </p:cNvSpPr>
          <p:nvPr/>
        </p:nvSpPr>
        <p:spPr>
          <a:xfrm xmlns:a="http://schemas.openxmlformats.org/drawingml/2006/main">
            <a:off x="6466180" y="4027551"/>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0" name="Text 27">
            <a:extLst xmlns:a="http://schemas.openxmlformats.org/drawingml/2006/main">
              <a:ext uri="{FF2B5EF4-FFF2-40B4-BE49-F238E27FC236}">
                <a16:creationId xmlns:a16="http://schemas.microsoft.com/office/drawing/2014/main" id="{BF3A662D-5A76-42AB-8B66-8C149E66FEA9}"/>
              </a:ext>
            </a:extLst>
          </p:cNvPr>
          <p:cNvSpPr>
            <a:spLocks xmlns:a="http://schemas.openxmlformats.org/drawingml/2006/main" noGrp="1"/>
          </p:cNvSpPr>
          <p:nvPr/>
        </p:nvSpPr>
        <p:spPr>
          <a:xfrm xmlns:a="http://schemas.openxmlformats.org/drawingml/2006/main">
            <a:off x="6685636" y="3931920"/>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Test restart and restore before pilot access.</a:t>
            </a:r>
            <a:endParaRPr sz="1450"/>
          </a:p>
        </p:txBody>
      </p:sp>
      <p:sp>
        <p:nvSpPr>
          <p:cNvPr id="31" name="Shape 28">
            <a:extLst xmlns:a="http://schemas.openxmlformats.org/drawingml/2006/main">
              <a:ext uri="{FF2B5EF4-FFF2-40B4-BE49-F238E27FC236}">
                <a16:creationId xmlns:a16="http://schemas.microsoft.com/office/drawing/2014/main" id="{DBE8C237-66C7-4B6C-A5EC-B8AD5F4BF15A}"/>
              </a:ext>
            </a:extLst>
          </p:cNvPr>
          <p:cNvSpPr>
            <a:spLocks xmlns:a="http://schemas.openxmlformats.org/drawingml/2006/main" noGrp="1"/>
          </p:cNvSpPr>
          <p:nvPr/>
        </p:nvSpPr>
        <p:spPr>
          <a:xfrm xmlns:a="http://schemas.openxmlformats.org/drawingml/2006/main">
            <a:off x="6466180" y="4503039"/>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2" name="Text 29">
            <a:extLst xmlns:a="http://schemas.openxmlformats.org/drawingml/2006/main">
              <a:ext uri="{FF2B5EF4-FFF2-40B4-BE49-F238E27FC236}">
                <a16:creationId xmlns:a16="http://schemas.microsoft.com/office/drawing/2014/main" id="{1ED8907E-7844-43FA-B6B1-2FDCAAE7A3B4}"/>
              </a:ext>
            </a:extLst>
          </p:cNvPr>
          <p:cNvSpPr>
            <a:spLocks xmlns:a="http://schemas.openxmlformats.org/drawingml/2006/main" noGrp="1"/>
          </p:cNvSpPr>
          <p:nvPr/>
        </p:nvSpPr>
        <p:spPr>
          <a:xfrm xmlns:a="http://schemas.openxmlformats.org/drawingml/2006/main">
            <a:off x="6685636" y="4407408"/>
            <a:ext cx="47013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69"/>
              </a:lnSpc>
              <a:buNone/>
            </a:pPr>
            <a:r>
              <a:rPr sz="1450">
                <a:solidFill>
                  <a:srgbClr val="171717"/>
                </a:solidFill>
                <a:latin typeface="Helvetica Neue"/>
                <a:ea typeface="Helvetica Neue"/>
                <a:cs typeface="Helvetica Neue"/>
              </a:rPr>
              <a:t>Design shared storage and limits before adding replicas.</a:t>
            </a:r>
            <a:endParaRPr sz="1450"/>
          </a:p>
        </p:txBody>
      </p:sp>
    </p:spTree>
    <p:extLst>
      <p:ext uri="{BB962C8B-B14F-4D97-AF65-F5344CB8AC3E}">
        <p14:creationId xmlns:p14="http://schemas.microsoft.com/office/powerpoint/2010/main" val="4356855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0FBDA10-1CD1-441F-8B64-B9070A5E0332}"/>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175CD4"/>
                </a:solidFill>
                <a:latin typeface="Helvetica Neue"/>
                <a:ea typeface="Helvetica Neue"/>
                <a:cs typeface="Helvetica Neue"/>
              </a:rPr>
              <a:t>PART 2 · WHAT IS BUILT AND HOW TO RUN IT</a:t>
            </a:r>
            <a:endParaRPr sz="1100"/>
          </a:p>
        </p:txBody>
      </p:sp>
      <p:sp>
        <p:nvSpPr>
          <p:cNvPr id="4" name="Shape 1">
            <a:extLst xmlns:a="http://schemas.openxmlformats.org/drawingml/2006/main">
              <a:ext uri="{FF2B5EF4-FFF2-40B4-BE49-F238E27FC236}">
                <a16:creationId xmlns:a16="http://schemas.microsoft.com/office/drawing/2014/main" id="{483412C8-D508-4913-8BF0-22442C11D016}"/>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5" name="Text 2">
            <a:extLst xmlns:a="http://schemas.openxmlformats.org/drawingml/2006/main">
              <a:ext uri="{FF2B5EF4-FFF2-40B4-BE49-F238E27FC236}">
                <a16:creationId xmlns:a16="http://schemas.microsoft.com/office/drawing/2014/main" id="{A83E100E-AA77-4DB0-9E92-DDFCF4234353}"/>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ENGINEER</a:t>
            </a:r>
            <a:endParaRPr sz="1000"/>
          </a:p>
        </p:txBody>
      </p:sp>
      <p:sp>
        <p:nvSpPr>
          <p:cNvPr id="6" name="Text 3">
            <a:extLst xmlns:a="http://schemas.openxmlformats.org/drawingml/2006/main">
              <a:ext uri="{FF2B5EF4-FFF2-40B4-BE49-F238E27FC236}">
                <a16:creationId xmlns:a16="http://schemas.microsoft.com/office/drawing/2014/main" id="{840DF617-7775-4E51-B402-E7DB7476624C}"/>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Launch work in dependency order</a:t>
            </a:r>
            <a:endParaRPr sz="3000"/>
          </a:p>
        </p:txBody>
      </p:sp>
      <p:sp>
        <p:nvSpPr>
          <p:cNvPr id="7" name="Text 4">
            <a:extLst xmlns:a="http://schemas.openxmlformats.org/drawingml/2006/main">
              <a:ext uri="{FF2B5EF4-FFF2-40B4-BE49-F238E27FC236}">
                <a16:creationId xmlns:a16="http://schemas.microsoft.com/office/drawing/2014/main" id="{79FA5B8C-6D52-463D-9058-23E2A44FF906}"/>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Four milestones group the eight launch gates. No dates are committed.</a:t>
            </a:r>
            <a:endParaRPr sz="1500"/>
          </a:p>
        </p:txBody>
      </p:sp>
      <p:sp>
        <p:nvSpPr>
          <p:cNvPr id="8" name="Shape 5">
            <a:extLst xmlns:a="http://schemas.openxmlformats.org/drawingml/2006/main">
              <a:ext uri="{FF2B5EF4-FFF2-40B4-BE49-F238E27FC236}">
                <a16:creationId xmlns:a16="http://schemas.microsoft.com/office/drawing/2014/main" id="{FF3D414E-B782-4ED8-986C-1B517EBC1B78}"/>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85DC5FC7-A7BD-454A-AD6F-72AED111A7F7}"/>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7F0BE3C8-7229-4AA5-BA13-FD5B347F3399}"/>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22 / 29</a:t>
            </a:r>
            <a:endParaRPr sz="900"/>
          </a:p>
        </p:txBody>
      </p:sp>
      <p:sp>
        <p:nvSpPr>
          <p:cNvPr id="11" name="Shape 8">
            <a:extLst xmlns:a="http://schemas.openxmlformats.org/drawingml/2006/main">
              <a:ext uri="{FF2B5EF4-FFF2-40B4-BE49-F238E27FC236}">
                <a16:creationId xmlns:a16="http://schemas.microsoft.com/office/drawing/2014/main" id="{C086988B-D800-47A2-82D3-2A74B712579B}"/>
              </a:ext>
            </a:extLst>
          </p:cNvPr>
          <p:cNvSpPr>
            <a:spLocks xmlns:a="http://schemas.openxmlformats.org/drawingml/2006/main" noGrp="1"/>
          </p:cNvSpPr>
          <p:nvPr/>
        </p:nvSpPr>
        <p:spPr>
          <a:xfrm xmlns:a="http://schemas.openxmlformats.org/drawingml/2006/main">
            <a:off x="548640" y="1600200"/>
            <a:ext cx="1691640" cy="292608"/>
          </a:xfrm>
          <a:prstGeom xmlns:a="http://schemas.openxmlformats.org/drawingml/2006/main" prst="roundRect">
            <a:avLst>
              <a:gd name="adj" fmla="val 50000"/>
            </a:avLst>
          </a:prstGeom>
          <a:solidFill xmlns:a="http://schemas.openxmlformats.org/drawingml/2006/main">
            <a:srgbClr val="175CD4"/>
          </a:solidFill>
          <a:ln xmlns:a="http://schemas.openxmlformats.org/drawingml/2006/main" w="12700">
            <a:solidFill>
              <a:srgbClr val="175CD4"/>
            </a:solidFill>
            <a:prstDash val="solid"/>
          </a:ln>
        </p:spPr>
      </p:sp>
      <p:sp>
        <p:nvSpPr>
          <p:cNvPr id="12" name="Text 9">
            <a:extLst xmlns:a="http://schemas.openxmlformats.org/drawingml/2006/main">
              <a:ext uri="{FF2B5EF4-FFF2-40B4-BE49-F238E27FC236}">
                <a16:creationId xmlns:a16="http://schemas.microsoft.com/office/drawing/2014/main" id="{DC480B2A-F147-44C1-BC4A-016DF99557FC}"/>
              </a:ext>
            </a:extLst>
          </p:cNvPr>
          <p:cNvSpPr>
            <a:spLocks xmlns:a="http://schemas.openxmlformats.org/drawingml/2006/main" noGrp="1"/>
          </p:cNvSpPr>
          <p:nvPr/>
        </p:nvSpPr>
        <p:spPr>
          <a:xfrm xmlns:a="http://schemas.openxmlformats.org/drawingml/2006/main">
            <a:off x="548640" y="1659636"/>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YOU ARE HERE</a:t>
            </a:r>
            <a:endParaRPr sz="1000"/>
          </a:p>
        </p:txBody>
      </p:sp>
      <p:sp>
        <p:nvSpPr>
          <p:cNvPr id="13" name="Shape 10">
            <a:extLst xmlns:a="http://schemas.openxmlformats.org/drawingml/2006/main">
              <a:ext uri="{FF2B5EF4-FFF2-40B4-BE49-F238E27FC236}">
                <a16:creationId xmlns:a16="http://schemas.microsoft.com/office/drawing/2014/main" id="{AFC4C860-5B70-4265-9E46-E67DF9E4F17B}"/>
              </a:ext>
            </a:extLst>
          </p:cNvPr>
          <p:cNvSpPr>
            <a:spLocks xmlns:a="http://schemas.openxmlformats.org/drawingml/2006/main" noGrp="1"/>
          </p:cNvSpPr>
          <p:nvPr/>
        </p:nvSpPr>
        <p:spPr>
          <a:xfrm xmlns:a="http://schemas.openxmlformats.org/drawingml/2006/main">
            <a:off x="548640" y="2212848"/>
            <a:ext cx="2430704" cy="1554480"/>
          </a:xfrm>
          <a:prstGeom xmlns:a="http://schemas.openxmlformats.org/drawingml/2006/main" prst="roundRect">
            <a:avLst>
              <a:gd name="adj" fmla="val 4706"/>
            </a:avLst>
          </a:prstGeom>
          <a:solidFill xmlns:a="http://schemas.openxmlformats.org/drawingml/2006/main">
            <a:srgbClr val="175CD4"/>
          </a:solidFill>
          <a:ln xmlns:a="http://schemas.openxmlformats.org/drawingml/2006/main" w="15875">
            <a:solidFill>
              <a:srgbClr val="175CD4"/>
            </a:solidFill>
            <a:prstDash val="solid"/>
          </a:ln>
        </p:spPr>
      </p:sp>
      <p:sp>
        <p:nvSpPr>
          <p:cNvPr id="14" name="Text 11">
            <a:extLst xmlns:a="http://schemas.openxmlformats.org/drawingml/2006/main">
              <a:ext uri="{FF2B5EF4-FFF2-40B4-BE49-F238E27FC236}">
                <a16:creationId xmlns:a16="http://schemas.microsoft.com/office/drawing/2014/main" id="{F4D636E9-BCFF-41D3-8836-074AA90090C2}"/>
              </a:ext>
            </a:extLst>
          </p:cNvPr>
          <p:cNvSpPr>
            <a:spLocks xmlns:a="http://schemas.openxmlformats.org/drawingml/2006/main" noGrp="1"/>
          </p:cNvSpPr>
          <p:nvPr/>
        </p:nvSpPr>
        <p:spPr>
          <a:xfrm xmlns:a="http://schemas.openxmlformats.org/drawingml/2006/main">
            <a:off x="676656" y="2459736"/>
            <a:ext cx="2174672" cy="11795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Helvetica Neue"/>
                <a:ea typeface="Helvetica Neue"/>
                <a:cs typeface="Helvetica Neue"/>
              </a:rPr>
              <a:t>Transfer</a:t>
            </a:r>
            <a:endParaRPr sz="1700"/>
          </a:p>
          <a:p xmlns:a="http://schemas.openxmlformats.org/drawingml/2006/main">
            <a:pPr marL="0" indent="0" algn="ctr">
              <a:spcBef>
                <a:spcPts val="500"/>
              </a:spcBef>
              <a:buNone/>
            </a:pPr>
            <a:r>
              <a:rPr sz="1200">
                <a:solidFill>
                  <a:srgbClr val="E7F0FA"/>
                </a:solidFill>
                <a:latin typeface="Helvetica Neue"/>
                <a:ea typeface="Helvetica Neue"/>
                <a:cs typeface="Helvetica Neue"/>
              </a:rPr>
              <a:t>Fresh private repository with product source only.</a:t>
            </a:r>
            <a:endParaRPr sz="1700"/>
          </a:p>
        </p:txBody>
      </p:sp>
      <p:sp>
        <p:nvSpPr>
          <p:cNvPr id="15" name="Shape 12">
            <a:extLst xmlns:a="http://schemas.openxmlformats.org/drawingml/2006/main">
              <a:ext uri="{FF2B5EF4-FFF2-40B4-BE49-F238E27FC236}">
                <a16:creationId xmlns:a16="http://schemas.microsoft.com/office/drawing/2014/main" id="{C04B91E8-B660-4530-9354-F1B01AAEE095}"/>
              </a:ext>
            </a:extLst>
          </p:cNvPr>
          <p:cNvSpPr>
            <a:spLocks xmlns:a="http://schemas.openxmlformats.org/drawingml/2006/main" noGrp="1"/>
          </p:cNvSpPr>
          <p:nvPr/>
        </p:nvSpPr>
        <p:spPr>
          <a:xfrm xmlns:a="http://schemas.openxmlformats.org/drawingml/2006/main">
            <a:off x="1571968" y="2020824"/>
            <a:ext cx="384048" cy="384048"/>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16" name="Text 13">
            <a:extLst xmlns:a="http://schemas.openxmlformats.org/drawingml/2006/main">
              <a:ext uri="{FF2B5EF4-FFF2-40B4-BE49-F238E27FC236}">
                <a16:creationId xmlns:a16="http://schemas.microsoft.com/office/drawing/2014/main" id="{04788AA0-3783-479A-8EC7-2D294A18B26F}"/>
              </a:ext>
            </a:extLst>
          </p:cNvPr>
          <p:cNvSpPr>
            <a:spLocks xmlns:a="http://schemas.openxmlformats.org/drawingml/2006/main" noGrp="1"/>
          </p:cNvSpPr>
          <p:nvPr/>
        </p:nvSpPr>
        <p:spPr>
          <a:xfrm xmlns:a="http://schemas.openxmlformats.org/drawingml/2006/main">
            <a:off x="1571968" y="211759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01</a:t>
            </a:r>
            <a:endParaRPr sz="1200"/>
          </a:p>
        </p:txBody>
      </p:sp>
      <p:sp>
        <p:nvSpPr>
          <p:cNvPr id="17" name="Shape 14">
            <a:extLst xmlns:a="http://schemas.openxmlformats.org/drawingml/2006/main">
              <a:ext uri="{FF2B5EF4-FFF2-40B4-BE49-F238E27FC236}">
                <a16:creationId xmlns:a16="http://schemas.microsoft.com/office/drawing/2014/main" id="{0A1449FB-232B-42B8-BB41-AAFB2A4B0969}"/>
              </a:ext>
            </a:extLst>
          </p:cNvPr>
          <p:cNvSpPr>
            <a:spLocks xmlns:a="http://schemas.openxmlformats.org/drawingml/2006/main" noGrp="1"/>
          </p:cNvSpPr>
          <p:nvPr/>
        </p:nvSpPr>
        <p:spPr>
          <a:xfrm xmlns:a="http://schemas.openxmlformats.org/drawingml/2006/main">
            <a:off x="3025064" y="2990088"/>
            <a:ext cx="365760"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8" name="Shape 15">
            <a:extLst xmlns:a="http://schemas.openxmlformats.org/drawingml/2006/main">
              <a:ext uri="{FF2B5EF4-FFF2-40B4-BE49-F238E27FC236}">
                <a16:creationId xmlns:a16="http://schemas.microsoft.com/office/drawing/2014/main" id="{7B427525-995E-4A42-A667-42861ECEC5DE}"/>
              </a:ext>
            </a:extLst>
          </p:cNvPr>
          <p:cNvSpPr>
            <a:spLocks xmlns:a="http://schemas.openxmlformats.org/drawingml/2006/main" noGrp="1"/>
          </p:cNvSpPr>
          <p:nvPr/>
        </p:nvSpPr>
        <p:spPr>
          <a:xfrm xmlns:a="http://schemas.openxmlformats.org/drawingml/2006/main">
            <a:off x="3436544" y="2212848"/>
            <a:ext cx="2430704" cy="1554480"/>
          </a:xfrm>
          <a:prstGeom xmlns:a="http://schemas.openxmlformats.org/drawingml/2006/main" prst="roundRect">
            <a:avLst>
              <a:gd name="adj" fmla="val 4706"/>
            </a:avLst>
          </a:prstGeom>
          <a:solidFill xmlns:a="http://schemas.openxmlformats.org/drawingml/2006/main">
            <a:srgbClr val="F3F6FB"/>
          </a:solidFill>
          <a:ln xmlns:a="http://schemas.openxmlformats.org/drawingml/2006/main" w="15875">
            <a:solidFill>
              <a:srgbClr val="175CD4"/>
            </a:solidFill>
            <a:prstDash val="solid"/>
          </a:ln>
        </p:spPr>
      </p:sp>
      <p:sp>
        <p:nvSpPr>
          <p:cNvPr id="19" name="Text 16">
            <a:extLst xmlns:a="http://schemas.openxmlformats.org/drawingml/2006/main">
              <a:ext uri="{FF2B5EF4-FFF2-40B4-BE49-F238E27FC236}">
                <a16:creationId xmlns:a16="http://schemas.microsoft.com/office/drawing/2014/main" id="{1A6D9D4E-0958-4D36-8A3E-D216C33C699D}"/>
              </a:ext>
            </a:extLst>
          </p:cNvPr>
          <p:cNvSpPr>
            <a:spLocks xmlns:a="http://schemas.openxmlformats.org/drawingml/2006/main" noGrp="1"/>
          </p:cNvSpPr>
          <p:nvPr/>
        </p:nvSpPr>
        <p:spPr>
          <a:xfrm xmlns:a="http://schemas.openxmlformats.org/drawingml/2006/main">
            <a:off x="3564560" y="2459736"/>
            <a:ext cx="2174672" cy="11795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B2545"/>
                </a:solidFill>
                <a:latin typeface="Helvetica Neue"/>
                <a:ea typeface="Helvetica Neue"/>
                <a:cs typeface="Helvetica Neue"/>
              </a:rPr>
              <a:t>Verify</a:t>
            </a:r>
            <a:endParaRPr sz="1700"/>
          </a:p>
          <a:p xmlns:a="http://schemas.openxmlformats.org/drawingml/2006/main">
            <a:pPr marL="0" indent="0" algn="ctr">
              <a:spcBef>
                <a:spcPts val="500"/>
              </a:spcBef>
              <a:buNone/>
            </a:pPr>
            <a:r>
              <a:rPr sz="1200">
                <a:solidFill>
                  <a:srgbClr val="52677F"/>
                </a:solidFill>
                <a:latin typeface="Helvetica Neue"/>
                <a:ea typeface="Helvetica Neue"/>
                <a:cs typeface="Helvetica Neue"/>
              </a:rPr>
              <a:t>Live AI, job access and privacy flows work on the host.</a:t>
            </a:r>
            <a:endParaRPr sz="1700"/>
          </a:p>
        </p:txBody>
      </p:sp>
      <p:sp>
        <p:nvSpPr>
          <p:cNvPr id="20" name="Shape 17">
            <a:extLst xmlns:a="http://schemas.openxmlformats.org/drawingml/2006/main">
              <a:ext uri="{FF2B5EF4-FFF2-40B4-BE49-F238E27FC236}">
                <a16:creationId xmlns:a16="http://schemas.microsoft.com/office/drawing/2014/main" id="{8DBEE239-F33D-47C6-9274-51006C58573C}"/>
              </a:ext>
            </a:extLst>
          </p:cNvPr>
          <p:cNvSpPr>
            <a:spLocks xmlns:a="http://schemas.openxmlformats.org/drawingml/2006/main" noGrp="1"/>
          </p:cNvSpPr>
          <p:nvPr/>
        </p:nvSpPr>
        <p:spPr>
          <a:xfrm xmlns:a="http://schemas.openxmlformats.org/drawingml/2006/main">
            <a:off x="4459872" y="2020824"/>
            <a:ext cx="384048" cy="384048"/>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21" name="Text 18">
            <a:extLst xmlns:a="http://schemas.openxmlformats.org/drawingml/2006/main">
              <a:ext uri="{FF2B5EF4-FFF2-40B4-BE49-F238E27FC236}">
                <a16:creationId xmlns:a16="http://schemas.microsoft.com/office/drawing/2014/main" id="{AF6086C2-7741-4CCC-8793-A673184A0D15}"/>
              </a:ext>
            </a:extLst>
          </p:cNvPr>
          <p:cNvSpPr>
            <a:spLocks xmlns:a="http://schemas.openxmlformats.org/drawingml/2006/main" noGrp="1"/>
          </p:cNvSpPr>
          <p:nvPr/>
        </p:nvSpPr>
        <p:spPr>
          <a:xfrm xmlns:a="http://schemas.openxmlformats.org/drawingml/2006/main">
            <a:off x="4459872" y="211759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02</a:t>
            </a:r>
            <a:endParaRPr sz="1200"/>
          </a:p>
        </p:txBody>
      </p:sp>
      <p:sp>
        <p:nvSpPr>
          <p:cNvPr id="22" name="Shape 19">
            <a:extLst xmlns:a="http://schemas.openxmlformats.org/drawingml/2006/main">
              <a:ext uri="{FF2B5EF4-FFF2-40B4-BE49-F238E27FC236}">
                <a16:creationId xmlns:a16="http://schemas.microsoft.com/office/drawing/2014/main" id="{BD3D00D1-ECD5-4CC1-812C-64982A1D3DBE}"/>
              </a:ext>
            </a:extLst>
          </p:cNvPr>
          <p:cNvSpPr>
            <a:spLocks xmlns:a="http://schemas.openxmlformats.org/drawingml/2006/main" noGrp="1"/>
          </p:cNvSpPr>
          <p:nvPr/>
        </p:nvSpPr>
        <p:spPr>
          <a:xfrm xmlns:a="http://schemas.openxmlformats.org/drawingml/2006/main">
            <a:off x="5912968" y="2990088"/>
            <a:ext cx="365760"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3" name="Shape 20">
            <a:extLst xmlns:a="http://schemas.openxmlformats.org/drawingml/2006/main">
              <a:ext uri="{FF2B5EF4-FFF2-40B4-BE49-F238E27FC236}">
                <a16:creationId xmlns:a16="http://schemas.microsoft.com/office/drawing/2014/main" id="{C27B41B5-B4DC-4977-8CF3-73A29B54C0FC}"/>
              </a:ext>
            </a:extLst>
          </p:cNvPr>
          <p:cNvSpPr>
            <a:spLocks xmlns:a="http://schemas.openxmlformats.org/drawingml/2006/main" noGrp="1"/>
          </p:cNvSpPr>
          <p:nvPr/>
        </p:nvSpPr>
        <p:spPr>
          <a:xfrm xmlns:a="http://schemas.openxmlformats.org/drawingml/2006/main">
            <a:off x="6324448" y="2212848"/>
            <a:ext cx="2430704" cy="1554480"/>
          </a:xfrm>
          <a:prstGeom xmlns:a="http://schemas.openxmlformats.org/drawingml/2006/main" prst="roundRect">
            <a:avLst>
              <a:gd name="adj" fmla="val 4706"/>
            </a:avLst>
          </a:prstGeom>
          <a:solidFill xmlns:a="http://schemas.openxmlformats.org/drawingml/2006/main">
            <a:srgbClr val="F3F6FB"/>
          </a:solidFill>
          <a:ln xmlns:a="http://schemas.openxmlformats.org/drawingml/2006/main" w="15875">
            <a:solidFill>
              <a:srgbClr val="175CD4"/>
            </a:solidFill>
            <a:prstDash val="solid"/>
          </a:ln>
        </p:spPr>
      </p:sp>
      <p:sp>
        <p:nvSpPr>
          <p:cNvPr id="24" name="Text 21">
            <a:extLst xmlns:a="http://schemas.openxmlformats.org/drawingml/2006/main">
              <a:ext uri="{FF2B5EF4-FFF2-40B4-BE49-F238E27FC236}">
                <a16:creationId xmlns:a16="http://schemas.microsoft.com/office/drawing/2014/main" id="{EFE5B527-8A94-400A-8480-F375D1AAFF93}"/>
              </a:ext>
            </a:extLst>
          </p:cNvPr>
          <p:cNvSpPr>
            <a:spLocks xmlns:a="http://schemas.openxmlformats.org/drawingml/2006/main" noGrp="1"/>
          </p:cNvSpPr>
          <p:nvPr/>
        </p:nvSpPr>
        <p:spPr>
          <a:xfrm xmlns:a="http://schemas.openxmlformats.org/drawingml/2006/main">
            <a:off x="6452464" y="2459736"/>
            <a:ext cx="2174672" cy="11795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B2545"/>
                </a:solidFill>
                <a:latin typeface="Helvetica Neue"/>
                <a:ea typeface="Helvetica Neue"/>
                <a:cs typeface="Helvetica Neue"/>
              </a:rPr>
              <a:t>Pilot</a:t>
            </a:r>
            <a:endParaRPr sz="1700"/>
          </a:p>
          <a:p xmlns:a="http://schemas.openxmlformats.org/drawingml/2006/main">
            <a:pPr marL="0" indent="0" algn="ctr">
              <a:spcBef>
                <a:spcPts val="500"/>
              </a:spcBef>
              <a:buNone/>
            </a:pPr>
            <a:r>
              <a:rPr sz="1200">
                <a:solidFill>
                  <a:srgbClr val="52677F"/>
                </a:solidFill>
                <a:latin typeface="Helvetica Neue"/>
                <a:ea typeface="Helvetica Neue"/>
                <a:cs typeface="Helvetica Neue"/>
              </a:rPr>
              <a:t>Observe customer sessions and measure useful outcomes.</a:t>
            </a:r>
            <a:endParaRPr sz="1700"/>
          </a:p>
        </p:txBody>
      </p:sp>
      <p:sp>
        <p:nvSpPr>
          <p:cNvPr id="25" name="Shape 22">
            <a:extLst xmlns:a="http://schemas.openxmlformats.org/drawingml/2006/main">
              <a:ext uri="{FF2B5EF4-FFF2-40B4-BE49-F238E27FC236}">
                <a16:creationId xmlns:a16="http://schemas.microsoft.com/office/drawing/2014/main" id="{1D68071A-2DEC-4A44-9A61-00F1231A4C7B}"/>
              </a:ext>
            </a:extLst>
          </p:cNvPr>
          <p:cNvSpPr>
            <a:spLocks xmlns:a="http://schemas.openxmlformats.org/drawingml/2006/main" noGrp="1"/>
          </p:cNvSpPr>
          <p:nvPr/>
        </p:nvSpPr>
        <p:spPr>
          <a:xfrm xmlns:a="http://schemas.openxmlformats.org/drawingml/2006/main">
            <a:off x="7347776" y="2020824"/>
            <a:ext cx="384048" cy="384048"/>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26" name="Text 23">
            <a:extLst xmlns:a="http://schemas.openxmlformats.org/drawingml/2006/main">
              <a:ext uri="{FF2B5EF4-FFF2-40B4-BE49-F238E27FC236}">
                <a16:creationId xmlns:a16="http://schemas.microsoft.com/office/drawing/2014/main" id="{A5EE3EB6-E969-41BA-BCC2-4A3C6DCA18F2}"/>
              </a:ext>
            </a:extLst>
          </p:cNvPr>
          <p:cNvSpPr>
            <a:spLocks xmlns:a="http://schemas.openxmlformats.org/drawingml/2006/main" noGrp="1"/>
          </p:cNvSpPr>
          <p:nvPr/>
        </p:nvSpPr>
        <p:spPr>
          <a:xfrm xmlns:a="http://schemas.openxmlformats.org/drawingml/2006/main">
            <a:off x="7347776" y="211759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03</a:t>
            </a:r>
            <a:endParaRPr sz="1200"/>
          </a:p>
        </p:txBody>
      </p:sp>
      <p:sp>
        <p:nvSpPr>
          <p:cNvPr id="27" name="Shape 24">
            <a:extLst xmlns:a="http://schemas.openxmlformats.org/drawingml/2006/main">
              <a:ext uri="{FF2B5EF4-FFF2-40B4-BE49-F238E27FC236}">
                <a16:creationId xmlns:a16="http://schemas.microsoft.com/office/drawing/2014/main" id="{F53CEC1A-6697-4814-A250-A29A2A4DFB36}"/>
              </a:ext>
            </a:extLst>
          </p:cNvPr>
          <p:cNvSpPr>
            <a:spLocks xmlns:a="http://schemas.openxmlformats.org/drawingml/2006/main" noGrp="1"/>
          </p:cNvSpPr>
          <p:nvPr/>
        </p:nvSpPr>
        <p:spPr>
          <a:xfrm xmlns:a="http://schemas.openxmlformats.org/drawingml/2006/main">
            <a:off x="8800871" y="2990088"/>
            <a:ext cx="365760"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8" name="Shape 25">
            <a:extLst xmlns:a="http://schemas.openxmlformats.org/drawingml/2006/main">
              <a:ext uri="{FF2B5EF4-FFF2-40B4-BE49-F238E27FC236}">
                <a16:creationId xmlns:a16="http://schemas.microsoft.com/office/drawing/2014/main" id="{7CC1123F-9019-45EC-BB92-D5CB7200F022}"/>
              </a:ext>
            </a:extLst>
          </p:cNvPr>
          <p:cNvSpPr>
            <a:spLocks xmlns:a="http://schemas.openxmlformats.org/drawingml/2006/main" noGrp="1"/>
          </p:cNvSpPr>
          <p:nvPr/>
        </p:nvSpPr>
        <p:spPr>
          <a:xfrm xmlns:a="http://schemas.openxmlformats.org/drawingml/2006/main">
            <a:off x="9212351" y="2212848"/>
            <a:ext cx="2430704" cy="1554480"/>
          </a:xfrm>
          <a:prstGeom xmlns:a="http://schemas.openxmlformats.org/drawingml/2006/main" prst="roundRect">
            <a:avLst>
              <a:gd name="adj" fmla="val 4706"/>
            </a:avLst>
          </a:prstGeom>
          <a:solidFill xmlns:a="http://schemas.openxmlformats.org/drawingml/2006/main">
            <a:srgbClr val="0B2545"/>
          </a:solidFill>
          <a:ln xmlns:a="http://schemas.openxmlformats.org/drawingml/2006/main" w="15875">
            <a:solidFill>
              <a:srgbClr val="0B2545"/>
            </a:solidFill>
            <a:prstDash val="solid"/>
          </a:ln>
        </p:spPr>
      </p:sp>
      <p:sp>
        <p:nvSpPr>
          <p:cNvPr id="29" name="Text 26">
            <a:extLst xmlns:a="http://schemas.openxmlformats.org/drawingml/2006/main">
              <a:ext uri="{FF2B5EF4-FFF2-40B4-BE49-F238E27FC236}">
                <a16:creationId xmlns:a16="http://schemas.microsoft.com/office/drawing/2014/main" id="{7654BC08-4B59-49BB-A712-2E70F5E747DA}"/>
              </a:ext>
            </a:extLst>
          </p:cNvPr>
          <p:cNvSpPr>
            <a:spLocks xmlns:a="http://schemas.openxmlformats.org/drawingml/2006/main" noGrp="1"/>
          </p:cNvSpPr>
          <p:nvPr/>
        </p:nvSpPr>
        <p:spPr>
          <a:xfrm xmlns:a="http://schemas.openxmlformats.org/drawingml/2006/main">
            <a:off x="9340367" y="2459736"/>
            <a:ext cx="2174672" cy="11795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Helvetica Neue"/>
                <a:ea typeface="Helvetica Neue"/>
                <a:cs typeface="Helvetica Neue"/>
              </a:rPr>
              <a:t>Charge</a:t>
            </a:r>
            <a:endParaRPr sz="1700"/>
          </a:p>
          <a:p xmlns:a="http://schemas.openxmlformats.org/drawingml/2006/main">
            <a:pPr marL="0" indent="0" algn="ctr">
              <a:spcBef>
                <a:spcPts val="500"/>
              </a:spcBef>
              <a:buNone/>
            </a:pPr>
            <a:r>
              <a:rPr sz="1200">
                <a:solidFill>
                  <a:srgbClr val="C6D5E8"/>
                </a:solidFill>
                <a:latin typeface="Helvetica Neue"/>
                <a:ea typeface="Helvetica Neue"/>
                <a:cs typeface="Helvetica Neue"/>
              </a:rPr>
              <a:t>Billing and operating commitments match the offer.</a:t>
            </a:r>
            <a:endParaRPr sz="1700"/>
          </a:p>
        </p:txBody>
      </p:sp>
      <p:sp>
        <p:nvSpPr>
          <p:cNvPr id="30" name="Shape 27">
            <a:extLst xmlns:a="http://schemas.openxmlformats.org/drawingml/2006/main">
              <a:ext uri="{FF2B5EF4-FFF2-40B4-BE49-F238E27FC236}">
                <a16:creationId xmlns:a16="http://schemas.microsoft.com/office/drawing/2014/main" id="{E93F7054-E158-4C97-9151-5EC030E44820}"/>
              </a:ext>
            </a:extLst>
          </p:cNvPr>
          <p:cNvSpPr>
            <a:spLocks xmlns:a="http://schemas.openxmlformats.org/drawingml/2006/main" noGrp="1"/>
          </p:cNvSpPr>
          <p:nvPr/>
        </p:nvSpPr>
        <p:spPr>
          <a:xfrm xmlns:a="http://schemas.openxmlformats.org/drawingml/2006/main">
            <a:off x="10235679" y="2020824"/>
            <a:ext cx="384048" cy="384048"/>
          </a:xfrm>
          <a:prstGeom xmlns:a="http://schemas.openxmlformats.org/drawingml/2006/main" prst="ellipse">
            <a:avLst/>
          </a:prstGeom>
          <a:solidFill xmlns:a="http://schemas.openxmlformats.org/drawingml/2006/main">
            <a:srgbClr val="175CD4"/>
          </a:solidFill>
          <a:ln xmlns:a="http://schemas.openxmlformats.org/drawingml/2006/main" w="19050">
            <a:solidFill>
              <a:srgbClr val="FFFFFF"/>
            </a:solidFill>
            <a:prstDash val="solid"/>
          </a:ln>
        </p:spPr>
      </p:sp>
      <p:sp>
        <p:nvSpPr>
          <p:cNvPr id="31" name="Text 28">
            <a:extLst xmlns:a="http://schemas.openxmlformats.org/drawingml/2006/main">
              <a:ext uri="{FF2B5EF4-FFF2-40B4-BE49-F238E27FC236}">
                <a16:creationId xmlns:a16="http://schemas.microsoft.com/office/drawing/2014/main" id="{9DCA9350-2E0E-4791-AFFC-8D96A8B02AF3}"/>
              </a:ext>
            </a:extLst>
          </p:cNvPr>
          <p:cNvSpPr>
            <a:spLocks xmlns:a="http://schemas.openxmlformats.org/drawingml/2006/main" noGrp="1"/>
          </p:cNvSpPr>
          <p:nvPr/>
        </p:nvSpPr>
        <p:spPr>
          <a:xfrm xmlns:a="http://schemas.openxmlformats.org/drawingml/2006/main">
            <a:off x="10235679" y="211759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04</a:t>
            </a:r>
            <a:endParaRPr sz="1200"/>
          </a:p>
        </p:txBody>
      </p:sp>
      <p:sp>
        <p:nvSpPr>
          <p:cNvPr id="32" name="Shape 29">
            <a:extLst xmlns:a="http://schemas.openxmlformats.org/drawingml/2006/main">
              <a:ext uri="{FF2B5EF4-FFF2-40B4-BE49-F238E27FC236}">
                <a16:creationId xmlns:a16="http://schemas.microsoft.com/office/drawing/2014/main" id="{3BC08923-7331-4C31-B68F-E5F1D97890D6}"/>
              </a:ext>
            </a:extLst>
          </p:cNvPr>
          <p:cNvSpPr>
            <a:spLocks xmlns:a="http://schemas.openxmlformats.org/drawingml/2006/main" noGrp="1"/>
          </p:cNvSpPr>
          <p:nvPr/>
        </p:nvSpPr>
        <p:spPr>
          <a:xfrm xmlns:a="http://schemas.openxmlformats.org/drawingml/2006/main">
            <a:off x="548640" y="4023360"/>
            <a:ext cx="2430704" cy="1920240"/>
          </a:xfrm>
          <a:prstGeom xmlns:a="http://schemas.openxmlformats.org/drawingml/2006/main" prst="roundRect">
            <a:avLst>
              <a:gd name="adj" fmla="val 3810"/>
            </a:avLst>
          </a:prstGeom>
          <a:solidFill xmlns:a="http://schemas.openxmlformats.org/drawingml/2006/main">
            <a:srgbClr val="F3F6FB"/>
          </a:solidFill>
          <a:ln xmlns:a="http://schemas.openxmlformats.org/drawingml/2006/main" w="9525">
            <a:solidFill>
              <a:srgbClr val="C9D6E8"/>
            </a:solidFill>
            <a:prstDash val="solid"/>
          </a:ln>
        </p:spPr>
      </p:sp>
      <p:sp>
        <p:nvSpPr>
          <p:cNvPr id="33" name="Shape 30">
            <a:extLst xmlns:a="http://schemas.openxmlformats.org/drawingml/2006/main">
              <a:ext uri="{FF2B5EF4-FFF2-40B4-BE49-F238E27FC236}">
                <a16:creationId xmlns:a16="http://schemas.microsoft.com/office/drawing/2014/main" id="{062600EA-56C7-462D-8063-16B6C01A5D75}"/>
              </a:ext>
            </a:extLst>
          </p:cNvPr>
          <p:cNvSpPr>
            <a:spLocks xmlns:a="http://schemas.openxmlformats.org/drawingml/2006/main" noGrp="1"/>
          </p:cNvSpPr>
          <p:nvPr/>
        </p:nvSpPr>
        <p:spPr>
          <a:xfrm xmlns:a="http://schemas.openxmlformats.org/drawingml/2006/main">
            <a:off x="557784" y="4133088"/>
            <a:ext cx="54864" cy="170078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4" name="Text 31">
            <a:extLst xmlns:a="http://schemas.openxmlformats.org/drawingml/2006/main">
              <a:ext uri="{FF2B5EF4-FFF2-40B4-BE49-F238E27FC236}">
                <a16:creationId xmlns:a16="http://schemas.microsoft.com/office/drawing/2014/main" id="{E5837231-0768-4BC3-BF5C-D424749E51BC}"/>
              </a:ext>
            </a:extLst>
          </p:cNvPr>
          <p:cNvSpPr>
            <a:spLocks xmlns:a="http://schemas.openxmlformats.org/drawingml/2006/main" noGrp="1"/>
          </p:cNvSpPr>
          <p:nvPr/>
        </p:nvSpPr>
        <p:spPr>
          <a:xfrm xmlns:a="http://schemas.openxmlformats.org/drawingml/2006/main">
            <a:off x="822960" y="4224528"/>
            <a:ext cx="1882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120">
                <a:solidFill>
                  <a:srgbClr val="52677F"/>
                </a:solidFill>
                <a:latin typeface="Helvetica Neue"/>
                <a:ea typeface="Helvetica Neue"/>
                <a:cs typeface="Helvetica Neue"/>
              </a:rPr>
              <a:t>ACCEPTANCE</a:t>
            </a:r>
            <a:endParaRPr sz="1000"/>
          </a:p>
        </p:txBody>
      </p:sp>
      <p:sp>
        <p:nvSpPr>
          <p:cNvPr id="35" name="Shape 32">
            <a:extLst xmlns:a="http://schemas.openxmlformats.org/drawingml/2006/main">
              <a:ext uri="{FF2B5EF4-FFF2-40B4-BE49-F238E27FC236}">
                <a16:creationId xmlns:a16="http://schemas.microsoft.com/office/drawing/2014/main" id="{E5201DA7-E689-407F-B256-39999883F6C3}"/>
              </a:ext>
            </a:extLst>
          </p:cNvPr>
          <p:cNvSpPr>
            <a:spLocks xmlns:a="http://schemas.openxmlformats.org/drawingml/2006/main" noGrp="1"/>
          </p:cNvSpPr>
          <p:nvPr/>
        </p:nvSpPr>
        <p:spPr>
          <a:xfrm xmlns:a="http://schemas.openxmlformats.org/drawingml/2006/main">
            <a:off x="822960" y="46413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6" name="Text 33">
            <a:extLst xmlns:a="http://schemas.openxmlformats.org/drawingml/2006/main">
              <a:ext uri="{FF2B5EF4-FFF2-40B4-BE49-F238E27FC236}">
                <a16:creationId xmlns:a16="http://schemas.microsoft.com/office/drawing/2014/main" id="{41094F1D-E58E-49DF-8D1E-C0E2C4AF1023}"/>
              </a:ext>
            </a:extLst>
          </p:cNvPr>
          <p:cNvSpPr>
            <a:spLocks xmlns:a="http://schemas.openxmlformats.org/drawingml/2006/main" noGrp="1"/>
          </p:cNvSpPr>
          <p:nvPr/>
        </p:nvSpPr>
        <p:spPr>
          <a:xfrm xmlns:a="http://schemas.openxmlformats.org/drawingml/2006/main">
            <a:off x="1042416" y="45537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Clean install</a:t>
            </a:r>
            <a:endParaRPr sz="1300"/>
          </a:p>
        </p:txBody>
      </p:sp>
      <p:sp>
        <p:nvSpPr>
          <p:cNvPr id="37" name="Shape 34">
            <a:extLst xmlns:a="http://schemas.openxmlformats.org/drawingml/2006/main">
              <a:ext uri="{FF2B5EF4-FFF2-40B4-BE49-F238E27FC236}">
                <a16:creationId xmlns:a16="http://schemas.microsoft.com/office/drawing/2014/main" id="{BDF0FB67-869A-4076-82CA-F9560833204D}"/>
              </a:ext>
            </a:extLst>
          </p:cNvPr>
          <p:cNvSpPr>
            <a:spLocks xmlns:a="http://schemas.openxmlformats.org/drawingml/2006/main" noGrp="1"/>
          </p:cNvSpPr>
          <p:nvPr/>
        </p:nvSpPr>
        <p:spPr>
          <a:xfrm xmlns:a="http://schemas.openxmlformats.org/drawingml/2006/main">
            <a:off x="822960" y="50985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38" name="Text 35">
            <a:extLst xmlns:a="http://schemas.openxmlformats.org/drawingml/2006/main">
              <a:ext uri="{FF2B5EF4-FFF2-40B4-BE49-F238E27FC236}">
                <a16:creationId xmlns:a16="http://schemas.microsoft.com/office/drawing/2014/main" id="{1B1DBA02-F7B5-43CF-B957-702C52107A0A}"/>
              </a:ext>
            </a:extLst>
          </p:cNvPr>
          <p:cNvSpPr>
            <a:spLocks xmlns:a="http://schemas.openxmlformats.org/drawingml/2006/main" noGrp="1"/>
          </p:cNvSpPr>
          <p:nvPr/>
        </p:nvSpPr>
        <p:spPr>
          <a:xfrm xmlns:a="http://schemas.openxmlformats.org/drawingml/2006/main">
            <a:off x="1042416" y="50109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Checks pass</a:t>
            </a:r>
            <a:endParaRPr sz="1300"/>
          </a:p>
        </p:txBody>
      </p:sp>
      <p:sp>
        <p:nvSpPr>
          <p:cNvPr id="39" name="Shape 36">
            <a:extLst xmlns:a="http://schemas.openxmlformats.org/drawingml/2006/main">
              <a:ext uri="{FF2B5EF4-FFF2-40B4-BE49-F238E27FC236}">
                <a16:creationId xmlns:a16="http://schemas.microsoft.com/office/drawing/2014/main" id="{D946D395-9A99-4B07-A7A0-22541010DD3A}"/>
              </a:ext>
            </a:extLst>
          </p:cNvPr>
          <p:cNvSpPr>
            <a:spLocks xmlns:a="http://schemas.openxmlformats.org/drawingml/2006/main" noGrp="1"/>
          </p:cNvSpPr>
          <p:nvPr/>
        </p:nvSpPr>
        <p:spPr>
          <a:xfrm xmlns:a="http://schemas.openxmlformats.org/drawingml/2006/main">
            <a:off x="822960" y="55557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0" name="Text 37">
            <a:extLst xmlns:a="http://schemas.openxmlformats.org/drawingml/2006/main">
              <a:ext uri="{FF2B5EF4-FFF2-40B4-BE49-F238E27FC236}">
                <a16:creationId xmlns:a16="http://schemas.microsoft.com/office/drawing/2014/main" id="{970B8308-4E2D-4890-8A53-DCBF45452676}"/>
              </a:ext>
            </a:extLst>
          </p:cNvPr>
          <p:cNvSpPr>
            <a:spLocks xmlns:a="http://schemas.openxmlformats.org/drawingml/2006/main" noGrp="1"/>
          </p:cNvSpPr>
          <p:nvPr/>
        </p:nvSpPr>
        <p:spPr>
          <a:xfrm xmlns:a="http://schemas.openxmlformats.org/drawingml/2006/main">
            <a:off x="1042416" y="54681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No private data</a:t>
            </a:r>
            <a:endParaRPr sz="1300"/>
          </a:p>
        </p:txBody>
      </p:sp>
      <p:sp>
        <p:nvSpPr>
          <p:cNvPr id="41" name="Shape 38">
            <a:extLst xmlns:a="http://schemas.openxmlformats.org/drawingml/2006/main">
              <a:ext uri="{FF2B5EF4-FFF2-40B4-BE49-F238E27FC236}">
                <a16:creationId xmlns:a16="http://schemas.microsoft.com/office/drawing/2014/main" id="{B3522A21-DB01-44A8-A9EE-ABC0C88184B0}"/>
              </a:ext>
            </a:extLst>
          </p:cNvPr>
          <p:cNvSpPr>
            <a:spLocks xmlns:a="http://schemas.openxmlformats.org/drawingml/2006/main" noGrp="1"/>
          </p:cNvSpPr>
          <p:nvPr/>
        </p:nvSpPr>
        <p:spPr>
          <a:xfrm xmlns:a="http://schemas.openxmlformats.org/drawingml/2006/main">
            <a:off x="3436544" y="4023360"/>
            <a:ext cx="2430704" cy="1920240"/>
          </a:xfrm>
          <a:prstGeom xmlns:a="http://schemas.openxmlformats.org/drawingml/2006/main" prst="roundRect">
            <a:avLst>
              <a:gd name="adj" fmla="val 3810"/>
            </a:avLst>
          </a:prstGeom>
          <a:solidFill xmlns:a="http://schemas.openxmlformats.org/drawingml/2006/main">
            <a:srgbClr val="F3F6FB"/>
          </a:solidFill>
          <a:ln xmlns:a="http://schemas.openxmlformats.org/drawingml/2006/main" w="9525">
            <a:solidFill>
              <a:srgbClr val="C9D6E8"/>
            </a:solidFill>
            <a:prstDash val="solid"/>
          </a:ln>
        </p:spPr>
      </p:sp>
      <p:sp>
        <p:nvSpPr>
          <p:cNvPr id="42" name="Shape 39">
            <a:extLst xmlns:a="http://schemas.openxmlformats.org/drawingml/2006/main">
              <a:ext uri="{FF2B5EF4-FFF2-40B4-BE49-F238E27FC236}">
                <a16:creationId xmlns:a16="http://schemas.microsoft.com/office/drawing/2014/main" id="{4CADCA96-D184-439C-8EB1-EC76BFB34737}"/>
              </a:ext>
            </a:extLst>
          </p:cNvPr>
          <p:cNvSpPr>
            <a:spLocks xmlns:a="http://schemas.openxmlformats.org/drawingml/2006/main" noGrp="1"/>
          </p:cNvSpPr>
          <p:nvPr/>
        </p:nvSpPr>
        <p:spPr>
          <a:xfrm xmlns:a="http://schemas.openxmlformats.org/drawingml/2006/main">
            <a:off x="3445688" y="4133088"/>
            <a:ext cx="54864" cy="170078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3" name="Text 40">
            <a:extLst xmlns:a="http://schemas.openxmlformats.org/drawingml/2006/main">
              <a:ext uri="{FF2B5EF4-FFF2-40B4-BE49-F238E27FC236}">
                <a16:creationId xmlns:a16="http://schemas.microsoft.com/office/drawing/2014/main" id="{CECD1278-9673-45A7-884D-7C78FE68AEB3}"/>
              </a:ext>
            </a:extLst>
          </p:cNvPr>
          <p:cNvSpPr>
            <a:spLocks xmlns:a="http://schemas.openxmlformats.org/drawingml/2006/main" noGrp="1"/>
          </p:cNvSpPr>
          <p:nvPr/>
        </p:nvSpPr>
        <p:spPr>
          <a:xfrm xmlns:a="http://schemas.openxmlformats.org/drawingml/2006/main">
            <a:off x="3710864" y="4224528"/>
            <a:ext cx="1882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120">
                <a:solidFill>
                  <a:srgbClr val="52677F"/>
                </a:solidFill>
                <a:latin typeface="Helvetica Neue"/>
                <a:ea typeface="Helvetica Neue"/>
                <a:cs typeface="Helvetica Neue"/>
              </a:rPr>
              <a:t>ACCEPTANCE</a:t>
            </a:r>
            <a:endParaRPr sz="1000"/>
          </a:p>
        </p:txBody>
      </p:sp>
      <p:sp>
        <p:nvSpPr>
          <p:cNvPr id="44" name="Shape 41">
            <a:extLst xmlns:a="http://schemas.openxmlformats.org/drawingml/2006/main">
              <a:ext uri="{FF2B5EF4-FFF2-40B4-BE49-F238E27FC236}">
                <a16:creationId xmlns:a16="http://schemas.microsoft.com/office/drawing/2014/main" id="{7327C9D9-8CC7-45F0-8E67-3F3FED309242}"/>
              </a:ext>
            </a:extLst>
          </p:cNvPr>
          <p:cNvSpPr>
            <a:spLocks xmlns:a="http://schemas.openxmlformats.org/drawingml/2006/main" noGrp="1"/>
          </p:cNvSpPr>
          <p:nvPr/>
        </p:nvSpPr>
        <p:spPr>
          <a:xfrm xmlns:a="http://schemas.openxmlformats.org/drawingml/2006/main">
            <a:off x="3710864" y="46413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5" name="Text 42">
            <a:extLst xmlns:a="http://schemas.openxmlformats.org/drawingml/2006/main">
              <a:ext uri="{FF2B5EF4-FFF2-40B4-BE49-F238E27FC236}">
                <a16:creationId xmlns:a16="http://schemas.microsoft.com/office/drawing/2014/main" id="{893FC18D-AEEB-4292-B5B3-114279884087}"/>
              </a:ext>
            </a:extLst>
          </p:cNvPr>
          <p:cNvSpPr>
            <a:spLocks xmlns:a="http://schemas.openxmlformats.org/drawingml/2006/main" noGrp="1"/>
          </p:cNvSpPr>
          <p:nvPr/>
        </p:nvSpPr>
        <p:spPr>
          <a:xfrm xmlns:a="http://schemas.openxmlformats.org/drawingml/2006/main">
            <a:off x="3930320" y="45537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Real API test</a:t>
            </a:r>
            <a:endParaRPr sz="1300"/>
          </a:p>
        </p:txBody>
      </p:sp>
      <p:sp>
        <p:nvSpPr>
          <p:cNvPr id="46" name="Shape 43">
            <a:extLst xmlns:a="http://schemas.openxmlformats.org/drawingml/2006/main">
              <a:ext uri="{FF2B5EF4-FFF2-40B4-BE49-F238E27FC236}">
                <a16:creationId xmlns:a16="http://schemas.microsoft.com/office/drawing/2014/main" id="{F4B47694-2A0E-4E92-BEEA-FC63E06786A8}"/>
              </a:ext>
            </a:extLst>
          </p:cNvPr>
          <p:cNvSpPr>
            <a:spLocks xmlns:a="http://schemas.openxmlformats.org/drawingml/2006/main" noGrp="1"/>
          </p:cNvSpPr>
          <p:nvPr/>
        </p:nvSpPr>
        <p:spPr>
          <a:xfrm xmlns:a="http://schemas.openxmlformats.org/drawingml/2006/main">
            <a:off x="3710864" y="50985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7" name="Text 44">
            <a:extLst xmlns:a="http://schemas.openxmlformats.org/drawingml/2006/main">
              <a:ext uri="{FF2B5EF4-FFF2-40B4-BE49-F238E27FC236}">
                <a16:creationId xmlns:a16="http://schemas.microsoft.com/office/drawing/2014/main" id="{FBDC6498-A864-4A02-85D5-35DB82E7A02F}"/>
              </a:ext>
            </a:extLst>
          </p:cNvPr>
          <p:cNvSpPr>
            <a:spLocks xmlns:a="http://schemas.openxmlformats.org/drawingml/2006/main" noGrp="1"/>
          </p:cNvSpPr>
          <p:nvPr/>
        </p:nvSpPr>
        <p:spPr>
          <a:xfrm xmlns:a="http://schemas.openxmlformats.org/drawingml/2006/main">
            <a:off x="3930320" y="50109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Source rights checked</a:t>
            </a:r>
            <a:endParaRPr sz="1300"/>
          </a:p>
        </p:txBody>
      </p:sp>
      <p:sp>
        <p:nvSpPr>
          <p:cNvPr id="48" name="Shape 45">
            <a:extLst xmlns:a="http://schemas.openxmlformats.org/drawingml/2006/main">
              <a:ext uri="{FF2B5EF4-FFF2-40B4-BE49-F238E27FC236}">
                <a16:creationId xmlns:a16="http://schemas.microsoft.com/office/drawing/2014/main" id="{4E58AFD7-94CC-4AEC-9F5B-CB5BDBB6431D}"/>
              </a:ext>
            </a:extLst>
          </p:cNvPr>
          <p:cNvSpPr>
            <a:spLocks xmlns:a="http://schemas.openxmlformats.org/drawingml/2006/main" noGrp="1"/>
          </p:cNvSpPr>
          <p:nvPr/>
        </p:nvSpPr>
        <p:spPr>
          <a:xfrm xmlns:a="http://schemas.openxmlformats.org/drawingml/2006/main">
            <a:off x="3710864" y="55557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49" name="Text 46">
            <a:extLst xmlns:a="http://schemas.openxmlformats.org/drawingml/2006/main">
              <a:ext uri="{FF2B5EF4-FFF2-40B4-BE49-F238E27FC236}">
                <a16:creationId xmlns:a16="http://schemas.microsoft.com/office/drawing/2014/main" id="{A9D783B7-9BD7-4F89-9DD4-946337AF5FE1}"/>
              </a:ext>
            </a:extLst>
          </p:cNvPr>
          <p:cNvSpPr>
            <a:spLocks xmlns:a="http://schemas.openxmlformats.org/drawingml/2006/main" noGrp="1"/>
          </p:cNvSpPr>
          <p:nvPr/>
        </p:nvSpPr>
        <p:spPr>
          <a:xfrm xmlns:a="http://schemas.openxmlformats.org/drawingml/2006/main">
            <a:off x="3930320" y="54681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Isolation and restore</a:t>
            </a:r>
            <a:endParaRPr sz="1300"/>
          </a:p>
        </p:txBody>
      </p:sp>
      <p:sp>
        <p:nvSpPr>
          <p:cNvPr id="50" name="Shape 47">
            <a:extLst xmlns:a="http://schemas.openxmlformats.org/drawingml/2006/main">
              <a:ext uri="{FF2B5EF4-FFF2-40B4-BE49-F238E27FC236}">
                <a16:creationId xmlns:a16="http://schemas.microsoft.com/office/drawing/2014/main" id="{DFA84E94-04B2-43E2-9077-4EB5A93A42C1}"/>
              </a:ext>
            </a:extLst>
          </p:cNvPr>
          <p:cNvSpPr>
            <a:spLocks xmlns:a="http://schemas.openxmlformats.org/drawingml/2006/main" noGrp="1"/>
          </p:cNvSpPr>
          <p:nvPr/>
        </p:nvSpPr>
        <p:spPr>
          <a:xfrm xmlns:a="http://schemas.openxmlformats.org/drawingml/2006/main">
            <a:off x="6324448" y="4023360"/>
            <a:ext cx="2430704" cy="1920240"/>
          </a:xfrm>
          <a:prstGeom xmlns:a="http://schemas.openxmlformats.org/drawingml/2006/main" prst="roundRect">
            <a:avLst>
              <a:gd name="adj" fmla="val 3810"/>
            </a:avLst>
          </a:prstGeom>
          <a:solidFill xmlns:a="http://schemas.openxmlformats.org/drawingml/2006/main">
            <a:srgbClr val="F3F6FB"/>
          </a:solidFill>
          <a:ln xmlns:a="http://schemas.openxmlformats.org/drawingml/2006/main" w="9525">
            <a:solidFill>
              <a:srgbClr val="C9D6E8"/>
            </a:solidFill>
            <a:prstDash val="solid"/>
          </a:ln>
        </p:spPr>
      </p:sp>
      <p:sp>
        <p:nvSpPr>
          <p:cNvPr id="51" name="Shape 48">
            <a:extLst xmlns:a="http://schemas.openxmlformats.org/drawingml/2006/main">
              <a:ext uri="{FF2B5EF4-FFF2-40B4-BE49-F238E27FC236}">
                <a16:creationId xmlns:a16="http://schemas.microsoft.com/office/drawing/2014/main" id="{02A36714-8D1B-43BF-864E-DB804764DFA5}"/>
              </a:ext>
            </a:extLst>
          </p:cNvPr>
          <p:cNvSpPr>
            <a:spLocks xmlns:a="http://schemas.openxmlformats.org/drawingml/2006/main" noGrp="1"/>
          </p:cNvSpPr>
          <p:nvPr/>
        </p:nvSpPr>
        <p:spPr>
          <a:xfrm xmlns:a="http://schemas.openxmlformats.org/drawingml/2006/main">
            <a:off x="6333592" y="4133088"/>
            <a:ext cx="54864" cy="170078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2" name="Text 49">
            <a:extLst xmlns:a="http://schemas.openxmlformats.org/drawingml/2006/main">
              <a:ext uri="{FF2B5EF4-FFF2-40B4-BE49-F238E27FC236}">
                <a16:creationId xmlns:a16="http://schemas.microsoft.com/office/drawing/2014/main" id="{84BA08B6-219B-4F70-8CBA-6F819CAA7344}"/>
              </a:ext>
            </a:extLst>
          </p:cNvPr>
          <p:cNvSpPr>
            <a:spLocks xmlns:a="http://schemas.openxmlformats.org/drawingml/2006/main" noGrp="1"/>
          </p:cNvSpPr>
          <p:nvPr/>
        </p:nvSpPr>
        <p:spPr>
          <a:xfrm xmlns:a="http://schemas.openxmlformats.org/drawingml/2006/main">
            <a:off x="6598768" y="4224528"/>
            <a:ext cx="1882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120">
                <a:solidFill>
                  <a:srgbClr val="52677F"/>
                </a:solidFill>
                <a:latin typeface="Helvetica Neue"/>
                <a:ea typeface="Helvetica Neue"/>
                <a:cs typeface="Helvetica Neue"/>
              </a:rPr>
              <a:t>ACCEPTANCE</a:t>
            </a:r>
            <a:endParaRPr sz="1000"/>
          </a:p>
        </p:txBody>
      </p:sp>
      <p:sp>
        <p:nvSpPr>
          <p:cNvPr id="53" name="Shape 50">
            <a:extLst xmlns:a="http://schemas.openxmlformats.org/drawingml/2006/main">
              <a:ext uri="{FF2B5EF4-FFF2-40B4-BE49-F238E27FC236}">
                <a16:creationId xmlns:a16="http://schemas.microsoft.com/office/drawing/2014/main" id="{84946234-6F5A-4D89-93A4-BFD1207644C4}"/>
              </a:ext>
            </a:extLst>
          </p:cNvPr>
          <p:cNvSpPr>
            <a:spLocks xmlns:a="http://schemas.openxmlformats.org/drawingml/2006/main" noGrp="1"/>
          </p:cNvSpPr>
          <p:nvPr/>
        </p:nvSpPr>
        <p:spPr>
          <a:xfrm xmlns:a="http://schemas.openxmlformats.org/drawingml/2006/main">
            <a:off x="6598768" y="46413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4" name="Text 51">
            <a:extLst xmlns:a="http://schemas.openxmlformats.org/drawingml/2006/main">
              <a:ext uri="{FF2B5EF4-FFF2-40B4-BE49-F238E27FC236}">
                <a16:creationId xmlns:a16="http://schemas.microsoft.com/office/drawing/2014/main" id="{AD80614A-72BC-4D38-80B3-674374ED6959}"/>
              </a:ext>
            </a:extLst>
          </p:cNvPr>
          <p:cNvSpPr>
            <a:spLocks xmlns:a="http://schemas.openxmlformats.org/drawingml/2006/main" noGrp="1"/>
          </p:cNvSpPr>
          <p:nvPr/>
        </p:nvSpPr>
        <p:spPr>
          <a:xfrm xmlns:a="http://schemas.openxmlformats.org/drawingml/2006/main">
            <a:off x="6818224" y="45537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Costs recorded</a:t>
            </a:r>
            <a:endParaRPr sz="1300"/>
          </a:p>
        </p:txBody>
      </p:sp>
      <p:sp>
        <p:nvSpPr>
          <p:cNvPr id="55" name="Shape 52">
            <a:extLst xmlns:a="http://schemas.openxmlformats.org/drawingml/2006/main">
              <a:ext uri="{FF2B5EF4-FFF2-40B4-BE49-F238E27FC236}">
                <a16:creationId xmlns:a16="http://schemas.microsoft.com/office/drawing/2014/main" id="{5F2AAE7B-B986-4232-8798-EF793EF97D66}"/>
              </a:ext>
            </a:extLst>
          </p:cNvPr>
          <p:cNvSpPr>
            <a:spLocks xmlns:a="http://schemas.openxmlformats.org/drawingml/2006/main" noGrp="1"/>
          </p:cNvSpPr>
          <p:nvPr/>
        </p:nvSpPr>
        <p:spPr>
          <a:xfrm xmlns:a="http://schemas.openxmlformats.org/drawingml/2006/main">
            <a:off x="6598768" y="50985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6" name="Text 53">
            <a:extLst xmlns:a="http://schemas.openxmlformats.org/drawingml/2006/main">
              <a:ext uri="{FF2B5EF4-FFF2-40B4-BE49-F238E27FC236}">
                <a16:creationId xmlns:a16="http://schemas.microsoft.com/office/drawing/2014/main" id="{8DC50B97-D8EF-4528-9DA1-DD7A2DD87D13}"/>
              </a:ext>
            </a:extLst>
          </p:cNvPr>
          <p:cNvSpPr>
            <a:spLocks xmlns:a="http://schemas.openxmlformats.org/drawingml/2006/main" noGrp="1"/>
          </p:cNvSpPr>
          <p:nvPr/>
        </p:nvSpPr>
        <p:spPr>
          <a:xfrm xmlns:a="http://schemas.openxmlformats.org/drawingml/2006/main">
            <a:off x="6818224" y="50109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Friction logged</a:t>
            </a:r>
            <a:endParaRPr sz="1300"/>
          </a:p>
        </p:txBody>
      </p:sp>
      <p:sp>
        <p:nvSpPr>
          <p:cNvPr id="57" name="Shape 54">
            <a:extLst xmlns:a="http://schemas.openxmlformats.org/drawingml/2006/main">
              <a:ext uri="{FF2B5EF4-FFF2-40B4-BE49-F238E27FC236}">
                <a16:creationId xmlns:a16="http://schemas.microsoft.com/office/drawing/2014/main" id="{61FD38CC-73AA-43B4-8ADC-C0DF152EE597}"/>
              </a:ext>
            </a:extLst>
          </p:cNvPr>
          <p:cNvSpPr>
            <a:spLocks xmlns:a="http://schemas.openxmlformats.org/drawingml/2006/main" noGrp="1"/>
          </p:cNvSpPr>
          <p:nvPr/>
        </p:nvSpPr>
        <p:spPr>
          <a:xfrm xmlns:a="http://schemas.openxmlformats.org/drawingml/2006/main">
            <a:off x="6598768" y="55557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58" name="Text 55">
            <a:extLst xmlns:a="http://schemas.openxmlformats.org/drawingml/2006/main">
              <a:ext uri="{FF2B5EF4-FFF2-40B4-BE49-F238E27FC236}">
                <a16:creationId xmlns:a16="http://schemas.microsoft.com/office/drawing/2014/main" id="{76E89939-5C26-42FD-B459-7A818F766AE7}"/>
              </a:ext>
            </a:extLst>
          </p:cNvPr>
          <p:cNvSpPr>
            <a:spLocks xmlns:a="http://schemas.openxmlformats.org/drawingml/2006/main" noGrp="1"/>
          </p:cNvSpPr>
          <p:nvPr/>
        </p:nvSpPr>
        <p:spPr>
          <a:xfrm xmlns:a="http://schemas.openxmlformats.org/drawingml/2006/main">
            <a:off x="6818224" y="54681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Support ready</a:t>
            </a:r>
            <a:endParaRPr sz="1300"/>
          </a:p>
        </p:txBody>
      </p:sp>
      <p:sp>
        <p:nvSpPr>
          <p:cNvPr id="59" name="Shape 56">
            <a:extLst xmlns:a="http://schemas.openxmlformats.org/drawingml/2006/main">
              <a:ext uri="{FF2B5EF4-FFF2-40B4-BE49-F238E27FC236}">
                <a16:creationId xmlns:a16="http://schemas.microsoft.com/office/drawing/2014/main" id="{23751460-16A5-426D-AAC4-A4C99A3CA8E9}"/>
              </a:ext>
            </a:extLst>
          </p:cNvPr>
          <p:cNvSpPr>
            <a:spLocks xmlns:a="http://schemas.openxmlformats.org/drawingml/2006/main" noGrp="1"/>
          </p:cNvSpPr>
          <p:nvPr/>
        </p:nvSpPr>
        <p:spPr>
          <a:xfrm xmlns:a="http://schemas.openxmlformats.org/drawingml/2006/main">
            <a:off x="9212351" y="4023360"/>
            <a:ext cx="2430704" cy="1920240"/>
          </a:xfrm>
          <a:prstGeom xmlns:a="http://schemas.openxmlformats.org/drawingml/2006/main" prst="roundRect">
            <a:avLst>
              <a:gd name="adj" fmla="val 3810"/>
            </a:avLst>
          </a:prstGeom>
          <a:solidFill xmlns:a="http://schemas.openxmlformats.org/drawingml/2006/main">
            <a:srgbClr val="F3F6FB"/>
          </a:solidFill>
          <a:ln xmlns:a="http://schemas.openxmlformats.org/drawingml/2006/main" w="9525">
            <a:solidFill>
              <a:srgbClr val="C9D6E8"/>
            </a:solidFill>
            <a:prstDash val="solid"/>
          </a:ln>
        </p:spPr>
      </p:sp>
      <p:sp>
        <p:nvSpPr>
          <p:cNvPr id="60" name="Shape 57">
            <a:extLst xmlns:a="http://schemas.openxmlformats.org/drawingml/2006/main">
              <a:ext uri="{FF2B5EF4-FFF2-40B4-BE49-F238E27FC236}">
                <a16:creationId xmlns:a16="http://schemas.microsoft.com/office/drawing/2014/main" id="{12940FA0-EBE7-4CE7-935A-4A71407C3B2D}"/>
              </a:ext>
            </a:extLst>
          </p:cNvPr>
          <p:cNvSpPr>
            <a:spLocks xmlns:a="http://schemas.openxmlformats.org/drawingml/2006/main" noGrp="1"/>
          </p:cNvSpPr>
          <p:nvPr/>
        </p:nvSpPr>
        <p:spPr>
          <a:xfrm xmlns:a="http://schemas.openxmlformats.org/drawingml/2006/main">
            <a:off x="9221495" y="4133088"/>
            <a:ext cx="54864" cy="170078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61" name="Text 58">
            <a:extLst xmlns:a="http://schemas.openxmlformats.org/drawingml/2006/main">
              <a:ext uri="{FF2B5EF4-FFF2-40B4-BE49-F238E27FC236}">
                <a16:creationId xmlns:a16="http://schemas.microsoft.com/office/drawing/2014/main" id="{917BB01D-039D-4C53-99B1-AB8DB310F758}"/>
              </a:ext>
            </a:extLst>
          </p:cNvPr>
          <p:cNvSpPr>
            <a:spLocks xmlns:a="http://schemas.openxmlformats.org/drawingml/2006/main" noGrp="1"/>
          </p:cNvSpPr>
          <p:nvPr/>
        </p:nvSpPr>
        <p:spPr>
          <a:xfrm xmlns:a="http://schemas.openxmlformats.org/drawingml/2006/main">
            <a:off x="9486671" y="4224528"/>
            <a:ext cx="18820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b="1" spc="120">
                <a:solidFill>
                  <a:srgbClr val="52677F"/>
                </a:solidFill>
                <a:latin typeface="Helvetica Neue"/>
                <a:ea typeface="Helvetica Neue"/>
                <a:cs typeface="Helvetica Neue"/>
              </a:rPr>
              <a:t>ACCEPTANCE</a:t>
            </a:r>
            <a:endParaRPr sz="1000"/>
          </a:p>
        </p:txBody>
      </p:sp>
      <p:sp>
        <p:nvSpPr>
          <p:cNvPr id="62" name="Shape 59">
            <a:extLst xmlns:a="http://schemas.openxmlformats.org/drawingml/2006/main">
              <a:ext uri="{FF2B5EF4-FFF2-40B4-BE49-F238E27FC236}">
                <a16:creationId xmlns:a16="http://schemas.microsoft.com/office/drawing/2014/main" id="{A8E2E23D-AC72-4748-A7D3-2CDE5980E161}"/>
              </a:ext>
            </a:extLst>
          </p:cNvPr>
          <p:cNvSpPr>
            <a:spLocks xmlns:a="http://schemas.openxmlformats.org/drawingml/2006/main" noGrp="1"/>
          </p:cNvSpPr>
          <p:nvPr/>
        </p:nvSpPr>
        <p:spPr>
          <a:xfrm xmlns:a="http://schemas.openxmlformats.org/drawingml/2006/main">
            <a:off x="9486671" y="46413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63" name="Text 60">
            <a:extLst xmlns:a="http://schemas.openxmlformats.org/drawingml/2006/main">
              <a:ext uri="{FF2B5EF4-FFF2-40B4-BE49-F238E27FC236}">
                <a16:creationId xmlns:a16="http://schemas.microsoft.com/office/drawing/2014/main" id="{C46EF7B5-7633-4B85-9483-61B76FBC2EEA}"/>
              </a:ext>
            </a:extLst>
          </p:cNvPr>
          <p:cNvSpPr>
            <a:spLocks xmlns:a="http://schemas.openxmlformats.org/drawingml/2006/main" noGrp="1"/>
          </p:cNvSpPr>
          <p:nvPr/>
        </p:nvSpPr>
        <p:spPr>
          <a:xfrm xmlns:a="http://schemas.openxmlformats.org/drawingml/2006/main">
            <a:off x="9706127" y="45537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Entitlements</a:t>
            </a:r>
            <a:endParaRPr sz="1300"/>
          </a:p>
        </p:txBody>
      </p:sp>
      <p:sp>
        <p:nvSpPr>
          <p:cNvPr id="64" name="Shape 61">
            <a:extLst xmlns:a="http://schemas.openxmlformats.org/drawingml/2006/main">
              <a:ext uri="{FF2B5EF4-FFF2-40B4-BE49-F238E27FC236}">
                <a16:creationId xmlns:a16="http://schemas.microsoft.com/office/drawing/2014/main" id="{9EF91643-BC7D-4445-A0C1-3C43403B6104}"/>
              </a:ext>
            </a:extLst>
          </p:cNvPr>
          <p:cNvSpPr>
            <a:spLocks xmlns:a="http://schemas.openxmlformats.org/drawingml/2006/main" noGrp="1"/>
          </p:cNvSpPr>
          <p:nvPr/>
        </p:nvSpPr>
        <p:spPr>
          <a:xfrm xmlns:a="http://schemas.openxmlformats.org/drawingml/2006/main">
            <a:off x="9486671" y="50985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65" name="Text 62">
            <a:extLst xmlns:a="http://schemas.openxmlformats.org/drawingml/2006/main">
              <a:ext uri="{FF2B5EF4-FFF2-40B4-BE49-F238E27FC236}">
                <a16:creationId xmlns:a16="http://schemas.microsoft.com/office/drawing/2014/main" id="{DB446968-037B-4C63-A953-49B4AEAA3143}"/>
              </a:ext>
            </a:extLst>
          </p:cNvPr>
          <p:cNvSpPr>
            <a:spLocks xmlns:a="http://schemas.openxmlformats.org/drawingml/2006/main" noGrp="1"/>
          </p:cNvSpPr>
          <p:nvPr/>
        </p:nvSpPr>
        <p:spPr>
          <a:xfrm xmlns:a="http://schemas.openxmlformats.org/drawingml/2006/main">
            <a:off x="9706127" y="50109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Cancellation</a:t>
            </a:r>
            <a:endParaRPr sz="1300"/>
          </a:p>
        </p:txBody>
      </p:sp>
      <p:sp>
        <p:nvSpPr>
          <p:cNvPr id="66" name="Shape 63">
            <a:extLst xmlns:a="http://schemas.openxmlformats.org/drawingml/2006/main">
              <a:ext uri="{FF2B5EF4-FFF2-40B4-BE49-F238E27FC236}">
                <a16:creationId xmlns:a16="http://schemas.microsoft.com/office/drawing/2014/main" id="{6A0818AF-441A-4F8F-B328-07811970F9B0}"/>
              </a:ext>
            </a:extLst>
          </p:cNvPr>
          <p:cNvSpPr>
            <a:spLocks xmlns:a="http://schemas.openxmlformats.org/drawingml/2006/main" noGrp="1"/>
          </p:cNvSpPr>
          <p:nvPr/>
        </p:nvSpPr>
        <p:spPr>
          <a:xfrm xmlns:a="http://schemas.openxmlformats.org/drawingml/2006/main">
            <a:off x="9486671" y="5555742"/>
            <a:ext cx="77724" cy="77724"/>
          </a:xfrm>
          <a:prstGeom xmlns:a="http://schemas.openxmlformats.org/drawingml/2006/main" prst="rect">
            <a:avLst/>
          </a:prstGeom>
          <a:solidFill xmlns:a="http://schemas.openxmlformats.org/drawingml/2006/main">
            <a:srgbClr val="175CD4"/>
          </a:solidFill>
          <a:ln xmlns:a="http://schemas.openxmlformats.org/drawingml/2006/main" w="12700">
            <a:solidFill>
              <a:srgbClr val="175CD4"/>
            </a:solidFill>
            <a:prstDash val="solid"/>
          </a:ln>
        </p:spPr>
      </p:sp>
      <p:sp>
        <p:nvSpPr>
          <p:cNvPr id="67" name="Text 64">
            <a:extLst xmlns:a="http://schemas.openxmlformats.org/drawingml/2006/main">
              <a:ext uri="{FF2B5EF4-FFF2-40B4-BE49-F238E27FC236}">
                <a16:creationId xmlns:a16="http://schemas.microsoft.com/office/drawing/2014/main" id="{0E207737-FC2C-4E8D-B215-4011F0B8BAEA}"/>
              </a:ext>
            </a:extLst>
          </p:cNvPr>
          <p:cNvSpPr>
            <a:spLocks xmlns:a="http://schemas.openxmlformats.org/drawingml/2006/main" noGrp="1"/>
          </p:cNvSpPr>
          <p:nvPr/>
        </p:nvSpPr>
        <p:spPr>
          <a:xfrm xmlns:a="http://schemas.openxmlformats.org/drawingml/2006/main">
            <a:off x="9706127" y="5468112"/>
            <a:ext cx="166260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6"/>
              </a:lnSpc>
              <a:buNone/>
            </a:pPr>
            <a:r>
              <a:rPr sz="1300">
                <a:solidFill>
                  <a:srgbClr val="171717"/>
                </a:solidFill>
                <a:latin typeface="Helvetica Neue"/>
                <a:ea typeface="Helvetica Neue"/>
                <a:cs typeface="Helvetica Neue"/>
              </a:rPr>
              <a:t>Refunds and support</a:t>
            </a:r>
            <a:endParaRPr sz="1300"/>
          </a:p>
        </p:txBody>
      </p:sp>
    </p:spTree>
    <p:extLst>
      <p:ext uri="{BB962C8B-B14F-4D97-AF65-F5344CB8AC3E}">
        <p14:creationId xmlns:p14="http://schemas.microsoft.com/office/powerpoint/2010/main" val="1468295191"/>
      </p:ext>
    </p:extLst>
  </p:cSld>
</p:sld>
</file>

<file path=ppt/slides/slide23.xml><?xml version="1.0" encoding="utf-8"?>
<p:sld xmlns:p="http://schemas.openxmlformats.org/presentationml/2006/main">
  <p:cSld>
    <p:bg>
      <p:bgPr>
        <a:solidFill xmlns:a="http://schemas.openxmlformats.org/drawingml/2006/main">
          <a:srgbClr val="0F2841"/>
        </a:solidFill>
      </p:bgPr>
    </p:bg>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8c3ee10f12ff4ddb"/>
          <a:srcRect xmlns:a="http://schemas.openxmlformats.org/drawingml/2006/main" l="0" t="0" r="0" b="0"/>
          <a:stretch xmlns:a="http://schemas.openxmlformats.org/drawingml/2006/main"/>
        </p:blipFill>
        <p:spPr>
          <a:xfrm xmlns:a="http://schemas.openxmlformats.org/drawingml/2006/main">
            <a:off x="8899855" y="0"/>
            <a:ext cx="3291840" cy="6858000"/>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C0D00877-9877-44DF-93BC-186E288D9FBD}"/>
              </a:ext>
            </a:extLst>
          </p:cNvPr>
          <p:cNvSpPr>
            <a:spLocks xmlns:a="http://schemas.openxmlformats.org/drawingml/2006/main" noGrp="1"/>
          </p:cNvSpPr>
          <p:nvPr/>
        </p:nvSpPr>
        <p:spPr>
          <a:xfrm xmlns:a="http://schemas.openxmlformats.org/drawingml/2006/main">
            <a:off x="822960" y="1005840"/>
            <a:ext cx="361188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600" b="1">
                <a:solidFill>
                  <a:srgbClr val="54667C"/>
                </a:solidFill>
                <a:latin typeface="Helvetica Neue"/>
                <a:ea typeface="Helvetica Neue"/>
                <a:cs typeface="Helvetica Neue"/>
              </a:rPr>
              <a:t>03</a:t>
            </a:r>
            <a:endParaRPr sz="9600"/>
          </a:p>
        </p:txBody>
      </p:sp>
      <p:sp>
        <p:nvSpPr>
          <p:cNvPr id="5" name="Text 1">
            <a:extLst xmlns:a="http://schemas.openxmlformats.org/drawingml/2006/main">
              <a:ext uri="{FF2B5EF4-FFF2-40B4-BE49-F238E27FC236}">
                <a16:creationId xmlns:a16="http://schemas.microsoft.com/office/drawing/2014/main" id="{D1B8FD31-8F89-4B88-A392-60332CD0C610}"/>
              </a:ext>
            </a:extLst>
          </p:cNvPr>
          <p:cNvSpPr>
            <a:spLocks xmlns:a="http://schemas.openxmlformats.org/drawingml/2006/main" noGrp="1"/>
          </p:cNvSpPr>
          <p:nvPr/>
        </p:nvSpPr>
        <p:spPr>
          <a:xfrm xmlns:a="http://schemas.openxmlformats.org/drawingml/2006/main">
            <a:off x="822960" y="2560320"/>
            <a:ext cx="36118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4200"/>
              </a:lnSpc>
              <a:buNone/>
            </a:pPr>
            <a:r>
              <a:rPr sz="3600" b="1">
                <a:solidFill>
                  <a:srgbClr val="FFFFFF"/>
                </a:solidFill>
                <a:latin typeface="Helvetica Neue"/>
                <a:ea typeface="Helvetica Neue"/>
                <a:cs typeface="Helvetica Neue"/>
              </a:rPr>
              <a:t>How to pilot</a:t>
            </a:r>
            <a:endParaRPr sz="3600"/>
          </a:p>
          <a:p xmlns:a="http://schemas.openxmlformats.org/drawingml/2006/main">
            <a:pPr marL="0" indent="0">
              <a:lnSpc>
                <a:spcPts val="4200"/>
              </a:lnSpc>
              <a:buNone/>
            </a:pPr>
            <a:r>
              <a:rPr sz="3600" b="1">
                <a:solidFill>
                  <a:srgbClr val="FFFFFF"/>
                </a:solidFill>
                <a:latin typeface="Helvetica Neue"/>
                <a:ea typeface="Helvetica Neue"/>
                <a:cs typeface="Helvetica Neue"/>
              </a:rPr>
              <a:t>and sell it</a:t>
            </a:r>
            <a:endParaRPr sz="3600"/>
          </a:p>
        </p:txBody>
      </p:sp>
      <p:sp>
        <p:nvSpPr>
          <p:cNvPr id="6" name="Text 2">
            <a:extLst xmlns:a="http://schemas.openxmlformats.org/drawingml/2006/main">
              <a:ext uri="{FF2B5EF4-FFF2-40B4-BE49-F238E27FC236}">
                <a16:creationId xmlns:a16="http://schemas.microsoft.com/office/drawing/2014/main" id="{E4D57862-91AF-4934-8783-097B80A953A1}"/>
              </a:ext>
            </a:extLst>
          </p:cNvPr>
          <p:cNvSpPr>
            <a:spLocks xmlns:a="http://schemas.openxmlformats.org/drawingml/2006/main" noGrp="1"/>
          </p:cNvSpPr>
          <p:nvPr/>
        </p:nvSpPr>
        <p:spPr>
          <a:xfrm xmlns:a="http://schemas.openxmlformats.org/drawingml/2006/main">
            <a:off x="822960" y="4617720"/>
            <a:ext cx="36118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700">
                <a:solidFill>
                  <a:srgbClr val="C6D5E8"/>
                </a:solidFill>
                <a:latin typeface="Helvetica Neue"/>
                <a:ea typeface="Helvetica Neue"/>
                <a:cs typeface="Helvetica Neue"/>
              </a:rPr>
              <a:t>Risks, the pilot experiment, the demo, pricing and measures.</a:t>
            </a:r>
            <a:endParaRPr sz="1700"/>
          </a:p>
        </p:txBody>
      </p:sp>
      <p:sp>
        <p:nvSpPr>
          <p:cNvPr id="7" name="Text 3">
            <a:extLst xmlns:a="http://schemas.openxmlformats.org/drawingml/2006/main">
              <a:ext uri="{FF2B5EF4-FFF2-40B4-BE49-F238E27FC236}">
                <a16:creationId xmlns:a16="http://schemas.microsoft.com/office/drawing/2014/main" id="{55604C90-129E-42E3-82C1-BF2A0345E658}"/>
              </a:ext>
            </a:extLst>
          </p:cNvPr>
          <p:cNvSpPr>
            <a:spLocks xmlns:a="http://schemas.openxmlformats.org/drawingml/2006/main" noGrp="1"/>
          </p:cNvSpPr>
          <p:nvPr/>
        </p:nvSpPr>
        <p:spPr>
          <a:xfrm xmlns:a="http://schemas.openxmlformats.org/drawingml/2006/main">
            <a:off x="4617720" y="1298448"/>
            <a:ext cx="4069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F0956A"/>
                </a:solidFill>
                <a:latin typeface="Helvetica Neue"/>
                <a:ea typeface="Helvetica Neue"/>
                <a:cs typeface="Helvetica Neue"/>
              </a:rPr>
              <a:t>IN THIS PART</a:t>
            </a:r>
            <a:endParaRPr sz="1100"/>
          </a:p>
        </p:txBody>
      </p:sp>
      <p:sp>
        <p:nvSpPr>
          <p:cNvPr id="8" name="Text 4">
            <a:extLst xmlns:a="http://schemas.openxmlformats.org/drawingml/2006/main">
              <a:ext uri="{FF2B5EF4-FFF2-40B4-BE49-F238E27FC236}">
                <a16:creationId xmlns:a16="http://schemas.microsoft.com/office/drawing/2014/main" id="{E871C3EB-1A23-4607-8C9B-4DA2C14AFC02}"/>
              </a:ext>
            </a:extLst>
          </p:cNvPr>
          <p:cNvSpPr>
            <a:spLocks xmlns:a="http://schemas.openxmlformats.org/drawingml/2006/main" noGrp="1"/>
          </p:cNvSpPr>
          <p:nvPr/>
        </p:nvSpPr>
        <p:spPr>
          <a:xfrm xmlns:a="http://schemas.openxmlformats.org/drawingml/2006/main">
            <a:off x="4617720" y="171907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24 · Known risks and the pilot tests</a:t>
            </a:r>
            <a:endParaRPr sz="1250"/>
          </a:p>
        </p:txBody>
      </p:sp>
      <p:sp>
        <p:nvSpPr>
          <p:cNvPr id="9" name="Text 5">
            <a:extLst xmlns:a="http://schemas.openxmlformats.org/drawingml/2006/main">
              <a:ext uri="{FF2B5EF4-FFF2-40B4-BE49-F238E27FC236}">
                <a16:creationId xmlns:a16="http://schemas.microsoft.com/office/drawing/2014/main" id="{80233D7E-AB80-495B-BB6D-60EF9B95F2FE}"/>
              </a:ext>
            </a:extLst>
          </p:cNvPr>
          <p:cNvSpPr>
            <a:spLocks xmlns:a="http://schemas.openxmlformats.org/drawingml/2006/main" noGrp="1"/>
          </p:cNvSpPr>
          <p:nvPr/>
        </p:nvSpPr>
        <p:spPr>
          <a:xfrm xmlns:a="http://schemas.openxmlformats.org/drawingml/2006/main">
            <a:off x="4617720" y="2103120"/>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25 · The first customer experiment</a:t>
            </a:r>
            <a:endParaRPr sz="1250"/>
          </a:p>
        </p:txBody>
      </p:sp>
      <p:sp>
        <p:nvSpPr>
          <p:cNvPr id="10" name="Text 6">
            <a:extLst xmlns:a="http://schemas.openxmlformats.org/drawingml/2006/main">
              <a:ext uri="{FF2B5EF4-FFF2-40B4-BE49-F238E27FC236}">
                <a16:creationId xmlns:a16="http://schemas.microsoft.com/office/drawing/2014/main" id="{94906D14-AE27-46E8-A6F5-97054A4BE0BC}"/>
              </a:ext>
            </a:extLst>
          </p:cNvPr>
          <p:cNvSpPr>
            <a:spLocks xmlns:a="http://schemas.openxmlformats.org/drawingml/2006/main" noGrp="1"/>
          </p:cNvSpPr>
          <p:nvPr/>
        </p:nvSpPr>
        <p:spPr>
          <a:xfrm xmlns:a="http://schemas.openxmlformats.org/drawingml/2006/main">
            <a:off x="4617720" y="2487168"/>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26 · The sales conversation and demo</a:t>
            </a:r>
            <a:endParaRPr sz="1250"/>
          </a:p>
        </p:txBody>
      </p:sp>
      <p:sp>
        <p:nvSpPr>
          <p:cNvPr id="11" name="Text 7">
            <a:extLst xmlns:a="http://schemas.openxmlformats.org/drawingml/2006/main">
              <a:ext uri="{FF2B5EF4-FFF2-40B4-BE49-F238E27FC236}">
                <a16:creationId xmlns:a16="http://schemas.microsoft.com/office/drawing/2014/main" id="{056AB405-D941-4032-A40C-A24A8BB2666C}"/>
              </a:ext>
            </a:extLst>
          </p:cNvPr>
          <p:cNvSpPr>
            <a:spLocks xmlns:a="http://schemas.openxmlformats.org/drawingml/2006/main" noGrp="1"/>
          </p:cNvSpPr>
          <p:nvPr/>
        </p:nvSpPr>
        <p:spPr>
          <a:xfrm xmlns:a="http://schemas.openxmlformats.org/drawingml/2006/main">
            <a:off x="4617720" y="2871216"/>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27 · Packaging and pricing experiments</a:t>
            </a:r>
            <a:endParaRPr sz="1250"/>
          </a:p>
        </p:txBody>
      </p:sp>
      <p:sp>
        <p:nvSpPr>
          <p:cNvPr id="12" name="Text 8">
            <a:extLst xmlns:a="http://schemas.openxmlformats.org/drawingml/2006/main">
              <a:ext uri="{FF2B5EF4-FFF2-40B4-BE49-F238E27FC236}">
                <a16:creationId xmlns:a16="http://schemas.microsoft.com/office/drawing/2014/main" id="{46D969B4-DA4E-4AE9-B122-D858A437500E}"/>
              </a:ext>
            </a:extLst>
          </p:cNvPr>
          <p:cNvSpPr>
            <a:spLocks xmlns:a="http://schemas.openxmlformats.org/drawingml/2006/main" noGrp="1"/>
          </p:cNvSpPr>
          <p:nvPr/>
        </p:nvSpPr>
        <p:spPr>
          <a:xfrm xmlns:a="http://schemas.openxmlformats.org/drawingml/2006/main">
            <a:off x="4617720" y="3255264"/>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28 · Measures for the pilot decision</a:t>
            </a:r>
            <a:endParaRPr sz="1250"/>
          </a:p>
        </p:txBody>
      </p:sp>
      <p:sp>
        <p:nvSpPr>
          <p:cNvPr id="13" name="Text 9">
            <a:extLst xmlns:a="http://schemas.openxmlformats.org/drawingml/2006/main">
              <a:ext uri="{FF2B5EF4-FFF2-40B4-BE49-F238E27FC236}">
                <a16:creationId xmlns:a16="http://schemas.microsoft.com/office/drawing/2014/main" id="{A208FE81-9CA8-4144-8160-635471189C69}"/>
              </a:ext>
            </a:extLst>
          </p:cNvPr>
          <p:cNvSpPr>
            <a:spLocks xmlns:a="http://schemas.openxmlformats.org/drawingml/2006/main" noGrp="1"/>
          </p:cNvSpPr>
          <p:nvPr/>
        </p:nvSpPr>
        <p:spPr>
          <a:xfrm xmlns:a="http://schemas.openxmlformats.org/drawingml/2006/main">
            <a:off x="4617720" y="3639312"/>
            <a:ext cx="40690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B9C6DA"/>
                </a:solidFill>
                <a:latin typeface="Helvetica Neue"/>
                <a:ea typeface="Helvetica Neue"/>
                <a:cs typeface="Helvetica Neue"/>
              </a:rPr>
              <a:t>29 · A verified pilot is the next milestone</a:t>
            </a:r>
            <a:endParaRPr sz="1250"/>
          </a:p>
        </p:txBody>
      </p:sp>
      <p:sp>
        <p:nvSpPr>
          <p:cNvPr id="14" name="Text 10">
            <a:extLst xmlns:a="http://schemas.openxmlformats.org/drawingml/2006/main">
              <a:ext uri="{FF2B5EF4-FFF2-40B4-BE49-F238E27FC236}">
                <a16:creationId xmlns:a16="http://schemas.microsoft.com/office/drawing/2014/main" id="{1248A05D-4A0F-4958-BED4-C8161A132474}"/>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FA6C4"/>
                </a:solidFill>
                <a:latin typeface="Helvetica Neue"/>
                <a:ea typeface="Helvetica Neue"/>
                <a:cs typeface="Helvetica Neue"/>
              </a:rPr>
              <a:t>Career Studio · Product handoff · September 9, 2026</a:t>
            </a:r>
            <a:endParaRPr sz="900"/>
          </a:p>
        </p:txBody>
      </p:sp>
      <p:sp>
        <p:nvSpPr>
          <p:cNvPr id="15" name="Text 11">
            <a:extLst xmlns:a="http://schemas.openxmlformats.org/drawingml/2006/main">
              <a:ext uri="{FF2B5EF4-FFF2-40B4-BE49-F238E27FC236}">
                <a16:creationId xmlns:a16="http://schemas.microsoft.com/office/drawing/2014/main" id="{3F3233D3-6E8D-4590-9248-86455CE2DF2D}"/>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FA6C4"/>
                </a:solidFill>
                <a:latin typeface="Helvetica Neue"/>
                <a:ea typeface="Helvetica Neue"/>
                <a:cs typeface="Helvetica Neue"/>
              </a:rPr>
              <a:t>23 / 29</a:t>
            </a:r>
            <a:endParaRPr sz="900"/>
          </a:p>
        </p:txBody>
      </p:sp>
    </p:spTree>
    <p:extLst>
      <p:ext uri="{BB962C8B-B14F-4D97-AF65-F5344CB8AC3E}">
        <p14:creationId xmlns:p14="http://schemas.microsoft.com/office/powerpoint/2010/main" val="6636489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F891F2D0-CA97-4375-BD79-35CC35CFD374}"/>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C2410C"/>
                </a:solidFill>
                <a:latin typeface="Helvetica Neue"/>
                <a:ea typeface="Helvetica Neue"/>
                <a:cs typeface="Helvetica Neue"/>
              </a:rPr>
              <a:t>PART 3 · HOW TO PILOT AND SELL IT</a:t>
            </a:r>
            <a:endParaRPr sz="1100"/>
          </a:p>
        </p:txBody>
      </p:sp>
      <p:sp>
        <p:nvSpPr>
          <p:cNvPr id="4" name="Shape 1">
            <a:extLst xmlns:a="http://schemas.openxmlformats.org/drawingml/2006/main">
              <a:ext uri="{FF2B5EF4-FFF2-40B4-BE49-F238E27FC236}">
                <a16:creationId xmlns:a16="http://schemas.microsoft.com/office/drawing/2014/main" id="{35784BF5-0C3B-41D2-81F5-A68A14FF0909}"/>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12700">
            <a:solidFill>
              <a:srgbClr val="C2410C"/>
            </a:solidFill>
            <a:prstDash val="solid"/>
          </a:ln>
        </p:spPr>
      </p:sp>
      <p:sp>
        <p:nvSpPr>
          <p:cNvPr id="5" name="Text 2">
            <a:extLst xmlns:a="http://schemas.openxmlformats.org/drawingml/2006/main">
              <a:ext uri="{FF2B5EF4-FFF2-40B4-BE49-F238E27FC236}">
                <a16:creationId xmlns:a16="http://schemas.microsoft.com/office/drawing/2014/main" id="{67EB6D7B-7E2A-4752-A2B6-049D25F38E92}"/>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0CD2C243-0A90-44FE-A5E4-F956807583B9}"/>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Known risks and how the pilot tests them</a:t>
            </a:r>
            <a:endParaRPr sz="3000"/>
          </a:p>
        </p:txBody>
      </p:sp>
      <p:sp>
        <p:nvSpPr>
          <p:cNvPr id="7" name="Text 4">
            <a:extLst xmlns:a="http://schemas.openxmlformats.org/drawingml/2006/main">
              <a:ext uri="{FF2B5EF4-FFF2-40B4-BE49-F238E27FC236}">
                <a16:creationId xmlns:a16="http://schemas.microsoft.com/office/drawing/2014/main" id="{521947E0-1ADB-4525-9CF3-8F504BF7D0F9}"/>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The founder’s current assessment. Each risk has something the pilot can measure.</a:t>
            </a:r>
            <a:endParaRPr sz="1500"/>
          </a:p>
        </p:txBody>
      </p:sp>
      <p:sp>
        <p:nvSpPr>
          <p:cNvPr id="8" name="Shape 5">
            <a:extLst xmlns:a="http://schemas.openxmlformats.org/drawingml/2006/main">
              <a:ext uri="{FF2B5EF4-FFF2-40B4-BE49-F238E27FC236}">
                <a16:creationId xmlns:a16="http://schemas.microsoft.com/office/drawing/2014/main" id="{F1495DB7-D86F-4A7B-BABB-A208BD83C1A8}"/>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97FD9116-1450-4B29-A7E2-7AA300E77F58}"/>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68D4BCC1-C7C0-4DF8-ADC4-95DE39FF737D}"/>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24 / 29</a:t>
            </a:r>
            <a:endParaRPr sz="900"/>
          </a:p>
        </p:txBody>
      </p:sp>
      <p:sp>
        <p:nvSpPr>
          <p:cNvPr id="11" name="Shape 8">
            <a:extLst xmlns:a="http://schemas.openxmlformats.org/drawingml/2006/main">
              <a:ext uri="{FF2B5EF4-FFF2-40B4-BE49-F238E27FC236}">
                <a16:creationId xmlns:a16="http://schemas.microsoft.com/office/drawing/2014/main" id="{8A21823A-ED52-47C8-957A-0D5D0B63A462}"/>
              </a:ext>
            </a:extLst>
          </p:cNvPr>
          <p:cNvSpPr>
            <a:spLocks xmlns:a="http://schemas.openxmlformats.org/drawingml/2006/main" noGrp="1"/>
          </p:cNvSpPr>
          <p:nvPr/>
        </p:nvSpPr>
        <p:spPr>
          <a:xfrm xmlns:a="http://schemas.openxmlformats.org/drawingml/2006/main">
            <a:off x="548640" y="1554480"/>
            <a:ext cx="5432908" cy="2121408"/>
          </a:xfrm>
          <a:prstGeom xmlns:a="http://schemas.openxmlformats.org/drawingml/2006/main" prst="roundRect">
            <a:avLst>
              <a:gd name="adj" fmla="val 3448"/>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C4FDDAE6-F139-4E2C-BE45-60A4DF2018DB}"/>
              </a:ext>
            </a:extLst>
          </p:cNvPr>
          <p:cNvSpPr>
            <a:spLocks xmlns:a="http://schemas.openxmlformats.org/drawingml/2006/main" noGrp="1"/>
          </p:cNvSpPr>
          <p:nvPr/>
        </p:nvSpPr>
        <p:spPr>
          <a:xfrm xmlns:a="http://schemas.openxmlformats.org/drawingml/2006/main">
            <a:off x="548640" y="1554480"/>
            <a:ext cx="5432908" cy="512064"/>
          </a:xfrm>
          <a:prstGeom xmlns:a="http://schemas.openxmlformats.org/drawingml/2006/main" prst="roundRect">
            <a:avLst>
              <a:gd name="adj" fmla="val 14286"/>
            </a:avLst>
          </a:prstGeom>
          <a:solidFill xmlns:a="http://schemas.openxmlformats.org/drawingml/2006/main">
            <a:srgbClr val="FDECEC"/>
          </a:solidFill>
          <a:ln xmlns:a="http://schemas.openxmlformats.org/drawingml/2006/main" w="12700">
            <a:solidFill>
              <a:srgbClr val="FDECEC"/>
            </a:solidFill>
            <a:prstDash val="solid"/>
          </a:ln>
        </p:spPr>
      </p:sp>
      <p:sp>
        <p:nvSpPr>
          <p:cNvPr id="13" name="Text 10">
            <a:extLst xmlns:a="http://schemas.openxmlformats.org/drawingml/2006/main">
              <a:ext uri="{FF2B5EF4-FFF2-40B4-BE49-F238E27FC236}">
                <a16:creationId xmlns:a16="http://schemas.microsoft.com/office/drawing/2014/main" id="{F88C4BB3-7A89-42B1-8819-1B20B83F1508}"/>
              </a:ext>
            </a:extLst>
          </p:cNvPr>
          <p:cNvSpPr>
            <a:spLocks xmlns:a="http://schemas.openxmlformats.org/drawingml/2006/main" noGrp="1"/>
          </p:cNvSpPr>
          <p:nvPr/>
        </p:nvSpPr>
        <p:spPr>
          <a:xfrm xmlns:a="http://schemas.openxmlformats.org/drawingml/2006/main">
            <a:off x="804672" y="1696212"/>
            <a:ext cx="49208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B42318"/>
                </a:solidFill>
                <a:latin typeface="Helvetica Neue"/>
                <a:ea typeface="Helvetica Neue"/>
                <a:cs typeface="Helvetica Neue"/>
              </a:rPr>
              <a:t>The cost per active customer is unmeasured.</a:t>
            </a:r>
            <a:endParaRPr sz="1450"/>
          </a:p>
        </p:txBody>
      </p:sp>
      <p:sp>
        <p:nvSpPr>
          <p:cNvPr id="14" name="Text 11">
            <a:extLst xmlns:a="http://schemas.openxmlformats.org/drawingml/2006/main">
              <a:ext uri="{FF2B5EF4-FFF2-40B4-BE49-F238E27FC236}">
                <a16:creationId xmlns:a16="http://schemas.microsoft.com/office/drawing/2014/main" id="{EBC0AB30-7F36-4926-95CF-0D5D406C131E}"/>
              </a:ext>
            </a:extLst>
          </p:cNvPr>
          <p:cNvSpPr>
            <a:spLocks xmlns:a="http://schemas.openxmlformats.org/drawingml/2006/main" noGrp="1"/>
          </p:cNvSpPr>
          <p:nvPr/>
        </p:nvSpPr>
        <p:spPr>
          <a:xfrm xmlns:a="http://schemas.openxmlformats.org/drawingml/2006/main">
            <a:off x="804672" y="22311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ECONOMICS</a:t>
            </a:r>
            <a:endParaRPr sz="1100"/>
          </a:p>
        </p:txBody>
      </p:sp>
      <p:sp>
        <p:nvSpPr>
          <p:cNvPr id="15" name="Shape 12">
            <a:extLst xmlns:a="http://schemas.openxmlformats.org/drawingml/2006/main">
              <a:ext uri="{FF2B5EF4-FFF2-40B4-BE49-F238E27FC236}">
                <a16:creationId xmlns:a16="http://schemas.microsoft.com/office/drawing/2014/main" id="{AC26AD18-EFBF-49FB-B85A-C4AC8767E2B4}"/>
              </a:ext>
            </a:extLst>
          </p:cNvPr>
          <p:cNvSpPr>
            <a:spLocks xmlns:a="http://schemas.openxmlformats.org/drawingml/2006/main" noGrp="1"/>
          </p:cNvSpPr>
          <p:nvPr/>
        </p:nvSpPr>
        <p:spPr>
          <a:xfrm xmlns:a="http://schemas.openxmlformats.org/drawingml/2006/main">
            <a:off x="804672" y="2614041"/>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16" name="Text 13">
            <a:extLst xmlns:a="http://schemas.openxmlformats.org/drawingml/2006/main">
              <a:ext uri="{FF2B5EF4-FFF2-40B4-BE49-F238E27FC236}">
                <a16:creationId xmlns:a16="http://schemas.microsoft.com/office/drawing/2014/main" id="{6BB778BD-DC6F-4042-8466-81DBCC151AA9}"/>
              </a:ext>
            </a:extLst>
          </p:cNvPr>
          <p:cNvSpPr>
            <a:spLocks xmlns:a="http://schemas.openxmlformats.org/drawingml/2006/main" noGrp="1"/>
          </p:cNvSpPr>
          <p:nvPr/>
        </p:nvSpPr>
        <p:spPr>
          <a:xfrm xmlns:a="http://schemas.openxmlformats.org/drawingml/2006/main">
            <a:off x="1024128" y="2523744"/>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Default controls cap attempts, not dollars: 40 per customer per day, 400 service-wide, 3 concurrent.</a:t>
            </a:r>
            <a:endParaRPr sz="1350"/>
          </a:p>
        </p:txBody>
      </p:sp>
      <p:sp>
        <p:nvSpPr>
          <p:cNvPr id="17" name="Shape 14">
            <a:extLst xmlns:a="http://schemas.openxmlformats.org/drawingml/2006/main">
              <a:ext uri="{FF2B5EF4-FFF2-40B4-BE49-F238E27FC236}">
                <a16:creationId xmlns:a16="http://schemas.microsoft.com/office/drawing/2014/main" id="{D96B3445-D4D3-401E-B643-93FB05846089}"/>
              </a:ext>
            </a:extLst>
          </p:cNvPr>
          <p:cNvSpPr>
            <a:spLocks xmlns:a="http://schemas.openxmlformats.org/drawingml/2006/main" noGrp="1"/>
          </p:cNvSpPr>
          <p:nvPr/>
        </p:nvSpPr>
        <p:spPr>
          <a:xfrm xmlns:a="http://schemas.openxmlformats.org/drawingml/2006/main">
            <a:off x="804672" y="312610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18" name="Text 15">
            <a:extLst xmlns:a="http://schemas.openxmlformats.org/drawingml/2006/main">
              <a:ext uri="{FF2B5EF4-FFF2-40B4-BE49-F238E27FC236}">
                <a16:creationId xmlns:a16="http://schemas.microsoft.com/office/drawing/2014/main" id="{F12AA84E-634E-48DE-870C-DF9E21E82878}"/>
              </a:ext>
            </a:extLst>
          </p:cNvPr>
          <p:cNvSpPr>
            <a:spLocks xmlns:a="http://schemas.openxmlformats.org/drawingml/2006/main" noGrp="1"/>
          </p:cNvSpPr>
          <p:nvPr/>
        </p:nvSpPr>
        <p:spPr>
          <a:xfrm xmlns:a="http://schemas.openxmlformats.org/drawingml/2006/main">
            <a:off x="1024128" y="3035808"/>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Record tokens and cost per customer before any price is set.</a:t>
            </a:r>
            <a:endParaRPr sz="1350"/>
          </a:p>
        </p:txBody>
      </p:sp>
      <p:sp>
        <p:nvSpPr>
          <p:cNvPr id="19" name="Shape 16">
            <a:extLst xmlns:a="http://schemas.openxmlformats.org/drawingml/2006/main">
              <a:ext uri="{FF2B5EF4-FFF2-40B4-BE49-F238E27FC236}">
                <a16:creationId xmlns:a16="http://schemas.microsoft.com/office/drawing/2014/main" id="{8FBA8737-0421-40B2-ABFB-5ABEB47B0203}"/>
              </a:ext>
            </a:extLst>
          </p:cNvPr>
          <p:cNvSpPr>
            <a:spLocks xmlns:a="http://schemas.openxmlformats.org/drawingml/2006/main" noGrp="1"/>
          </p:cNvSpPr>
          <p:nvPr/>
        </p:nvSpPr>
        <p:spPr>
          <a:xfrm xmlns:a="http://schemas.openxmlformats.org/drawingml/2006/main">
            <a:off x="6210148" y="1554480"/>
            <a:ext cx="5432908" cy="2121408"/>
          </a:xfrm>
          <a:prstGeom xmlns:a="http://schemas.openxmlformats.org/drawingml/2006/main" prst="roundRect">
            <a:avLst>
              <a:gd name="adj" fmla="val 3448"/>
            </a:avLst>
          </a:prstGeom>
          <a:solidFill xmlns:a="http://schemas.openxmlformats.org/drawingml/2006/main">
            <a:srgbClr val="F3F6FB"/>
          </a:solidFill>
          <a:ln xmlns:a="http://schemas.openxmlformats.org/drawingml/2006/main" w="9525">
            <a:solidFill>
              <a:srgbClr val="C9D6E8"/>
            </a:solidFill>
            <a:prstDash val="solid"/>
          </a:ln>
        </p:spPr>
      </p:sp>
      <p:sp>
        <p:nvSpPr>
          <p:cNvPr id="20" name="Shape 17">
            <a:extLst xmlns:a="http://schemas.openxmlformats.org/drawingml/2006/main">
              <a:ext uri="{FF2B5EF4-FFF2-40B4-BE49-F238E27FC236}">
                <a16:creationId xmlns:a16="http://schemas.microsoft.com/office/drawing/2014/main" id="{4BC46248-8664-4BB0-982C-04B45FD4D4DE}"/>
              </a:ext>
            </a:extLst>
          </p:cNvPr>
          <p:cNvSpPr>
            <a:spLocks xmlns:a="http://schemas.openxmlformats.org/drawingml/2006/main" noGrp="1"/>
          </p:cNvSpPr>
          <p:nvPr/>
        </p:nvSpPr>
        <p:spPr>
          <a:xfrm xmlns:a="http://schemas.openxmlformats.org/drawingml/2006/main">
            <a:off x="6210148" y="1554480"/>
            <a:ext cx="5432908" cy="512064"/>
          </a:xfrm>
          <a:prstGeom xmlns:a="http://schemas.openxmlformats.org/drawingml/2006/main" prst="roundRect">
            <a:avLst>
              <a:gd name="adj" fmla="val 14286"/>
            </a:avLst>
          </a:prstGeom>
          <a:solidFill xmlns:a="http://schemas.openxmlformats.org/drawingml/2006/main">
            <a:srgbClr val="FDECEC"/>
          </a:solidFill>
          <a:ln xmlns:a="http://schemas.openxmlformats.org/drawingml/2006/main" w="12700">
            <a:solidFill>
              <a:srgbClr val="FDECEC"/>
            </a:solidFill>
            <a:prstDash val="solid"/>
          </a:ln>
        </p:spPr>
      </p:sp>
      <p:sp>
        <p:nvSpPr>
          <p:cNvPr id="21" name="Text 18">
            <a:extLst xmlns:a="http://schemas.openxmlformats.org/drawingml/2006/main">
              <a:ext uri="{FF2B5EF4-FFF2-40B4-BE49-F238E27FC236}">
                <a16:creationId xmlns:a16="http://schemas.microsoft.com/office/drawing/2014/main" id="{5C461861-4073-4F66-B016-1A5BB17A5F96}"/>
              </a:ext>
            </a:extLst>
          </p:cNvPr>
          <p:cNvSpPr>
            <a:spLocks xmlns:a="http://schemas.openxmlformats.org/drawingml/2006/main" noGrp="1"/>
          </p:cNvSpPr>
          <p:nvPr/>
        </p:nvSpPr>
        <p:spPr>
          <a:xfrm xmlns:a="http://schemas.openxmlformats.org/drawingml/2006/main">
            <a:off x="6466180" y="1696212"/>
            <a:ext cx="49208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B42318"/>
                </a:solidFill>
                <a:latin typeface="Helvetica Neue"/>
                <a:ea typeface="Helvetica Neue"/>
                <a:cs typeface="Helvetica Neue"/>
              </a:rPr>
              <a:t>Job coverage is remote-only and 24 hours delayed.</a:t>
            </a:r>
            <a:endParaRPr sz="1450"/>
          </a:p>
        </p:txBody>
      </p:sp>
      <p:sp>
        <p:nvSpPr>
          <p:cNvPr id="22" name="Text 19">
            <a:extLst xmlns:a="http://schemas.openxmlformats.org/drawingml/2006/main">
              <a:ext uri="{FF2B5EF4-FFF2-40B4-BE49-F238E27FC236}">
                <a16:creationId xmlns:a16="http://schemas.microsoft.com/office/drawing/2014/main" id="{65AD1EB8-F66D-45B7-B4B3-8E53A57F8E39}"/>
              </a:ext>
            </a:extLst>
          </p:cNvPr>
          <p:cNvSpPr>
            <a:spLocks xmlns:a="http://schemas.openxmlformats.org/drawingml/2006/main" noGrp="1"/>
          </p:cNvSpPr>
          <p:nvPr/>
        </p:nvSpPr>
        <p:spPr>
          <a:xfrm xmlns:a="http://schemas.openxmlformats.org/drawingml/2006/main">
            <a:off x="6466180" y="223113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COVERAGE</a:t>
            </a:r>
            <a:endParaRPr sz="1100"/>
          </a:p>
        </p:txBody>
      </p:sp>
      <p:sp>
        <p:nvSpPr>
          <p:cNvPr id="23" name="Shape 20">
            <a:extLst xmlns:a="http://schemas.openxmlformats.org/drawingml/2006/main">
              <a:ext uri="{FF2B5EF4-FFF2-40B4-BE49-F238E27FC236}">
                <a16:creationId xmlns:a16="http://schemas.microsoft.com/office/drawing/2014/main" id="{2DD42D06-D17B-41BA-94C9-472DF036304C}"/>
              </a:ext>
            </a:extLst>
          </p:cNvPr>
          <p:cNvSpPr>
            <a:spLocks xmlns:a="http://schemas.openxmlformats.org/drawingml/2006/main" noGrp="1"/>
          </p:cNvSpPr>
          <p:nvPr/>
        </p:nvSpPr>
        <p:spPr>
          <a:xfrm xmlns:a="http://schemas.openxmlformats.org/drawingml/2006/main">
            <a:off x="6466180" y="2614041"/>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24" name="Text 21">
            <a:extLst xmlns:a="http://schemas.openxmlformats.org/drawingml/2006/main">
              <a:ext uri="{FF2B5EF4-FFF2-40B4-BE49-F238E27FC236}">
                <a16:creationId xmlns:a16="http://schemas.microsoft.com/office/drawing/2014/main" id="{63BAE64D-92A5-40A2-8D8E-C1BC79D5A874}"/>
              </a:ext>
            </a:extLst>
          </p:cNvPr>
          <p:cNvSpPr>
            <a:spLocks xmlns:a="http://schemas.openxmlformats.org/drawingml/2006/main" noGrp="1"/>
          </p:cNvSpPr>
          <p:nvPr/>
        </p:nvSpPr>
        <p:spPr>
          <a:xfrm xmlns:a="http://schemas.openxmlformats.org/drawingml/2006/main">
            <a:off x="6685636" y="2523744"/>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Operations and coordinator roles are often local.</a:t>
            </a:r>
            <a:endParaRPr sz="1350"/>
          </a:p>
        </p:txBody>
      </p:sp>
      <p:sp>
        <p:nvSpPr>
          <p:cNvPr id="25" name="Shape 22">
            <a:extLst xmlns:a="http://schemas.openxmlformats.org/drawingml/2006/main">
              <a:ext uri="{FF2B5EF4-FFF2-40B4-BE49-F238E27FC236}">
                <a16:creationId xmlns:a16="http://schemas.microsoft.com/office/drawing/2014/main" id="{EEE5E0E1-33E8-4CB3-87E3-A6F0C99FB0B7}"/>
              </a:ext>
            </a:extLst>
          </p:cNvPr>
          <p:cNvSpPr>
            <a:spLocks xmlns:a="http://schemas.openxmlformats.org/drawingml/2006/main" noGrp="1"/>
          </p:cNvSpPr>
          <p:nvPr/>
        </p:nvSpPr>
        <p:spPr>
          <a:xfrm xmlns:a="http://schemas.openxmlformats.org/drawingml/2006/main">
            <a:off x="6466180" y="312610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26" name="Text 23">
            <a:extLst xmlns:a="http://schemas.openxmlformats.org/drawingml/2006/main">
              <a:ext uri="{FF2B5EF4-FFF2-40B4-BE49-F238E27FC236}">
                <a16:creationId xmlns:a16="http://schemas.microsoft.com/office/drawing/2014/main" id="{CA92BBBC-D807-459F-AC94-B996EE36AD7F}"/>
              </a:ext>
            </a:extLst>
          </p:cNvPr>
          <p:cNvSpPr>
            <a:spLocks xmlns:a="http://schemas.openxmlformats.org/drawingml/2006/main" noGrp="1"/>
          </p:cNvSpPr>
          <p:nvPr/>
        </p:nvSpPr>
        <p:spPr>
          <a:xfrm xmlns:a="http://schemas.openxmlformats.org/drawingml/2006/main">
            <a:off x="6685636" y="3035808"/>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Test pasted postings and evaluate licensed local coverage before a discovery pitch.</a:t>
            </a:r>
            <a:endParaRPr sz="1350"/>
          </a:p>
        </p:txBody>
      </p:sp>
      <p:sp>
        <p:nvSpPr>
          <p:cNvPr id="27" name="Shape 24">
            <a:extLst xmlns:a="http://schemas.openxmlformats.org/drawingml/2006/main">
              <a:ext uri="{FF2B5EF4-FFF2-40B4-BE49-F238E27FC236}">
                <a16:creationId xmlns:a16="http://schemas.microsoft.com/office/drawing/2014/main" id="{2D1F1C68-C7B3-409E-85A2-6863041F1D48}"/>
              </a:ext>
            </a:extLst>
          </p:cNvPr>
          <p:cNvSpPr>
            <a:spLocks xmlns:a="http://schemas.openxmlformats.org/drawingml/2006/main" noGrp="1"/>
          </p:cNvSpPr>
          <p:nvPr/>
        </p:nvSpPr>
        <p:spPr>
          <a:xfrm xmlns:a="http://schemas.openxmlformats.org/drawingml/2006/main">
            <a:off x="548640" y="3931920"/>
            <a:ext cx="5432908" cy="2121408"/>
          </a:xfrm>
          <a:prstGeom xmlns:a="http://schemas.openxmlformats.org/drawingml/2006/main" prst="roundRect">
            <a:avLst>
              <a:gd name="adj" fmla="val 3448"/>
            </a:avLst>
          </a:prstGeom>
          <a:solidFill xmlns:a="http://schemas.openxmlformats.org/drawingml/2006/main">
            <a:srgbClr val="F3F6FB"/>
          </a:solidFill>
          <a:ln xmlns:a="http://schemas.openxmlformats.org/drawingml/2006/main" w="9525">
            <a:solidFill>
              <a:srgbClr val="C9D6E8"/>
            </a:solidFill>
            <a:prstDash val="solid"/>
          </a:ln>
        </p:spPr>
      </p:sp>
      <p:sp>
        <p:nvSpPr>
          <p:cNvPr id="28" name="Shape 25">
            <a:extLst xmlns:a="http://schemas.openxmlformats.org/drawingml/2006/main">
              <a:ext uri="{FF2B5EF4-FFF2-40B4-BE49-F238E27FC236}">
                <a16:creationId xmlns:a16="http://schemas.microsoft.com/office/drawing/2014/main" id="{1B7B057C-EB90-46CE-A77E-555A99ACD7D5}"/>
              </a:ext>
            </a:extLst>
          </p:cNvPr>
          <p:cNvSpPr>
            <a:spLocks xmlns:a="http://schemas.openxmlformats.org/drawingml/2006/main" noGrp="1"/>
          </p:cNvSpPr>
          <p:nvPr/>
        </p:nvSpPr>
        <p:spPr>
          <a:xfrm xmlns:a="http://schemas.openxmlformats.org/drawingml/2006/main">
            <a:off x="548640" y="3931920"/>
            <a:ext cx="5432908" cy="512064"/>
          </a:xfrm>
          <a:prstGeom xmlns:a="http://schemas.openxmlformats.org/drawingml/2006/main" prst="roundRect">
            <a:avLst>
              <a:gd name="adj" fmla="val 14286"/>
            </a:avLst>
          </a:prstGeom>
          <a:solidFill xmlns:a="http://schemas.openxmlformats.org/drawingml/2006/main">
            <a:srgbClr val="FDECEC"/>
          </a:solidFill>
          <a:ln xmlns:a="http://schemas.openxmlformats.org/drawingml/2006/main" w="12700">
            <a:solidFill>
              <a:srgbClr val="FDECEC"/>
            </a:solidFill>
            <a:prstDash val="solid"/>
          </a:ln>
        </p:spPr>
      </p:sp>
      <p:sp>
        <p:nvSpPr>
          <p:cNvPr id="29" name="Text 26">
            <a:extLst xmlns:a="http://schemas.openxmlformats.org/drawingml/2006/main">
              <a:ext uri="{FF2B5EF4-FFF2-40B4-BE49-F238E27FC236}">
                <a16:creationId xmlns:a16="http://schemas.microsoft.com/office/drawing/2014/main" id="{093B7F07-6509-405C-9DFA-0E1138BB65A9}"/>
              </a:ext>
            </a:extLst>
          </p:cNvPr>
          <p:cNvSpPr>
            <a:spLocks xmlns:a="http://schemas.openxmlformats.org/drawingml/2006/main" noGrp="1"/>
          </p:cNvSpPr>
          <p:nvPr/>
        </p:nvSpPr>
        <p:spPr>
          <a:xfrm xmlns:a="http://schemas.openxmlformats.org/drawingml/2006/main">
            <a:off x="804672" y="4073652"/>
            <a:ext cx="49208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B42318"/>
                </a:solidFill>
                <a:latin typeface="Helvetica Neue"/>
                <a:ea typeface="Helvetica Neue"/>
                <a:cs typeface="Helvetica Neue"/>
              </a:rPr>
              <a:t>AI can still overstate what a customer has done.</a:t>
            </a:r>
            <a:endParaRPr sz="1450"/>
          </a:p>
        </p:txBody>
      </p:sp>
      <p:sp>
        <p:nvSpPr>
          <p:cNvPr id="30" name="Text 27">
            <a:extLst xmlns:a="http://schemas.openxmlformats.org/drawingml/2006/main">
              <a:ext uri="{FF2B5EF4-FFF2-40B4-BE49-F238E27FC236}">
                <a16:creationId xmlns:a16="http://schemas.microsoft.com/office/drawing/2014/main" id="{E6BEFA56-F142-47C1-94C2-0B2D91FB56FD}"/>
              </a:ext>
            </a:extLst>
          </p:cNvPr>
          <p:cNvSpPr>
            <a:spLocks xmlns:a="http://schemas.openxmlformats.org/drawingml/2006/main" noGrp="1"/>
          </p:cNvSpPr>
          <p:nvPr/>
        </p:nvSpPr>
        <p:spPr>
          <a:xfrm xmlns:a="http://schemas.openxmlformats.org/drawingml/2006/main">
            <a:off x="804672" y="460857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ACCURACY</a:t>
            </a:r>
            <a:endParaRPr sz="1100"/>
          </a:p>
        </p:txBody>
      </p:sp>
      <p:sp>
        <p:nvSpPr>
          <p:cNvPr id="31" name="Shape 28">
            <a:extLst xmlns:a="http://schemas.openxmlformats.org/drawingml/2006/main">
              <a:ext uri="{FF2B5EF4-FFF2-40B4-BE49-F238E27FC236}">
                <a16:creationId xmlns:a16="http://schemas.microsoft.com/office/drawing/2014/main" id="{3A86FB0E-BF65-4A79-989F-02AA98C8DA70}"/>
              </a:ext>
            </a:extLst>
          </p:cNvPr>
          <p:cNvSpPr>
            <a:spLocks xmlns:a="http://schemas.openxmlformats.org/drawingml/2006/main" noGrp="1"/>
          </p:cNvSpPr>
          <p:nvPr/>
        </p:nvSpPr>
        <p:spPr>
          <a:xfrm xmlns:a="http://schemas.openxmlformats.org/drawingml/2006/main">
            <a:off x="804672" y="4991481"/>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2" name="Text 29">
            <a:extLst xmlns:a="http://schemas.openxmlformats.org/drawingml/2006/main">
              <a:ext uri="{FF2B5EF4-FFF2-40B4-BE49-F238E27FC236}">
                <a16:creationId xmlns:a16="http://schemas.microsoft.com/office/drawing/2014/main" id="{0DDDA67A-EFFE-4FF2-9541-95A1F5DF0804}"/>
              </a:ext>
            </a:extLst>
          </p:cNvPr>
          <p:cNvSpPr>
            <a:spLocks xmlns:a="http://schemas.openxmlformats.org/drawingml/2006/main" noGrp="1"/>
          </p:cNvSpPr>
          <p:nvPr/>
        </p:nvSpPr>
        <p:spPr>
          <a:xfrm xmlns:a="http://schemas.openxmlformats.org/drawingml/2006/main">
            <a:off x="1024128" y="4901184"/>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Evidence checks and approval reduce errors; they cannot prove truth.</a:t>
            </a:r>
            <a:endParaRPr sz="1350"/>
          </a:p>
        </p:txBody>
      </p:sp>
      <p:sp>
        <p:nvSpPr>
          <p:cNvPr id="33" name="Shape 30">
            <a:extLst xmlns:a="http://schemas.openxmlformats.org/drawingml/2006/main">
              <a:ext uri="{FF2B5EF4-FFF2-40B4-BE49-F238E27FC236}">
                <a16:creationId xmlns:a16="http://schemas.microsoft.com/office/drawing/2014/main" id="{1C319E7A-0718-4C60-9548-DA00FB1E5A9E}"/>
              </a:ext>
            </a:extLst>
          </p:cNvPr>
          <p:cNvSpPr>
            <a:spLocks xmlns:a="http://schemas.openxmlformats.org/drawingml/2006/main" noGrp="1"/>
          </p:cNvSpPr>
          <p:nvPr/>
        </p:nvSpPr>
        <p:spPr>
          <a:xfrm xmlns:a="http://schemas.openxmlformats.org/drawingml/2006/main">
            <a:off x="804672" y="550354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4" name="Text 31">
            <a:extLst xmlns:a="http://schemas.openxmlformats.org/drawingml/2006/main">
              <a:ext uri="{FF2B5EF4-FFF2-40B4-BE49-F238E27FC236}">
                <a16:creationId xmlns:a16="http://schemas.microsoft.com/office/drawing/2014/main" id="{598A9A05-1007-43AF-BC20-95429CFEE486}"/>
              </a:ext>
            </a:extLst>
          </p:cNvPr>
          <p:cNvSpPr>
            <a:spLocks xmlns:a="http://schemas.openxmlformats.org/drawingml/2006/main" noGrp="1"/>
          </p:cNvSpPr>
          <p:nvPr/>
        </p:nvSpPr>
        <p:spPr>
          <a:xfrm xmlns:a="http://schemas.openxmlformats.org/drawingml/2006/main">
            <a:off x="1024128" y="5413248"/>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Count corrections per draft and investigate every invented fact.</a:t>
            </a:r>
            <a:endParaRPr sz="1350"/>
          </a:p>
        </p:txBody>
      </p:sp>
      <p:sp>
        <p:nvSpPr>
          <p:cNvPr id="35" name="Shape 32">
            <a:extLst xmlns:a="http://schemas.openxmlformats.org/drawingml/2006/main">
              <a:ext uri="{FF2B5EF4-FFF2-40B4-BE49-F238E27FC236}">
                <a16:creationId xmlns:a16="http://schemas.microsoft.com/office/drawing/2014/main" id="{4A3835B2-73FD-4E0F-801C-21D7243B2629}"/>
              </a:ext>
            </a:extLst>
          </p:cNvPr>
          <p:cNvSpPr>
            <a:spLocks xmlns:a="http://schemas.openxmlformats.org/drawingml/2006/main" noGrp="1"/>
          </p:cNvSpPr>
          <p:nvPr/>
        </p:nvSpPr>
        <p:spPr>
          <a:xfrm xmlns:a="http://schemas.openxmlformats.org/drawingml/2006/main">
            <a:off x="6210148" y="3931920"/>
            <a:ext cx="5432908" cy="2121408"/>
          </a:xfrm>
          <a:prstGeom xmlns:a="http://schemas.openxmlformats.org/drawingml/2006/main" prst="roundRect">
            <a:avLst>
              <a:gd name="adj" fmla="val 3448"/>
            </a:avLst>
          </a:prstGeom>
          <a:solidFill xmlns:a="http://schemas.openxmlformats.org/drawingml/2006/main">
            <a:srgbClr val="F3F6FB"/>
          </a:solidFill>
          <a:ln xmlns:a="http://schemas.openxmlformats.org/drawingml/2006/main" w="9525">
            <a:solidFill>
              <a:srgbClr val="C9D6E8"/>
            </a:solidFill>
            <a:prstDash val="solid"/>
          </a:ln>
        </p:spPr>
      </p:sp>
      <p:sp>
        <p:nvSpPr>
          <p:cNvPr id="36" name="Shape 33">
            <a:extLst xmlns:a="http://schemas.openxmlformats.org/drawingml/2006/main">
              <a:ext uri="{FF2B5EF4-FFF2-40B4-BE49-F238E27FC236}">
                <a16:creationId xmlns:a16="http://schemas.microsoft.com/office/drawing/2014/main" id="{CC770B21-775F-4EF6-9C3C-1AE2C2B49190}"/>
              </a:ext>
            </a:extLst>
          </p:cNvPr>
          <p:cNvSpPr>
            <a:spLocks xmlns:a="http://schemas.openxmlformats.org/drawingml/2006/main" noGrp="1"/>
          </p:cNvSpPr>
          <p:nvPr/>
        </p:nvSpPr>
        <p:spPr>
          <a:xfrm xmlns:a="http://schemas.openxmlformats.org/drawingml/2006/main">
            <a:off x="6210148" y="3931920"/>
            <a:ext cx="5432908" cy="512064"/>
          </a:xfrm>
          <a:prstGeom xmlns:a="http://schemas.openxmlformats.org/drawingml/2006/main" prst="roundRect">
            <a:avLst>
              <a:gd name="adj" fmla="val 14286"/>
            </a:avLst>
          </a:prstGeom>
          <a:solidFill xmlns:a="http://schemas.openxmlformats.org/drawingml/2006/main">
            <a:srgbClr val="FDECEC"/>
          </a:solidFill>
          <a:ln xmlns:a="http://schemas.openxmlformats.org/drawingml/2006/main" w="12700">
            <a:solidFill>
              <a:srgbClr val="FDECEC"/>
            </a:solidFill>
            <a:prstDash val="solid"/>
          </a:ln>
        </p:spPr>
      </p:sp>
      <p:sp>
        <p:nvSpPr>
          <p:cNvPr id="37" name="Text 34">
            <a:extLst xmlns:a="http://schemas.openxmlformats.org/drawingml/2006/main">
              <a:ext uri="{FF2B5EF4-FFF2-40B4-BE49-F238E27FC236}">
                <a16:creationId xmlns:a16="http://schemas.microsoft.com/office/drawing/2014/main" id="{DA1EDAE3-C6C1-4A68-8ECE-BDAF2B025C82}"/>
              </a:ext>
            </a:extLst>
          </p:cNvPr>
          <p:cNvSpPr>
            <a:spLocks xmlns:a="http://schemas.openxmlformats.org/drawingml/2006/main" noGrp="1"/>
          </p:cNvSpPr>
          <p:nvPr/>
        </p:nvSpPr>
        <p:spPr>
          <a:xfrm xmlns:a="http://schemas.openxmlformats.org/drawingml/2006/main">
            <a:off x="6466180" y="4073652"/>
            <a:ext cx="49208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B42318"/>
                </a:solidFill>
                <a:latin typeface="Helvetica Neue"/>
                <a:ea typeface="Helvetica Neue"/>
                <a:cs typeface="Helvetica Neue"/>
              </a:rPr>
              <a:t>The first session may be too long to finish.</a:t>
            </a:r>
            <a:endParaRPr sz="1450"/>
          </a:p>
        </p:txBody>
      </p:sp>
      <p:sp>
        <p:nvSpPr>
          <p:cNvPr id="38" name="Text 35">
            <a:extLst xmlns:a="http://schemas.openxmlformats.org/drawingml/2006/main">
              <a:ext uri="{FF2B5EF4-FFF2-40B4-BE49-F238E27FC236}">
                <a16:creationId xmlns:a16="http://schemas.microsoft.com/office/drawing/2014/main" id="{05867C0A-5ED5-4D45-AC02-7DDC52906210}"/>
              </a:ext>
            </a:extLst>
          </p:cNvPr>
          <p:cNvSpPr>
            <a:spLocks xmlns:a="http://schemas.openxmlformats.org/drawingml/2006/main" noGrp="1"/>
          </p:cNvSpPr>
          <p:nvPr/>
        </p:nvSpPr>
        <p:spPr>
          <a:xfrm xmlns:a="http://schemas.openxmlformats.org/drawingml/2006/main">
            <a:off x="6466180" y="4608576"/>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EFFORT</a:t>
            </a:r>
            <a:endParaRPr sz="1100"/>
          </a:p>
        </p:txBody>
      </p:sp>
      <p:sp>
        <p:nvSpPr>
          <p:cNvPr id="39" name="Shape 36">
            <a:extLst xmlns:a="http://schemas.openxmlformats.org/drawingml/2006/main">
              <a:ext uri="{FF2B5EF4-FFF2-40B4-BE49-F238E27FC236}">
                <a16:creationId xmlns:a16="http://schemas.microsoft.com/office/drawing/2014/main" id="{0547AA4A-04CF-4161-918B-0B2A07C7616C}"/>
              </a:ext>
            </a:extLst>
          </p:cNvPr>
          <p:cNvSpPr>
            <a:spLocks xmlns:a="http://schemas.openxmlformats.org/drawingml/2006/main" noGrp="1"/>
          </p:cNvSpPr>
          <p:nvPr/>
        </p:nvSpPr>
        <p:spPr>
          <a:xfrm xmlns:a="http://schemas.openxmlformats.org/drawingml/2006/main">
            <a:off x="6466180" y="4991481"/>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0" name="Text 37">
            <a:extLst xmlns:a="http://schemas.openxmlformats.org/drawingml/2006/main">
              <a:ext uri="{FF2B5EF4-FFF2-40B4-BE49-F238E27FC236}">
                <a16:creationId xmlns:a16="http://schemas.microsoft.com/office/drawing/2014/main" id="{EEA6D915-0086-42C3-8099-5C6F546F2880}"/>
              </a:ext>
            </a:extLst>
          </p:cNvPr>
          <p:cNvSpPr>
            <a:spLocks xmlns:a="http://schemas.openxmlformats.org/drawingml/2006/main" noGrp="1"/>
          </p:cNvSpPr>
          <p:nvPr/>
        </p:nvSpPr>
        <p:spPr>
          <a:xfrm xmlns:a="http://schemas.openxmlformats.org/drawingml/2006/main">
            <a:off x="6685636" y="4901184"/>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Measure time to a first approved resume.</a:t>
            </a:r>
            <a:endParaRPr sz="1350"/>
          </a:p>
        </p:txBody>
      </p:sp>
      <p:sp>
        <p:nvSpPr>
          <p:cNvPr id="41" name="Shape 38">
            <a:extLst xmlns:a="http://schemas.openxmlformats.org/drawingml/2006/main">
              <a:ext uri="{FF2B5EF4-FFF2-40B4-BE49-F238E27FC236}">
                <a16:creationId xmlns:a16="http://schemas.microsoft.com/office/drawing/2014/main" id="{07347C75-02B8-4372-AFDA-47CBFB00BF7A}"/>
              </a:ext>
            </a:extLst>
          </p:cNvPr>
          <p:cNvSpPr>
            <a:spLocks xmlns:a="http://schemas.openxmlformats.org/drawingml/2006/main" noGrp="1"/>
          </p:cNvSpPr>
          <p:nvPr/>
        </p:nvSpPr>
        <p:spPr>
          <a:xfrm xmlns:a="http://schemas.openxmlformats.org/drawingml/2006/main">
            <a:off x="6466180" y="550354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2" name="Text 39">
            <a:extLst xmlns:a="http://schemas.openxmlformats.org/drawingml/2006/main">
              <a:ext uri="{FF2B5EF4-FFF2-40B4-BE49-F238E27FC236}">
                <a16:creationId xmlns:a16="http://schemas.microsoft.com/office/drawing/2014/main" id="{CACAB9DE-CB01-4470-A290-6FA7919F7236}"/>
              </a:ext>
            </a:extLst>
          </p:cNvPr>
          <p:cNvSpPr>
            <a:spLocks xmlns:a="http://schemas.openxmlformats.org/drawingml/2006/main" noGrp="1"/>
          </p:cNvSpPr>
          <p:nvPr/>
        </p:nvSpPr>
        <p:spPr>
          <a:xfrm xmlns:a="http://schemas.openxmlformats.org/drawingml/2006/main">
            <a:off x="6685636" y="5413248"/>
            <a:ext cx="4701388"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Review friction after three participants and shorten the first-use path.</a:t>
            </a:r>
            <a:endParaRPr sz="1350"/>
          </a:p>
        </p:txBody>
      </p:sp>
    </p:spTree>
    <p:extLst>
      <p:ext uri="{BB962C8B-B14F-4D97-AF65-F5344CB8AC3E}">
        <p14:creationId xmlns:p14="http://schemas.microsoft.com/office/powerpoint/2010/main" val="621885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E89DCF9B-5A65-4202-AC1D-14F2AEC17908}"/>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C2410C"/>
                </a:solidFill>
                <a:latin typeface="Helvetica Neue"/>
                <a:ea typeface="Helvetica Neue"/>
                <a:cs typeface="Helvetica Neue"/>
              </a:rPr>
              <a:t>PART 3 · HOW TO PILOT AND SELL IT</a:t>
            </a:r>
            <a:endParaRPr sz="1100"/>
          </a:p>
        </p:txBody>
      </p:sp>
      <p:sp>
        <p:nvSpPr>
          <p:cNvPr id="4" name="Shape 1">
            <a:extLst xmlns:a="http://schemas.openxmlformats.org/drawingml/2006/main">
              <a:ext uri="{FF2B5EF4-FFF2-40B4-BE49-F238E27FC236}">
                <a16:creationId xmlns:a16="http://schemas.microsoft.com/office/drawing/2014/main" id="{0CBC973C-82FC-438E-AF86-E9B0FAD5EB42}"/>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12700">
            <a:solidFill>
              <a:srgbClr val="C2410C"/>
            </a:solidFill>
            <a:prstDash val="solid"/>
          </a:ln>
        </p:spPr>
      </p:sp>
      <p:sp>
        <p:nvSpPr>
          <p:cNvPr id="5" name="Text 2">
            <a:extLst xmlns:a="http://schemas.openxmlformats.org/drawingml/2006/main">
              <a:ext uri="{FF2B5EF4-FFF2-40B4-BE49-F238E27FC236}">
                <a16:creationId xmlns:a16="http://schemas.microsoft.com/office/drawing/2014/main" id="{79F7AAF8-77CC-426B-B8F4-A58C61C1B169}"/>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BA33EBDD-C435-42FB-A2ED-0A70643A5168}"/>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first customer experiment</a:t>
            </a:r>
            <a:endParaRPr sz="3000"/>
          </a:p>
        </p:txBody>
      </p:sp>
      <p:sp>
        <p:nvSpPr>
          <p:cNvPr id="7" name="Text 4">
            <a:extLst xmlns:a="http://schemas.openxmlformats.org/drawingml/2006/main">
              <a:ext uri="{FF2B5EF4-FFF2-40B4-BE49-F238E27FC236}">
                <a16:creationId xmlns:a16="http://schemas.microsoft.com/office/drawing/2014/main" id="{B89CA85F-D62F-421A-A582-22DA2A5FB324}"/>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Proposed pilot: recruit 8–12 active job seekers in operations and coordinator roles.</a:t>
            </a:r>
            <a:endParaRPr sz="1500"/>
          </a:p>
        </p:txBody>
      </p:sp>
      <p:sp>
        <p:nvSpPr>
          <p:cNvPr id="8" name="Shape 5">
            <a:extLst xmlns:a="http://schemas.openxmlformats.org/drawingml/2006/main">
              <a:ext uri="{FF2B5EF4-FFF2-40B4-BE49-F238E27FC236}">
                <a16:creationId xmlns:a16="http://schemas.microsoft.com/office/drawing/2014/main" id="{F7EB945A-624D-4B45-9D64-DB5D0BFB7A50}"/>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4DB9A678-D456-48FD-83D2-47AD6EF2E341}"/>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8B5EF7D3-F80C-446A-B22D-599AC06A24A0}"/>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25 / 29</a:t>
            </a:r>
            <a:endParaRPr sz="900"/>
          </a:p>
        </p:txBody>
      </p:sp>
      <p:sp>
        <p:nvSpPr>
          <p:cNvPr id="11" name="Shape 8">
            <a:extLst xmlns:a="http://schemas.openxmlformats.org/drawingml/2006/main">
              <a:ext uri="{FF2B5EF4-FFF2-40B4-BE49-F238E27FC236}">
                <a16:creationId xmlns:a16="http://schemas.microsoft.com/office/drawing/2014/main" id="{1D3C4425-6CB3-4AAE-A52B-19CCCD605AF3}"/>
              </a:ext>
            </a:extLst>
          </p:cNvPr>
          <p:cNvSpPr>
            <a:spLocks xmlns:a="http://schemas.openxmlformats.org/drawingml/2006/main" noGrp="1"/>
          </p:cNvSpPr>
          <p:nvPr/>
        </p:nvSpPr>
        <p:spPr>
          <a:xfrm xmlns:a="http://schemas.openxmlformats.org/drawingml/2006/main">
            <a:off x="548640" y="2011680"/>
            <a:ext cx="2279828" cy="1828800"/>
          </a:xfrm>
          <a:prstGeom xmlns:a="http://schemas.openxmlformats.org/drawingml/2006/main" prst="roundRect">
            <a:avLst>
              <a:gd name="adj" fmla="val 4000"/>
            </a:avLst>
          </a:prstGeom>
          <a:solidFill xmlns:a="http://schemas.openxmlformats.org/drawingml/2006/main">
            <a:srgbClr val="C2410C"/>
          </a:solidFill>
          <a:ln xmlns:a="http://schemas.openxmlformats.org/drawingml/2006/main" w="15875">
            <a:solidFill>
              <a:srgbClr val="C2410C"/>
            </a:solidFill>
            <a:prstDash val="solid"/>
          </a:ln>
        </p:spPr>
      </p:sp>
      <p:sp>
        <p:nvSpPr>
          <p:cNvPr id="12" name="Text 9">
            <a:extLst xmlns:a="http://schemas.openxmlformats.org/drawingml/2006/main">
              <a:ext uri="{FF2B5EF4-FFF2-40B4-BE49-F238E27FC236}">
                <a16:creationId xmlns:a16="http://schemas.microsoft.com/office/drawing/2014/main" id="{69A675B2-9E8D-44B3-AC3D-7F320B5FBCC0}"/>
              </a:ext>
            </a:extLst>
          </p:cNvPr>
          <p:cNvSpPr>
            <a:spLocks xmlns:a="http://schemas.openxmlformats.org/drawingml/2006/main" noGrp="1"/>
          </p:cNvSpPr>
          <p:nvPr/>
        </p:nvSpPr>
        <p:spPr>
          <a:xfrm xmlns:a="http://schemas.openxmlformats.org/drawingml/2006/main">
            <a:off x="676656" y="2258568"/>
            <a:ext cx="2023796" cy="1453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Helvetica Neue"/>
                <a:ea typeface="Helvetica Neue"/>
                <a:cs typeface="Helvetica Neue"/>
              </a:rPr>
              <a:t>Recruit</a:t>
            </a:r>
            <a:endParaRPr sz="1700"/>
          </a:p>
          <a:p xmlns:a="http://schemas.openxmlformats.org/drawingml/2006/main">
            <a:pPr marL="0" indent="0" algn="ctr">
              <a:spcBef>
                <a:spcPts val="500"/>
              </a:spcBef>
              <a:buNone/>
            </a:pPr>
            <a:r>
              <a:rPr sz="1200">
                <a:solidFill>
                  <a:srgbClr val="E7F0FA"/>
                </a:solidFill>
                <a:latin typeface="Helvetica Neue"/>
                <a:ea typeface="Helvetica Neue"/>
                <a:cs typeface="Helvetica Neue"/>
              </a:rPr>
              <a:t>Use founder relationships and invited career-coach referrals.</a:t>
            </a:r>
            <a:endParaRPr sz="1700"/>
          </a:p>
        </p:txBody>
      </p:sp>
      <p:sp>
        <p:nvSpPr>
          <p:cNvPr id="13" name="Shape 10">
            <a:extLst xmlns:a="http://schemas.openxmlformats.org/drawingml/2006/main">
              <a:ext uri="{FF2B5EF4-FFF2-40B4-BE49-F238E27FC236}">
                <a16:creationId xmlns:a16="http://schemas.microsoft.com/office/drawing/2014/main" id="{3C62C56D-3EC7-40EA-8498-42526DF88718}"/>
              </a:ext>
            </a:extLst>
          </p:cNvPr>
          <p:cNvSpPr>
            <a:spLocks xmlns:a="http://schemas.openxmlformats.org/drawingml/2006/main" noGrp="1"/>
          </p:cNvSpPr>
          <p:nvPr/>
        </p:nvSpPr>
        <p:spPr>
          <a:xfrm xmlns:a="http://schemas.openxmlformats.org/drawingml/2006/main">
            <a:off x="1514818" y="1837944"/>
            <a:ext cx="347472" cy="347472"/>
          </a:xfrm>
          <a:prstGeom xmlns:a="http://schemas.openxmlformats.org/drawingml/2006/main" prst="ellipse">
            <a:avLst/>
          </a:prstGeom>
          <a:solidFill xmlns:a="http://schemas.openxmlformats.org/drawingml/2006/main">
            <a:srgbClr val="C2410C"/>
          </a:solidFill>
          <a:ln xmlns:a="http://schemas.openxmlformats.org/drawingml/2006/main" w="19050">
            <a:solidFill>
              <a:srgbClr val="FFFFFF"/>
            </a:solidFill>
            <a:prstDash val="solid"/>
          </a:ln>
        </p:spPr>
      </p:sp>
      <p:sp>
        <p:nvSpPr>
          <p:cNvPr id="14" name="Text 11">
            <a:extLst xmlns:a="http://schemas.openxmlformats.org/drawingml/2006/main">
              <a:ext uri="{FF2B5EF4-FFF2-40B4-BE49-F238E27FC236}">
                <a16:creationId xmlns:a16="http://schemas.microsoft.com/office/drawing/2014/main" id="{8C578974-C847-4DE3-BB9E-0D99511D719E}"/>
              </a:ext>
            </a:extLst>
          </p:cNvPr>
          <p:cNvSpPr>
            <a:spLocks xmlns:a="http://schemas.openxmlformats.org/drawingml/2006/main" noGrp="1"/>
          </p:cNvSpPr>
          <p:nvPr/>
        </p:nvSpPr>
        <p:spPr>
          <a:xfrm xmlns:a="http://schemas.openxmlformats.org/drawingml/2006/main">
            <a:off x="1514818" y="191643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01</a:t>
            </a:r>
            <a:endParaRPr sz="1200"/>
          </a:p>
        </p:txBody>
      </p:sp>
      <p:sp>
        <p:nvSpPr>
          <p:cNvPr id="15" name="Shape 12">
            <a:extLst xmlns:a="http://schemas.openxmlformats.org/drawingml/2006/main">
              <a:ext uri="{FF2B5EF4-FFF2-40B4-BE49-F238E27FC236}">
                <a16:creationId xmlns:a16="http://schemas.microsoft.com/office/drawing/2014/main" id="{98B592C6-F53D-41AA-8E5E-F1BE77056EC7}"/>
              </a:ext>
            </a:extLst>
          </p:cNvPr>
          <p:cNvSpPr>
            <a:spLocks xmlns:a="http://schemas.openxmlformats.org/drawingml/2006/main" noGrp="1"/>
          </p:cNvSpPr>
          <p:nvPr/>
        </p:nvSpPr>
        <p:spPr>
          <a:xfrm xmlns:a="http://schemas.openxmlformats.org/drawingml/2006/main">
            <a:off x="2874188" y="2926080"/>
            <a:ext cx="56692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16" name="Shape 13">
            <a:extLst xmlns:a="http://schemas.openxmlformats.org/drawingml/2006/main">
              <a:ext uri="{FF2B5EF4-FFF2-40B4-BE49-F238E27FC236}">
                <a16:creationId xmlns:a16="http://schemas.microsoft.com/office/drawing/2014/main" id="{5260CE65-573C-4F3D-B4B4-5307659CC648}"/>
              </a:ext>
            </a:extLst>
          </p:cNvPr>
          <p:cNvSpPr>
            <a:spLocks xmlns:a="http://schemas.openxmlformats.org/drawingml/2006/main" noGrp="1"/>
          </p:cNvSpPr>
          <p:nvPr/>
        </p:nvSpPr>
        <p:spPr>
          <a:xfrm xmlns:a="http://schemas.openxmlformats.org/drawingml/2006/main">
            <a:off x="3486836" y="2011680"/>
            <a:ext cx="2279828" cy="1828800"/>
          </a:xfrm>
          <a:prstGeom xmlns:a="http://schemas.openxmlformats.org/drawingml/2006/main" prst="roundRect">
            <a:avLst>
              <a:gd name="adj" fmla="val 4000"/>
            </a:avLst>
          </a:prstGeom>
          <a:solidFill xmlns:a="http://schemas.openxmlformats.org/drawingml/2006/main">
            <a:srgbClr val="F3F6FB"/>
          </a:solidFill>
          <a:ln xmlns:a="http://schemas.openxmlformats.org/drawingml/2006/main" w="15875">
            <a:solidFill>
              <a:srgbClr val="C2410C"/>
            </a:solidFill>
            <a:prstDash val="solid"/>
          </a:ln>
        </p:spPr>
      </p:sp>
      <p:sp>
        <p:nvSpPr>
          <p:cNvPr id="17" name="Text 14">
            <a:extLst xmlns:a="http://schemas.openxmlformats.org/drawingml/2006/main">
              <a:ext uri="{FF2B5EF4-FFF2-40B4-BE49-F238E27FC236}">
                <a16:creationId xmlns:a16="http://schemas.microsoft.com/office/drawing/2014/main" id="{57358C12-59C4-4650-BD90-681F1FC18AFF}"/>
              </a:ext>
            </a:extLst>
          </p:cNvPr>
          <p:cNvSpPr>
            <a:spLocks xmlns:a="http://schemas.openxmlformats.org/drawingml/2006/main" noGrp="1"/>
          </p:cNvSpPr>
          <p:nvPr/>
        </p:nvSpPr>
        <p:spPr>
          <a:xfrm xmlns:a="http://schemas.openxmlformats.org/drawingml/2006/main">
            <a:off x="3614852" y="2258568"/>
            <a:ext cx="2023796" cy="1453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B2545"/>
                </a:solidFill>
                <a:latin typeface="Helvetica Neue"/>
                <a:ea typeface="Helvetica Neue"/>
                <a:cs typeface="Helvetica Neue"/>
              </a:rPr>
              <a:t>Observe</a:t>
            </a:r>
            <a:endParaRPr sz="1700"/>
          </a:p>
          <a:p xmlns:a="http://schemas.openxmlformats.org/drawingml/2006/main">
            <a:pPr marL="0" indent="0" algn="ctr">
              <a:spcBef>
                <a:spcPts val="500"/>
              </a:spcBef>
              <a:buNone/>
            </a:pPr>
            <a:r>
              <a:rPr sz="1200">
                <a:solidFill>
                  <a:srgbClr val="52677F"/>
                </a:solidFill>
                <a:latin typeface="Helvetica Neue"/>
                <a:ea typeface="Helvetica Neue"/>
                <a:cs typeface="Helvetica Neue"/>
              </a:rPr>
              <a:t>Watch one resume review, one skills interview and one saved opportunity.</a:t>
            </a:r>
            <a:endParaRPr sz="1700"/>
          </a:p>
        </p:txBody>
      </p:sp>
      <p:sp>
        <p:nvSpPr>
          <p:cNvPr id="18" name="Shape 15">
            <a:extLst xmlns:a="http://schemas.openxmlformats.org/drawingml/2006/main">
              <a:ext uri="{FF2B5EF4-FFF2-40B4-BE49-F238E27FC236}">
                <a16:creationId xmlns:a16="http://schemas.microsoft.com/office/drawing/2014/main" id="{2A0DADB4-0089-4A69-880A-AB671895C0FC}"/>
              </a:ext>
            </a:extLst>
          </p:cNvPr>
          <p:cNvSpPr>
            <a:spLocks xmlns:a="http://schemas.openxmlformats.org/drawingml/2006/main" noGrp="1"/>
          </p:cNvSpPr>
          <p:nvPr/>
        </p:nvSpPr>
        <p:spPr>
          <a:xfrm xmlns:a="http://schemas.openxmlformats.org/drawingml/2006/main">
            <a:off x="4453014" y="1837944"/>
            <a:ext cx="347472" cy="347472"/>
          </a:xfrm>
          <a:prstGeom xmlns:a="http://schemas.openxmlformats.org/drawingml/2006/main" prst="ellipse">
            <a:avLst/>
          </a:prstGeom>
          <a:solidFill xmlns:a="http://schemas.openxmlformats.org/drawingml/2006/main">
            <a:srgbClr val="C2410C"/>
          </a:solidFill>
          <a:ln xmlns:a="http://schemas.openxmlformats.org/drawingml/2006/main" w="1905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4FB17C96-63FD-4C2C-BE00-1EF502856E92}"/>
              </a:ext>
            </a:extLst>
          </p:cNvPr>
          <p:cNvSpPr>
            <a:spLocks xmlns:a="http://schemas.openxmlformats.org/drawingml/2006/main" noGrp="1"/>
          </p:cNvSpPr>
          <p:nvPr/>
        </p:nvSpPr>
        <p:spPr>
          <a:xfrm xmlns:a="http://schemas.openxmlformats.org/drawingml/2006/main">
            <a:off x="4453014" y="191643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02</a:t>
            </a:r>
            <a:endParaRPr sz="1200"/>
          </a:p>
        </p:txBody>
      </p:sp>
      <p:sp>
        <p:nvSpPr>
          <p:cNvPr id="20" name="Shape 17">
            <a:extLst xmlns:a="http://schemas.openxmlformats.org/drawingml/2006/main">
              <a:ext uri="{FF2B5EF4-FFF2-40B4-BE49-F238E27FC236}">
                <a16:creationId xmlns:a16="http://schemas.microsoft.com/office/drawing/2014/main" id="{26E34D3B-B4B3-444A-B4B6-9678DD7ABED3}"/>
              </a:ext>
            </a:extLst>
          </p:cNvPr>
          <p:cNvSpPr>
            <a:spLocks xmlns:a="http://schemas.openxmlformats.org/drawingml/2006/main" noGrp="1"/>
          </p:cNvSpPr>
          <p:nvPr/>
        </p:nvSpPr>
        <p:spPr>
          <a:xfrm xmlns:a="http://schemas.openxmlformats.org/drawingml/2006/main">
            <a:off x="5812384" y="2926080"/>
            <a:ext cx="56692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1" name="Shape 18">
            <a:extLst xmlns:a="http://schemas.openxmlformats.org/drawingml/2006/main">
              <a:ext uri="{FF2B5EF4-FFF2-40B4-BE49-F238E27FC236}">
                <a16:creationId xmlns:a16="http://schemas.microsoft.com/office/drawing/2014/main" id="{64583F82-175A-44E8-9F8B-F832AD25C4C7}"/>
              </a:ext>
            </a:extLst>
          </p:cNvPr>
          <p:cNvSpPr>
            <a:spLocks xmlns:a="http://schemas.openxmlformats.org/drawingml/2006/main" noGrp="1"/>
          </p:cNvSpPr>
          <p:nvPr/>
        </p:nvSpPr>
        <p:spPr>
          <a:xfrm xmlns:a="http://schemas.openxmlformats.org/drawingml/2006/main">
            <a:off x="6425032" y="2011680"/>
            <a:ext cx="2279828" cy="1828800"/>
          </a:xfrm>
          <a:prstGeom xmlns:a="http://schemas.openxmlformats.org/drawingml/2006/main" prst="roundRect">
            <a:avLst>
              <a:gd name="adj" fmla="val 4000"/>
            </a:avLst>
          </a:prstGeom>
          <a:solidFill xmlns:a="http://schemas.openxmlformats.org/drawingml/2006/main">
            <a:srgbClr val="F3F6FB"/>
          </a:solidFill>
          <a:ln xmlns:a="http://schemas.openxmlformats.org/drawingml/2006/main" w="15875">
            <a:solidFill>
              <a:srgbClr val="C2410C"/>
            </a:solidFill>
            <a:prstDash val="solid"/>
          </a:ln>
        </p:spPr>
      </p:sp>
      <p:sp>
        <p:nvSpPr>
          <p:cNvPr id="22" name="Text 19">
            <a:extLst xmlns:a="http://schemas.openxmlformats.org/drawingml/2006/main">
              <a:ext uri="{FF2B5EF4-FFF2-40B4-BE49-F238E27FC236}">
                <a16:creationId xmlns:a16="http://schemas.microsoft.com/office/drawing/2014/main" id="{9F5C305E-F548-424C-8503-A62E564D5B07}"/>
              </a:ext>
            </a:extLst>
          </p:cNvPr>
          <p:cNvSpPr>
            <a:spLocks xmlns:a="http://schemas.openxmlformats.org/drawingml/2006/main" noGrp="1"/>
          </p:cNvSpPr>
          <p:nvPr/>
        </p:nvSpPr>
        <p:spPr>
          <a:xfrm xmlns:a="http://schemas.openxmlformats.org/drawingml/2006/main">
            <a:off x="6553048" y="2258568"/>
            <a:ext cx="2023796" cy="1453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B2545"/>
                </a:solidFill>
                <a:latin typeface="Helvetica Neue"/>
                <a:ea typeface="Helvetica Neue"/>
                <a:cs typeface="Helvetica Neue"/>
              </a:rPr>
              <a:t>Learn</a:t>
            </a:r>
            <a:endParaRPr sz="1700"/>
          </a:p>
          <a:p xmlns:a="http://schemas.openxmlformats.org/drawingml/2006/main">
            <a:pPr marL="0" indent="0" algn="ctr">
              <a:spcBef>
                <a:spcPts val="500"/>
              </a:spcBef>
              <a:buNone/>
            </a:pPr>
            <a:r>
              <a:rPr sz="1200">
                <a:solidFill>
                  <a:srgbClr val="52677F"/>
                </a:solidFill>
                <a:latin typeface="Helvetica Neue"/>
                <a:ea typeface="Helvetica Neue"/>
                <a:cs typeface="Helvetica Neue"/>
              </a:rPr>
              <a:t>Ask where the workflow helped, confused or overstated their experience.</a:t>
            </a:r>
            <a:endParaRPr sz="1700"/>
          </a:p>
        </p:txBody>
      </p:sp>
      <p:sp>
        <p:nvSpPr>
          <p:cNvPr id="23" name="Shape 20">
            <a:extLst xmlns:a="http://schemas.openxmlformats.org/drawingml/2006/main">
              <a:ext uri="{FF2B5EF4-FFF2-40B4-BE49-F238E27FC236}">
                <a16:creationId xmlns:a16="http://schemas.microsoft.com/office/drawing/2014/main" id="{34457DFE-B2F3-4E95-94A5-BC1FFCC5C0C7}"/>
              </a:ext>
            </a:extLst>
          </p:cNvPr>
          <p:cNvSpPr>
            <a:spLocks xmlns:a="http://schemas.openxmlformats.org/drawingml/2006/main" noGrp="1"/>
          </p:cNvSpPr>
          <p:nvPr/>
        </p:nvSpPr>
        <p:spPr>
          <a:xfrm xmlns:a="http://schemas.openxmlformats.org/drawingml/2006/main">
            <a:off x="7391210" y="1837944"/>
            <a:ext cx="347472" cy="347472"/>
          </a:xfrm>
          <a:prstGeom xmlns:a="http://schemas.openxmlformats.org/drawingml/2006/main" prst="ellipse">
            <a:avLst/>
          </a:prstGeom>
          <a:solidFill xmlns:a="http://schemas.openxmlformats.org/drawingml/2006/main">
            <a:srgbClr val="C2410C"/>
          </a:solidFill>
          <a:ln xmlns:a="http://schemas.openxmlformats.org/drawingml/2006/main" w="19050">
            <a:solidFill>
              <a:srgbClr val="FFFFFF"/>
            </a:solidFill>
            <a:prstDash val="solid"/>
          </a:ln>
        </p:spPr>
      </p:sp>
      <p:sp>
        <p:nvSpPr>
          <p:cNvPr id="24" name="Text 21">
            <a:extLst xmlns:a="http://schemas.openxmlformats.org/drawingml/2006/main">
              <a:ext uri="{FF2B5EF4-FFF2-40B4-BE49-F238E27FC236}">
                <a16:creationId xmlns:a16="http://schemas.microsoft.com/office/drawing/2014/main" id="{239F73C5-A15A-4018-B706-7724FCC5CD02}"/>
              </a:ext>
            </a:extLst>
          </p:cNvPr>
          <p:cNvSpPr>
            <a:spLocks xmlns:a="http://schemas.openxmlformats.org/drawingml/2006/main" noGrp="1"/>
          </p:cNvSpPr>
          <p:nvPr/>
        </p:nvSpPr>
        <p:spPr>
          <a:xfrm xmlns:a="http://schemas.openxmlformats.org/drawingml/2006/main">
            <a:off x="7391210" y="191643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03</a:t>
            </a:r>
            <a:endParaRPr sz="1200"/>
          </a:p>
        </p:txBody>
      </p:sp>
      <p:sp>
        <p:nvSpPr>
          <p:cNvPr id="25" name="Shape 22">
            <a:extLst xmlns:a="http://schemas.openxmlformats.org/drawingml/2006/main">
              <a:ext uri="{FF2B5EF4-FFF2-40B4-BE49-F238E27FC236}">
                <a16:creationId xmlns:a16="http://schemas.microsoft.com/office/drawing/2014/main" id="{7D11FA11-E199-4783-8396-28F8787EF4A3}"/>
              </a:ext>
            </a:extLst>
          </p:cNvPr>
          <p:cNvSpPr>
            <a:spLocks xmlns:a="http://schemas.openxmlformats.org/drawingml/2006/main" noGrp="1"/>
          </p:cNvSpPr>
          <p:nvPr/>
        </p:nvSpPr>
        <p:spPr>
          <a:xfrm xmlns:a="http://schemas.openxmlformats.org/drawingml/2006/main">
            <a:off x="8750579" y="2926080"/>
            <a:ext cx="56692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6" name="Shape 23">
            <a:extLst xmlns:a="http://schemas.openxmlformats.org/drawingml/2006/main">
              <a:ext uri="{FF2B5EF4-FFF2-40B4-BE49-F238E27FC236}">
                <a16:creationId xmlns:a16="http://schemas.microsoft.com/office/drawing/2014/main" id="{EC8DD127-88A3-40EB-90E7-40C73C3313C3}"/>
              </a:ext>
            </a:extLst>
          </p:cNvPr>
          <p:cNvSpPr>
            <a:spLocks xmlns:a="http://schemas.openxmlformats.org/drawingml/2006/main" noGrp="1"/>
          </p:cNvSpPr>
          <p:nvPr/>
        </p:nvSpPr>
        <p:spPr>
          <a:xfrm xmlns:a="http://schemas.openxmlformats.org/drawingml/2006/main">
            <a:off x="9363227" y="2011680"/>
            <a:ext cx="2279828" cy="1828800"/>
          </a:xfrm>
          <a:prstGeom xmlns:a="http://schemas.openxmlformats.org/drawingml/2006/main" prst="roundRect">
            <a:avLst>
              <a:gd name="adj" fmla="val 4000"/>
            </a:avLst>
          </a:prstGeom>
          <a:solidFill xmlns:a="http://schemas.openxmlformats.org/drawingml/2006/main">
            <a:srgbClr val="0B2545"/>
          </a:solidFill>
          <a:ln xmlns:a="http://schemas.openxmlformats.org/drawingml/2006/main" w="15875">
            <a:solidFill>
              <a:srgbClr val="0B2545"/>
            </a:solidFill>
            <a:prstDash val="solid"/>
          </a:ln>
        </p:spPr>
      </p:sp>
      <p:sp>
        <p:nvSpPr>
          <p:cNvPr id="27" name="Text 24">
            <a:extLst xmlns:a="http://schemas.openxmlformats.org/drawingml/2006/main">
              <a:ext uri="{FF2B5EF4-FFF2-40B4-BE49-F238E27FC236}">
                <a16:creationId xmlns:a16="http://schemas.microsoft.com/office/drawing/2014/main" id="{B2FE4585-6983-482E-B6F7-3915C4F26F09}"/>
              </a:ext>
            </a:extLst>
          </p:cNvPr>
          <p:cNvSpPr>
            <a:spLocks xmlns:a="http://schemas.openxmlformats.org/drawingml/2006/main" noGrp="1"/>
          </p:cNvSpPr>
          <p:nvPr/>
        </p:nvSpPr>
        <p:spPr>
          <a:xfrm xmlns:a="http://schemas.openxmlformats.org/drawingml/2006/main">
            <a:off x="9491243" y="2258568"/>
            <a:ext cx="2023796" cy="1453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Helvetica Neue"/>
                <a:ea typeface="Helvetica Neue"/>
                <a:cs typeface="Helvetica Neue"/>
              </a:rPr>
              <a:t>Decide</a:t>
            </a:r>
            <a:endParaRPr sz="1700"/>
          </a:p>
          <a:p xmlns:a="http://schemas.openxmlformats.org/drawingml/2006/main">
            <a:pPr marL="0" indent="0" algn="ctr">
              <a:spcBef>
                <a:spcPts val="500"/>
              </a:spcBef>
              <a:buNone/>
            </a:pPr>
            <a:r>
              <a:rPr sz="1200">
                <a:solidFill>
                  <a:srgbClr val="C6D5E8"/>
                </a:solidFill>
                <a:latin typeface="Helvetica Neue"/>
                <a:ea typeface="Helvetica Neue"/>
                <a:cs typeface="Helvetica Neue"/>
              </a:rPr>
              <a:t>Revise the product and offer using measured usefulness, effort and cost.</a:t>
            </a:r>
            <a:endParaRPr sz="1700"/>
          </a:p>
        </p:txBody>
      </p:sp>
      <p:sp>
        <p:nvSpPr>
          <p:cNvPr id="28" name="Shape 25">
            <a:extLst xmlns:a="http://schemas.openxmlformats.org/drawingml/2006/main">
              <a:ext uri="{FF2B5EF4-FFF2-40B4-BE49-F238E27FC236}">
                <a16:creationId xmlns:a16="http://schemas.microsoft.com/office/drawing/2014/main" id="{864A0B40-ACBA-4900-9A1A-8977751704F3}"/>
              </a:ext>
            </a:extLst>
          </p:cNvPr>
          <p:cNvSpPr>
            <a:spLocks xmlns:a="http://schemas.openxmlformats.org/drawingml/2006/main" noGrp="1"/>
          </p:cNvSpPr>
          <p:nvPr/>
        </p:nvSpPr>
        <p:spPr>
          <a:xfrm xmlns:a="http://schemas.openxmlformats.org/drawingml/2006/main">
            <a:off x="10329405" y="1837944"/>
            <a:ext cx="347472" cy="347472"/>
          </a:xfrm>
          <a:prstGeom xmlns:a="http://schemas.openxmlformats.org/drawingml/2006/main" prst="ellipse">
            <a:avLst/>
          </a:prstGeom>
          <a:solidFill xmlns:a="http://schemas.openxmlformats.org/drawingml/2006/main">
            <a:srgbClr val="C2410C"/>
          </a:solidFill>
          <a:ln xmlns:a="http://schemas.openxmlformats.org/drawingml/2006/main" w="19050">
            <a:solidFill>
              <a:srgbClr val="FFFFFF"/>
            </a:solidFill>
            <a:prstDash val="solid"/>
          </a:ln>
        </p:spPr>
      </p:sp>
      <p:sp>
        <p:nvSpPr>
          <p:cNvPr id="29" name="Text 26">
            <a:extLst xmlns:a="http://schemas.openxmlformats.org/drawingml/2006/main">
              <a:ext uri="{FF2B5EF4-FFF2-40B4-BE49-F238E27FC236}">
                <a16:creationId xmlns:a16="http://schemas.microsoft.com/office/drawing/2014/main" id="{E6DD38CF-D3AD-431F-B5DD-6F166375EB3B}"/>
              </a:ext>
            </a:extLst>
          </p:cNvPr>
          <p:cNvSpPr>
            <a:spLocks xmlns:a="http://schemas.openxmlformats.org/drawingml/2006/main" noGrp="1"/>
          </p:cNvSpPr>
          <p:nvPr/>
        </p:nvSpPr>
        <p:spPr>
          <a:xfrm xmlns:a="http://schemas.openxmlformats.org/drawingml/2006/main">
            <a:off x="10329405" y="191643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Helvetica Neue"/>
                <a:ea typeface="Helvetica Neue"/>
                <a:cs typeface="Helvetica Neue"/>
              </a:rPr>
              <a:t>04</a:t>
            </a:r>
            <a:endParaRPr sz="1200"/>
          </a:p>
        </p:txBody>
      </p:sp>
      <p:sp>
        <p:nvSpPr>
          <p:cNvPr id="30" name="Shape 27">
            <a:extLst xmlns:a="http://schemas.openxmlformats.org/drawingml/2006/main">
              <a:ext uri="{FF2B5EF4-FFF2-40B4-BE49-F238E27FC236}">
                <a16:creationId xmlns:a16="http://schemas.microsoft.com/office/drawing/2014/main" id="{1084E56D-4B53-4E9C-B680-4B3DD166F49D}"/>
              </a:ext>
            </a:extLst>
          </p:cNvPr>
          <p:cNvSpPr>
            <a:spLocks xmlns:a="http://schemas.openxmlformats.org/drawingml/2006/main" noGrp="1"/>
          </p:cNvSpPr>
          <p:nvPr/>
        </p:nvSpPr>
        <p:spPr>
          <a:xfrm xmlns:a="http://schemas.openxmlformats.org/drawingml/2006/main">
            <a:off x="10503141" y="3840480"/>
            <a:ext cx="0" cy="777240"/>
          </a:xfrm>
          <a:prstGeom xmlns:a="http://schemas.openxmlformats.org/drawingml/2006/main" prst="line">
            <a:avLst/>
          </a:prstGeom>
          <a:noFill xmlns:a="http://schemas.openxmlformats.org/drawingml/2006/main"/>
          <a:ln xmlns:a="http://schemas.openxmlformats.org/drawingml/2006/main" w="28575">
            <a:solidFill>
              <a:srgbClr val="C2410C"/>
            </a:solidFill>
            <a:prstDash val="solid"/>
          </a:ln>
        </p:spPr>
      </p:sp>
      <p:sp>
        <p:nvSpPr>
          <p:cNvPr id="31" name="Shape 28">
            <a:extLst xmlns:a="http://schemas.openxmlformats.org/drawingml/2006/main">
              <a:ext uri="{FF2B5EF4-FFF2-40B4-BE49-F238E27FC236}">
                <a16:creationId xmlns:a16="http://schemas.microsoft.com/office/drawing/2014/main" id="{8FCF1FF5-5F59-4474-93D5-C901B521B194}"/>
              </a:ext>
            </a:extLst>
          </p:cNvPr>
          <p:cNvSpPr>
            <a:spLocks xmlns:a="http://schemas.openxmlformats.org/drawingml/2006/main" noGrp="1"/>
          </p:cNvSpPr>
          <p:nvPr/>
        </p:nvSpPr>
        <p:spPr>
          <a:xfrm xmlns:a="http://schemas.openxmlformats.org/drawingml/2006/main" flipH="1">
            <a:off x="1688554" y="4617720"/>
            <a:ext cx="8814587" cy="0"/>
          </a:xfrm>
          <a:prstGeom xmlns:a="http://schemas.openxmlformats.org/drawingml/2006/main" prst="line">
            <a:avLst/>
          </a:prstGeom>
          <a:noFill xmlns:a="http://schemas.openxmlformats.org/drawingml/2006/main"/>
          <a:ln xmlns:a="http://schemas.openxmlformats.org/drawingml/2006/main" w="28575">
            <a:solidFill>
              <a:srgbClr val="C2410C"/>
            </a:solidFill>
            <a:prstDash val="solid"/>
          </a:ln>
        </p:spPr>
      </p:sp>
      <p:sp>
        <p:nvSpPr>
          <p:cNvPr id="32" name="Shape 29">
            <a:extLst xmlns:a="http://schemas.openxmlformats.org/drawingml/2006/main">
              <a:ext uri="{FF2B5EF4-FFF2-40B4-BE49-F238E27FC236}">
                <a16:creationId xmlns:a16="http://schemas.microsoft.com/office/drawing/2014/main" id="{84588264-39C5-425C-BA77-B0CB81672C40}"/>
              </a:ext>
            </a:extLst>
          </p:cNvPr>
          <p:cNvSpPr>
            <a:spLocks xmlns:a="http://schemas.openxmlformats.org/drawingml/2006/main" noGrp="1"/>
          </p:cNvSpPr>
          <p:nvPr/>
        </p:nvSpPr>
        <p:spPr>
          <a:xfrm xmlns:a="http://schemas.openxmlformats.org/drawingml/2006/main" flipV="1">
            <a:off x="1688554" y="3877056"/>
            <a:ext cx="0" cy="740664"/>
          </a:xfrm>
          <a:prstGeom xmlns:a="http://schemas.openxmlformats.org/drawingml/2006/main" prst="line">
            <a:avLst/>
          </a:prstGeom>
          <a:noFill xmlns:a="http://schemas.openxmlformats.org/drawingml/2006/main"/>
          <a:ln xmlns:a="http://schemas.openxmlformats.org/drawingml/2006/main" w="28575">
            <a:solidFill>
              <a:srgbClr val="C2410C"/>
            </a:solidFill>
            <a:prstDash val="solid"/>
            <a:tailEnd type="triangle"/>
          </a:ln>
        </p:spPr>
      </p:sp>
      <p:sp>
        <p:nvSpPr>
          <p:cNvPr id="33" name="Text 30">
            <a:extLst xmlns:a="http://schemas.openxmlformats.org/drawingml/2006/main">
              <a:ext uri="{FF2B5EF4-FFF2-40B4-BE49-F238E27FC236}">
                <a16:creationId xmlns:a16="http://schemas.microsoft.com/office/drawing/2014/main" id="{9ECDE98F-C06B-4A8F-A817-4FD8E8E7B74D}"/>
              </a:ext>
            </a:extLst>
          </p:cNvPr>
          <p:cNvSpPr>
            <a:spLocks xmlns:a="http://schemas.openxmlformats.org/drawingml/2006/main" noGrp="1"/>
          </p:cNvSpPr>
          <p:nvPr/>
        </p:nvSpPr>
        <p:spPr>
          <a:xfrm xmlns:a="http://schemas.openxmlformats.org/drawingml/2006/main">
            <a:off x="5181448" y="4306824"/>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C2410C"/>
                </a:solidFill>
                <a:latin typeface="Helvetica Neue"/>
                <a:ea typeface="Helvetica Neue"/>
                <a:cs typeface="Helvetica Neue"/>
              </a:rPr>
              <a:t>Next cohort</a:t>
            </a:r>
            <a:endParaRPr sz="1100"/>
          </a:p>
        </p:txBody>
      </p:sp>
      <p:sp>
        <p:nvSpPr>
          <p:cNvPr id="34" name="Shape 31">
            <a:extLst xmlns:a="http://schemas.openxmlformats.org/drawingml/2006/main">
              <a:ext uri="{FF2B5EF4-FFF2-40B4-BE49-F238E27FC236}">
                <a16:creationId xmlns:a16="http://schemas.microsoft.com/office/drawing/2014/main" id="{388AD19B-E381-4019-A984-F0A8893211AD}"/>
              </a:ext>
            </a:extLst>
          </p:cNvPr>
          <p:cNvSpPr>
            <a:spLocks xmlns:a="http://schemas.openxmlformats.org/drawingml/2006/main" noGrp="1"/>
          </p:cNvSpPr>
          <p:nvPr/>
        </p:nvSpPr>
        <p:spPr>
          <a:xfrm xmlns:a="http://schemas.openxmlformats.org/drawingml/2006/main">
            <a:off x="548640" y="5074920"/>
            <a:ext cx="11094415" cy="804672"/>
          </a:xfrm>
          <a:prstGeom xmlns:a="http://schemas.openxmlformats.org/drawingml/2006/main" prst="roundRect">
            <a:avLst>
              <a:gd name="adj" fmla="val 9091"/>
            </a:avLst>
          </a:prstGeom>
          <a:solidFill xmlns:a="http://schemas.openxmlformats.org/drawingml/2006/main">
            <a:srgbClr val="F3F6FB"/>
          </a:solidFill>
          <a:ln xmlns:a="http://schemas.openxmlformats.org/drawingml/2006/main" w="9525">
            <a:solidFill>
              <a:srgbClr val="C9D6E8"/>
            </a:solidFill>
            <a:prstDash val="solid"/>
          </a:ln>
        </p:spPr>
      </p:sp>
      <p:sp>
        <p:nvSpPr>
          <p:cNvPr id="35" name="Shape 32">
            <a:extLst xmlns:a="http://schemas.openxmlformats.org/drawingml/2006/main">
              <a:ext uri="{FF2B5EF4-FFF2-40B4-BE49-F238E27FC236}">
                <a16:creationId xmlns:a16="http://schemas.microsoft.com/office/drawing/2014/main" id="{DC655634-1575-4057-B816-6BC984DCB3F3}"/>
              </a:ext>
            </a:extLst>
          </p:cNvPr>
          <p:cNvSpPr>
            <a:spLocks xmlns:a="http://schemas.openxmlformats.org/drawingml/2006/main" noGrp="1"/>
          </p:cNvSpPr>
          <p:nvPr/>
        </p:nvSpPr>
        <p:spPr>
          <a:xfrm xmlns:a="http://schemas.openxmlformats.org/drawingml/2006/main">
            <a:off x="557784" y="5184648"/>
            <a:ext cx="54864" cy="585216"/>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6" name="Text 33">
            <a:extLst xmlns:a="http://schemas.openxmlformats.org/drawingml/2006/main">
              <a:ext uri="{FF2B5EF4-FFF2-40B4-BE49-F238E27FC236}">
                <a16:creationId xmlns:a16="http://schemas.microsoft.com/office/drawing/2014/main" id="{1A9E73D0-FA5D-4023-8ADD-C0300C4F9A7F}"/>
              </a:ext>
            </a:extLst>
          </p:cNvPr>
          <p:cNvSpPr>
            <a:spLocks xmlns:a="http://schemas.openxmlformats.org/drawingml/2006/main" noGrp="1"/>
          </p:cNvSpPr>
          <p:nvPr/>
        </p:nvSpPr>
        <p:spPr>
          <a:xfrm xmlns:a="http://schemas.openxmlformats.org/drawingml/2006/main">
            <a:off x="859536" y="5148072"/>
            <a:ext cx="44805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450" b="1">
                <a:solidFill>
                  <a:srgbClr val="0B2545"/>
                </a:solidFill>
                <a:latin typeface="Helvetica Neue"/>
                <a:ea typeface="Helvetica Neue"/>
                <a:cs typeface="Helvetica Neue"/>
              </a:rPr>
              <a:t>This is a research cohort, not current traction.</a:t>
            </a:r>
            <a:endParaRPr sz="1450"/>
          </a:p>
        </p:txBody>
      </p:sp>
      <p:sp>
        <p:nvSpPr>
          <p:cNvPr id="37" name="Text 34">
            <a:extLst xmlns:a="http://schemas.openxmlformats.org/drawingml/2006/main">
              <a:ext uri="{FF2B5EF4-FFF2-40B4-BE49-F238E27FC236}">
                <a16:creationId xmlns:a16="http://schemas.microsoft.com/office/drawing/2014/main" id="{678C4C85-04D3-4A7D-B427-A6D68C5BF951}"/>
              </a:ext>
            </a:extLst>
          </p:cNvPr>
          <p:cNvSpPr>
            <a:spLocks xmlns:a="http://schemas.openxmlformats.org/drawingml/2006/main" noGrp="1"/>
          </p:cNvSpPr>
          <p:nvPr/>
        </p:nvSpPr>
        <p:spPr>
          <a:xfrm xmlns:a="http://schemas.openxmlformats.org/drawingml/2006/main">
            <a:off x="5431536" y="5148072"/>
            <a:ext cx="5900623"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450">
                <a:solidFill>
                  <a:srgbClr val="171717"/>
                </a:solidFill>
                <a:latin typeface="Helvetica Neue"/>
                <a:ea typeface="Helvetica Neue"/>
                <a:cs typeface="Helvetica Neue"/>
              </a:rPr>
              <a:t>Begin live customer intake only after the pilot readiness and privacy gates.</a:t>
            </a:r>
            <a:endParaRPr sz="1450"/>
          </a:p>
        </p:txBody>
      </p:sp>
    </p:spTree>
    <p:extLst>
      <p:ext uri="{BB962C8B-B14F-4D97-AF65-F5344CB8AC3E}">
        <p14:creationId xmlns:p14="http://schemas.microsoft.com/office/powerpoint/2010/main" val="2351534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A96AF028-DD8B-4F5A-BAB2-88E613792049}"/>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C2410C"/>
                </a:solidFill>
                <a:latin typeface="Helvetica Neue"/>
                <a:ea typeface="Helvetica Neue"/>
                <a:cs typeface="Helvetica Neue"/>
              </a:rPr>
              <a:t>PART 3 · HOW TO PILOT AND SELL IT</a:t>
            </a:r>
            <a:endParaRPr sz="1100"/>
          </a:p>
        </p:txBody>
      </p:sp>
      <p:sp>
        <p:nvSpPr>
          <p:cNvPr id="4" name="Shape 1">
            <a:extLst xmlns:a="http://schemas.openxmlformats.org/drawingml/2006/main">
              <a:ext uri="{FF2B5EF4-FFF2-40B4-BE49-F238E27FC236}">
                <a16:creationId xmlns:a16="http://schemas.microsoft.com/office/drawing/2014/main" id="{C6435935-5DA4-4035-AD3B-D69506E9907B}"/>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12700">
            <a:solidFill>
              <a:srgbClr val="C2410C"/>
            </a:solidFill>
            <a:prstDash val="solid"/>
          </a:ln>
        </p:spPr>
      </p:sp>
      <p:sp>
        <p:nvSpPr>
          <p:cNvPr id="5" name="Text 2">
            <a:extLst xmlns:a="http://schemas.openxmlformats.org/drawingml/2006/main">
              <a:ext uri="{FF2B5EF4-FFF2-40B4-BE49-F238E27FC236}">
                <a16:creationId xmlns:a16="http://schemas.microsoft.com/office/drawing/2014/main" id="{CC260DA1-4D34-4EFB-9258-C669154B062C}"/>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4ACDE512-BDE5-4353-955F-2C1EC1DF9B9C}"/>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The sales conversation and demo</a:t>
            </a:r>
            <a:endParaRPr sz="3000"/>
          </a:p>
        </p:txBody>
      </p:sp>
      <p:sp>
        <p:nvSpPr>
          <p:cNvPr id="7" name="Text 4">
            <a:extLst xmlns:a="http://schemas.openxmlformats.org/drawingml/2006/main">
              <a:ext uri="{FF2B5EF4-FFF2-40B4-BE49-F238E27FC236}">
                <a16:creationId xmlns:a16="http://schemas.microsoft.com/office/drawing/2014/main" id="{D68B4FAF-BE2F-4264-8781-1081354BBF56}"/>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One question opens the conversation. A five-minute demo answers it.</a:t>
            </a:r>
            <a:endParaRPr sz="1500"/>
          </a:p>
        </p:txBody>
      </p:sp>
      <p:sp>
        <p:nvSpPr>
          <p:cNvPr id="8" name="Shape 5">
            <a:extLst xmlns:a="http://schemas.openxmlformats.org/drawingml/2006/main">
              <a:ext uri="{FF2B5EF4-FFF2-40B4-BE49-F238E27FC236}">
                <a16:creationId xmlns:a16="http://schemas.microsoft.com/office/drawing/2014/main" id="{8BAD9955-4CC5-4372-AA8B-CA8DB33FB3BF}"/>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D78E674C-50D0-4E34-9053-125D0D1AF6FD}"/>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6B8BF0A9-F249-4179-88C7-C10012AEBAA9}"/>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26 / 29</a:t>
            </a:r>
            <a:endParaRPr sz="900"/>
          </a:p>
        </p:txBody>
      </p:sp>
      <p:sp>
        <p:nvSpPr>
          <p:cNvPr id="11" name="Shape 8">
            <a:extLst xmlns:a="http://schemas.openxmlformats.org/drawingml/2006/main">
              <a:ext uri="{FF2B5EF4-FFF2-40B4-BE49-F238E27FC236}">
                <a16:creationId xmlns:a16="http://schemas.microsoft.com/office/drawing/2014/main" id="{4591D669-B250-4032-9A02-2E8EBDFBF717}"/>
              </a:ext>
            </a:extLst>
          </p:cNvPr>
          <p:cNvSpPr>
            <a:spLocks xmlns:a="http://schemas.openxmlformats.org/drawingml/2006/main" noGrp="1"/>
          </p:cNvSpPr>
          <p:nvPr/>
        </p:nvSpPr>
        <p:spPr>
          <a:xfrm xmlns:a="http://schemas.openxmlformats.org/drawingml/2006/main">
            <a:off x="548640" y="1517904"/>
            <a:ext cx="11094415" cy="1152144"/>
          </a:xfrm>
          <a:prstGeom xmlns:a="http://schemas.openxmlformats.org/drawingml/2006/main" prst="roundRect">
            <a:avLst>
              <a:gd name="adj" fmla="val 6349"/>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5A916D87-AD30-424C-8F0D-3496FEC7EE31}"/>
              </a:ext>
            </a:extLst>
          </p:cNvPr>
          <p:cNvSpPr>
            <a:spLocks xmlns:a="http://schemas.openxmlformats.org/drawingml/2006/main" noGrp="1"/>
          </p:cNvSpPr>
          <p:nvPr/>
        </p:nvSpPr>
        <p:spPr>
          <a:xfrm xmlns:a="http://schemas.openxmlformats.org/drawingml/2006/main">
            <a:off x="557784" y="1627632"/>
            <a:ext cx="54864" cy="932688"/>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13" name="Text 10">
            <a:extLst xmlns:a="http://schemas.openxmlformats.org/drawingml/2006/main">
              <a:ext uri="{FF2B5EF4-FFF2-40B4-BE49-F238E27FC236}">
                <a16:creationId xmlns:a16="http://schemas.microsoft.com/office/drawing/2014/main" id="{B8EAB163-955F-45BD-9336-A4B68E3A2905}"/>
              </a:ext>
            </a:extLst>
          </p:cNvPr>
          <p:cNvSpPr>
            <a:spLocks xmlns:a="http://schemas.openxmlformats.org/drawingml/2006/main" noGrp="1"/>
          </p:cNvSpPr>
          <p:nvPr/>
        </p:nvSpPr>
        <p:spPr>
          <a:xfrm xmlns:a="http://schemas.openxmlformats.org/drawingml/2006/main">
            <a:off x="841248" y="1645920"/>
            <a:ext cx="2011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20">
                <a:solidFill>
                  <a:srgbClr val="C2410C"/>
                </a:solidFill>
                <a:latin typeface="Helvetica Neue"/>
                <a:ea typeface="Helvetica Neue"/>
                <a:cs typeface="Helvetica Neue"/>
              </a:rPr>
              <a:t>OPEN WITH THIS</a:t>
            </a:r>
            <a:endParaRPr sz="1050"/>
          </a:p>
        </p:txBody>
      </p:sp>
      <p:sp>
        <p:nvSpPr>
          <p:cNvPr id="14" name="Text 11">
            <a:extLst xmlns:a="http://schemas.openxmlformats.org/drawingml/2006/main">
              <a:ext uri="{FF2B5EF4-FFF2-40B4-BE49-F238E27FC236}">
                <a16:creationId xmlns:a16="http://schemas.microsoft.com/office/drawing/2014/main" id="{82C7A3C3-D8CA-4DC5-A4BC-A4C99211A9DB}"/>
              </a:ext>
            </a:extLst>
          </p:cNvPr>
          <p:cNvSpPr>
            <a:spLocks xmlns:a="http://schemas.openxmlformats.org/drawingml/2006/main" noGrp="1"/>
          </p:cNvSpPr>
          <p:nvPr/>
        </p:nvSpPr>
        <p:spPr>
          <a:xfrm xmlns:a="http://schemas.openxmlformats.org/drawingml/2006/main">
            <a:off x="841248" y="1938528"/>
            <a:ext cx="1050919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700"/>
              </a:lnSpc>
              <a:buNone/>
            </a:pPr>
            <a:r>
              <a:rPr sz="2100" b="1">
                <a:solidFill>
                  <a:srgbClr val="0B2545"/>
                </a:solidFill>
                <a:latin typeface="Helvetica Neue"/>
                <a:ea typeface="Helvetica Neue"/>
                <a:cs typeface="Helvetica Neue"/>
              </a:rPr>
              <a:t>“What part of your experience is hardest to explain on a resume?”</a:t>
            </a:r>
            <a:endParaRPr sz="2100"/>
          </a:p>
        </p:txBody>
      </p:sp>
      <p:sp>
        <p:nvSpPr>
          <p:cNvPr id="15" name="Shape 12">
            <a:extLst xmlns:a="http://schemas.openxmlformats.org/drawingml/2006/main">
              <a:ext uri="{FF2B5EF4-FFF2-40B4-BE49-F238E27FC236}">
                <a16:creationId xmlns:a16="http://schemas.microsoft.com/office/drawing/2014/main" id="{CB9BF978-2BCE-448F-BB9C-05DF49C9FD4D}"/>
              </a:ext>
            </a:extLst>
          </p:cNvPr>
          <p:cNvSpPr>
            <a:spLocks xmlns:a="http://schemas.openxmlformats.org/drawingml/2006/main" noGrp="1"/>
          </p:cNvSpPr>
          <p:nvPr/>
        </p:nvSpPr>
        <p:spPr>
          <a:xfrm xmlns:a="http://schemas.openxmlformats.org/drawingml/2006/main">
            <a:off x="1504462" y="2706624"/>
            <a:ext cx="0" cy="274320"/>
          </a:xfrm>
          <a:prstGeom xmlns:a="http://schemas.openxmlformats.org/drawingml/2006/main" prst="line">
            <a:avLst/>
          </a:prstGeom>
          <a:noFill xmlns:a="http://schemas.openxmlformats.org/drawingml/2006/main"/>
          <a:ln xmlns:a="http://schemas.openxmlformats.org/drawingml/2006/main" w="28575">
            <a:solidFill>
              <a:srgbClr val="C2410C"/>
            </a:solidFill>
            <a:prstDash val="solid"/>
            <a:tailEnd type="triangle"/>
          </a:ln>
        </p:spPr>
      </p:sp>
      <p:sp>
        <p:nvSpPr>
          <p:cNvPr id="16" name="Shape 13">
            <a:extLst xmlns:a="http://schemas.openxmlformats.org/drawingml/2006/main">
              <a:ext uri="{FF2B5EF4-FFF2-40B4-BE49-F238E27FC236}">
                <a16:creationId xmlns:a16="http://schemas.microsoft.com/office/drawing/2014/main" id="{FF12C489-20B7-42C6-BB2C-901CC654A66C}"/>
              </a:ext>
            </a:extLst>
          </p:cNvPr>
          <p:cNvSpPr>
            <a:spLocks xmlns:a="http://schemas.openxmlformats.org/drawingml/2006/main" noGrp="1"/>
          </p:cNvSpPr>
          <p:nvPr/>
        </p:nvSpPr>
        <p:spPr>
          <a:xfrm xmlns:a="http://schemas.openxmlformats.org/drawingml/2006/main">
            <a:off x="548640" y="3017520"/>
            <a:ext cx="1911645" cy="1325880"/>
          </a:xfrm>
          <a:prstGeom xmlns:a="http://schemas.openxmlformats.org/drawingml/2006/main" prst="roundRect">
            <a:avLst>
              <a:gd name="adj" fmla="val 5517"/>
            </a:avLst>
          </a:prstGeom>
          <a:solidFill xmlns:a="http://schemas.openxmlformats.org/drawingml/2006/main">
            <a:srgbClr val="C2410C"/>
          </a:solidFill>
          <a:ln xmlns:a="http://schemas.openxmlformats.org/drawingml/2006/main" w="15875">
            <a:solidFill>
              <a:srgbClr val="C2410C"/>
            </a:solidFill>
            <a:prstDash val="solid"/>
          </a:ln>
        </p:spPr>
      </p:sp>
      <p:sp>
        <p:nvSpPr>
          <p:cNvPr id="17" name="Text 14">
            <a:extLst xmlns:a="http://schemas.openxmlformats.org/drawingml/2006/main">
              <a:ext uri="{FF2B5EF4-FFF2-40B4-BE49-F238E27FC236}">
                <a16:creationId xmlns:a16="http://schemas.microsoft.com/office/drawing/2014/main" id="{011E4C6D-4123-41C9-8872-A931886924F3}"/>
              </a:ext>
            </a:extLst>
          </p:cNvPr>
          <p:cNvSpPr>
            <a:spLocks xmlns:a="http://schemas.openxmlformats.org/drawingml/2006/main" noGrp="1"/>
          </p:cNvSpPr>
          <p:nvPr/>
        </p:nvSpPr>
        <p:spPr>
          <a:xfrm xmlns:a="http://schemas.openxmlformats.org/drawingml/2006/main">
            <a:off x="676656" y="3145536"/>
            <a:ext cx="165561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spc="80">
                <a:solidFill>
                  <a:srgbClr val="E7F0FA"/>
                </a:solidFill>
                <a:latin typeface="Helvetica Neue"/>
                <a:ea typeface="Helvetica Neue"/>
                <a:cs typeface="Helvetica Neue"/>
              </a:rPr>
              <a:t>0:00</a:t>
            </a:r>
            <a:endParaRPr sz="1250"/>
          </a:p>
        </p:txBody>
      </p:sp>
      <p:sp>
        <p:nvSpPr>
          <p:cNvPr id="18" name="Text 15">
            <a:extLst xmlns:a="http://schemas.openxmlformats.org/drawingml/2006/main">
              <a:ext uri="{FF2B5EF4-FFF2-40B4-BE49-F238E27FC236}">
                <a16:creationId xmlns:a16="http://schemas.microsoft.com/office/drawing/2014/main" id="{2C458193-2618-47C8-9566-C17CBC105651}"/>
              </a:ext>
            </a:extLst>
          </p:cNvPr>
          <p:cNvSpPr>
            <a:spLocks xmlns:a="http://schemas.openxmlformats.org/drawingml/2006/main" noGrp="1"/>
          </p:cNvSpPr>
          <p:nvPr/>
        </p:nvSpPr>
        <p:spPr>
          <a:xfrm xmlns:a="http://schemas.openxmlformats.org/drawingml/2006/main">
            <a:off x="676656" y="3451289"/>
            <a:ext cx="1655613" cy="764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624"/>
              </a:lnSpc>
              <a:buNone/>
            </a:pPr>
            <a:r>
              <a:rPr sz="1400" b="1">
                <a:solidFill>
                  <a:srgbClr val="FFFFFF"/>
                </a:solidFill>
                <a:latin typeface="Helvetica Neue"/>
                <a:ea typeface="Helvetica Neue"/>
                <a:cs typeface="Helvetica Neue"/>
              </a:rPr>
              <a:t>The overview</a:t>
            </a:r>
            <a:endParaRPr sz="1400"/>
          </a:p>
        </p:txBody>
      </p:sp>
      <p:sp>
        <p:nvSpPr>
          <p:cNvPr id="19" name="Shape 16">
            <a:extLst xmlns:a="http://schemas.openxmlformats.org/drawingml/2006/main">
              <a:ext uri="{FF2B5EF4-FFF2-40B4-BE49-F238E27FC236}">
                <a16:creationId xmlns:a16="http://schemas.microsoft.com/office/drawing/2014/main" id="{3224184E-9611-40C9-9BB3-B98E125C3CEC}"/>
              </a:ext>
            </a:extLst>
          </p:cNvPr>
          <p:cNvSpPr>
            <a:spLocks xmlns:a="http://schemas.openxmlformats.org/drawingml/2006/main" noGrp="1"/>
          </p:cNvSpPr>
          <p:nvPr/>
        </p:nvSpPr>
        <p:spPr>
          <a:xfrm xmlns:a="http://schemas.openxmlformats.org/drawingml/2006/main">
            <a:off x="2506005" y="3680460"/>
            <a:ext cx="2926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0" name="Shape 17">
            <a:extLst xmlns:a="http://schemas.openxmlformats.org/drawingml/2006/main">
              <a:ext uri="{FF2B5EF4-FFF2-40B4-BE49-F238E27FC236}">
                <a16:creationId xmlns:a16="http://schemas.microsoft.com/office/drawing/2014/main" id="{E9F1BA19-1226-4E60-A001-BC5F180507C7}"/>
              </a:ext>
            </a:extLst>
          </p:cNvPr>
          <p:cNvSpPr>
            <a:spLocks xmlns:a="http://schemas.openxmlformats.org/drawingml/2006/main" noGrp="1"/>
          </p:cNvSpPr>
          <p:nvPr/>
        </p:nvSpPr>
        <p:spPr>
          <a:xfrm xmlns:a="http://schemas.openxmlformats.org/drawingml/2006/main">
            <a:off x="2844333" y="3017520"/>
            <a:ext cx="1911645"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5875">
            <a:solidFill>
              <a:srgbClr val="C2410C"/>
            </a:solidFill>
            <a:prstDash val="solid"/>
          </a:ln>
        </p:spPr>
      </p:sp>
      <p:sp>
        <p:nvSpPr>
          <p:cNvPr id="21" name="Text 18">
            <a:extLst xmlns:a="http://schemas.openxmlformats.org/drawingml/2006/main">
              <a:ext uri="{FF2B5EF4-FFF2-40B4-BE49-F238E27FC236}">
                <a16:creationId xmlns:a16="http://schemas.microsoft.com/office/drawing/2014/main" id="{EFF5CCE0-62C9-48EB-9252-A474F68F66A3}"/>
              </a:ext>
            </a:extLst>
          </p:cNvPr>
          <p:cNvSpPr>
            <a:spLocks xmlns:a="http://schemas.openxmlformats.org/drawingml/2006/main" noGrp="1"/>
          </p:cNvSpPr>
          <p:nvPr/>
        </p:nvSpPr>
        <p:spPr>
          <a:xfrm xmlns:a="http://schemas.openxmlformats.org/drawingml/2006/main">
            <a:off x="2972349" y="3145536"/>
            <a:ext cx="165561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spc="80">
                <a:solidFill>
                  <a:srgbClr val="C2410C"/>
                </a:solidFill>
                <a:latin typeface="Helvetica Neue"/>
                <a:ea typeface="Helvetica Neue"/>
                <a:cs typeface="Helvetica Neue"/>
              </a:rPr>
              <a:t>0:40</a:t>
            </a:r>
            <a:endParaRPr sz="1250"/>
          </a:p>
        </p:txBody>
      </p:sp>
      <p:sp>
        <p:nvSpPr>
          <p:cNvPr id="22" name="Text 19">
            <a:extLst xmlns:a="http://schemas.openxmlformats.org/drawingml/2006/main">
              <a:ext uri="{FF2B5EF4-FFF2-40B4-BE49-F238E27FC236}">
                <a16:creationId xmlns:a16="http://schemas.microsoft.com/office/drawing/2014/main" id="{F099A1B1-8004-46CA-90D7-B10E02032DBE}"/>
              </a:ext>
            </a:extLst>
          </p:cNvPr>
          <p:cNvSpPr>
            <a:spLocks xmlns:a="http://schemas.openxmlformats.org/drawingml/2006/main" noGrp="1"/>
          </p:cNvSpPr>
          <p:nvPr/>
        </p:nvSpPr>
        <p:spPr>
          <a:xfrm xmlns:a="http://schemas.openxmlformats.org/drawingml/2006/main">
            <a:off x="2972349" y="3451289"/>
            <a:ext cx="1655613" cy="764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624"/>
              </a:lnSpc>
              <a:buNone/>
            </a:pPr>
            <a:r>
              <a:rPr sz="1400" b="1">
                <a:solidFill>
                  <a:srgbClr val="0B2545"/>
                </a:solidFill>
                <a:latin typeface="Helvetica Neue"/>
                <a:ea typeface="Helvetica Neue"/>
                <a:cs typeface="Helvetica Neue"/>
              </a:rPr>
              <a:t>Story and skills</a:t>
            </a:r>
            <a:endParaRPr sz="1400"/>
          </a:p>
        </p:txBody>
      </p:sp>
      <p:sp>
        <p:nvSpPr>
          <p:cNvPr id="23" name="Shape 20">
            <a:extLst xmlns:a="http://schemas.openxmlformats.org/drawingml/2006/main">
              <a:ext uri="{FF2B5EF4-FFF2-40B4-BE49-F238E27FC236}">
                <a16:creationId xmlns:a16="http://schemas.microsoft.com/office/drawing/2014/main" id="{2F718C10-78D2-4942-A7CC-43399B2E6A00}"/>
              </a:ext>
            </a:extLst>
          </p:cNvPr>
          <p:cNvSpPr>
            <a:spLocks xmlns:a="http://schemas.openxmlformats.org/drawingml/2006/main" noGrp="1"/>
          </p:cNvSpPr>
          <p:nvPr/>
        </p:nvSpPr>
        <p:spPr>
          <a:xfrm xmlns:a="http://schemas.openxmlformats.org/drawingml/2006/main">
            <a:off x="4801697" y="3680460"/>
            <a:ext cx="2926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4" name="Shape 21">
            <a:extLst xmlns:a="http://schemas.openxmlformats.org/drawingml/2006/main">
              <a:ext uri="{FF2B5EF4-FFF2-40B4-BE49-F238E27FC236}">
                <a16:creationId xmlns:a16="http://schemas.microsoft.com/office/drawing/2014/main" id="{48DDF241-F0C3-4656-8BC5-1573A0286D01}"/>
              </a:ext>
            </a:extLst>
          </p:cNvPr>
          <p:cNvSpPr>
            <a:spLocks xmlns:a="http://schemas.openxmlformats.org/drawingml/2006/main" noGrp="1"/>
          </p:cNvSpPr>
          <p:nvPr/>
        </p:nvSpPr>
        <p:spPr>
          <a:xfrm xmlns:a="http://schemas.openxmlformats.org/drawingml/2006/main">
            <a:off x="5140025" y="3017520"/>
            <a:ext cx="1911645"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5875">
            <a:solidFill>
              <a:srgbClr val="C2410C"/>
            </a:solidFill>
            <a:prstDash val="solid"/>
          </a:ln>
        </p:spPr>
      </p:sp>
      <p:sp>
        <p:nvSpPr>
          <p:cNvPr id="25" name="Text 22">
            <a:extLst xmlns:a="http://schemas.openxmlformats.org/drawingml/2006/main">
              <a:ext uri="{FF2B5EF4-FFF2-40B4-BE49-F238E27FC236}">
                <a16:creationId xmlns:a16="http://schemas.microsoft.com/office/drawing/2014/main" id="{79C2FB32-7E43-44A6-89F4-4736215E9176}"/>
              </a:ext>
            </a:extLst>
          </p:cNvPr>
          <p:cNvSpPr>
            <a:spLocks xmlns:a="http://schemas.openxmlformats.org/drawingml/2006/main" noGrp="1"/>
          </p:cNvSpPr>
          <p:nvPr/>
        </p:nvSpPr>
        <p:spPr>
          <a:xfrm xmlns:a="http://schemas.openxmlformats.org/drawingml/2006/main">
            <a:off x="5268041" y="3145536"/>
            <a:ext cx="165561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spc="80">
                <a:solidFill>
                  <a:srgbClr val="C2410C"/>
                </a:solidFill>
                <a:latin typeface="Helvetica Neue"/>
                <a:ea typeface="Helvetica Neue"/>
                <a:cs typeface="Helvetica Neue"/>
              </a:rPr>
              <a:t>1:30</a:t>
            </a:r>
            <a:endParaRPr sz="1250"/>
          </a:p>
        </p:txBody>
      </p:sp>
      <p:sp>
        <p:nvSpPr>
          <p:cNvPr id="26" name="Text 23">
            <a:extLst xmlns:a="http://schemas.openxmlformats.org/drawingml/2006/main">
              <a:ext uri="{FF2B5EF4-FFF2-40B4-BE49-F238E27FC236}">
                <a16:creationId xmlns:a16="http://schemas.microsoft.com/office/drawing/2014/main" id="{45989526-6EEA-4AA7-BFF7-2AFDB18A28B5}"/>
              </a:ext>
            </a:extLst>
          </p:cNvPr>
          <p:cNvSpPr>
            <a:spLocks xmlns:a="http://schemas.openxmlformats.org/drawingml/2006/main" noGrp="1"/>
          </p:cNvSpPr>
          <p:nvPr/>
        </p:nvSpPr>
        <p:spPr>
          <a:xfrm xmlns:a="http://schemas.openxmlformats.org/drawingml/2006/main">
            <a:off x="5268041" y="3451289"/>
            <a:ext cx="1655613" cy="764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624"/>
              </a:lnSpc>
              <a:buNone/>
            </a:pPr>
            <a:r>
              <a:rPr sz="1400" b="1">
                <a:solidFill>
                  <a:srgbClr val="0B2545"/>
                </a:solidFill>
                <a:latin typeface="Helvetica Neue"/>
                <a:ea typeface="Helvetica Neue"/>
                <a:cs typeface="Helvetica Neue"/>
              </a:rPr>
              <a:t>Choose a skill, review a fact</a:t>
            </a:r>
            <a:endParaRPr sz="1400"/>
          </a:p>
        </p:txBody>
      </p:sp>
      <p:sp>
        <p:nvSpPr>
          <p:cNvPr id="27" name="Shape 24">
            <a:extLst xmlns:a="http://schemas.openxmlformats.org/drawingml/2006/main">
              <a:ext uri="{FF2B5EF4-FFF2-40B4-BE49-F238E27FC236}">
                <a16:creationId xmlns:a16="http://schemas.microsoft.com/office/drawing/2014/main" id="{9A8E5E6A-1557-48CA-9197-764DED73F292}"/>
              </a:ext>
            </a:extLst>
          </p:cNvPr>
          <p:cNvSpPr>
            <a:spLocks xmlns:a="http://schemas.openxmlformats.org/drawingml/2006/main" noGrp="1"/>
          </p:cNvSpPr>
          <p:nvPr/>
        </p:nvSpPr>
        <p:spPr>
          <a:xfrm xmlns:a="http://schemas.openxmlformats.org/drawingml/2006/main">
            <a:off x="7097390" y="3680460"/>
            <a:ext cx="2926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28" name="Shape 25">
            <a:extLst xmlns:a="http://schemas.openxmlformats.org/drawingml/2006/main">
              <a:ext uri="{FF2B5EF4-FFF2-40B4-BE49-F238E27FC236}">
                <a16:creationId xmlns:a16="http://schemas.microsoft.com/office/drawing/2014/main" id="{015613F7-D1A1-4E30-91AC-066A626EF329}"/>
              </a:ext>
            </a:extLst>
          </p:cNvPr>
          <p:cNvSpPr>
            <a:spLocks xmlns:a="http://schemas.openxmlformats.org/drawingml/2006/main" noGrp="1"/>
          </p:cNvSpPr>
          <p:nvPr/>
        </p:nvSpPr>
        <p:spPr>
          <a:xfrm xmlns:a="http://schemas.openxmlformats.org/drawingml/2006/main">
            <a:off x="7435718" y="3017520"/>
            <a:ext cx="1911645" cy="1325880"/>
          </a:xfrm>
          <a:prstGeom xmlns:a="http://schemas.openxmlformats.org/drawingml/2006/main" prst="roundRect">
            <a:avLst>
              <a:gd name="adj" fmla="val 5517"/>
            </a:avLst>
          </a:prstGeom>
          <a:solidFill xmlns:a="http://schemas.openxmlformats.org/drawingml/2006/main">
            <a:srgbClr val="F3F6FB"/>
          </a:solidFill>
          <a:ln xmlns:a="http://schemas.openxmlformats.org/drawingml/2006/main" w="15875">
            <a:solidFill>
              <a:srgbClr val="C2410C"/>
            </a:solidFill>
            <a:prstDash val="solid"/>
          </a:ln>
        </p:spPr>
      </p:sp>
      <p:sp>
        <p:nvSpPr>
          <p:cNvPr id="29" name="Text 26">
            <a:extLst xmlns:a="http://schemas.openxmlformats.org/drawingml/2006/main">
              <a:ext uri="{FF2B5EF4-FFF2-40B4-BE49-F238E27FC236}">
                <a16:creationId xmlns:a16="http://schemas.microsoft.com/office/drawing/2014/main" id="{58B5F5AD-474D-402C-B9C4-0B02B9ECA555}"/>
              </a:ext>
            </a:extLst>
          </p:cNvPr>
          <p:cNvSpPr>
            <a:spLocks xmlns:a="http://schemas.openxmlformats.org/drawingml/2006/main" noGrp="1"/>
          </p:cNvSpPr>
          <p:nvPr/>
        </p:nvSpPr>
        <p:spPr>
          <a:xfrm xmlns:a="http://schemas.openxmlformats.org/drawingml/2006/main">
            <a:off x="7563734" y="3145536"/>
            <a:ext cx="165561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spc="80">
                <a:solidFill>
                  <a:srgbClr val="C2410C"/>
                </a:solidFill>
                <a:latin typeface="Helvetica Neue"/>
                <a:ea typeface="Helvetica Neue"/>
                <a:cs typeface="Helvetica Neue"/>
              </a:rPr>
              <a:t>2:40</a:t>
            </a:r>
            <a:endParaRPr sz="1250"/>
          </a:p>
        </p:txBody>
      </p:sp>
      <p:sp>
        <p:nvSpPr>
          <p:cNvPr id="30" name="Text 27">
            <a:extLst xmlns:a="http://schemas.openxmlformats.org/drawingml/2006/main">
              <a:ext uri="{FF2B5EF4-FFF2-40B4-BE49-F238E27FC236}">
                <a16:creationId xmlns:a16="http://schemas.microsoft.com/office/drawing/2014/main" id="{E8553018-C740-4E62-A8C7-F11FB7ED563B}"/>
              </a:ext>
            </a:extLst>
          </p:cNvPr>
          <p:cNvSpPr>
            <a:spLocks xmlns:a="http://schemas.openxmlformats.org/drawingml/2006/main" noGrp="1"/>
          </p:cNvSpPr>
          <p:nvPr/>
        </p:nvSpPr>
        <p:spPr>
          <a:xfrm xmlns:a="http://schemas.openxmlformats.org/drawingml/2006/main">
            <a:off x="7563734" y="3451289"/>
            <a:ext cx="1655613" cy="764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624"/>
              </a:lnSpc>
              <a:buNone/>
            </a:pPr>
            <a:r>
              <a:rPr sz="1400" b="1">
                <a:solidFill>
                  <a:srgbClr val="0B2545"/>
                </a:solidFill>
                <a:latin typeface="Helvetica Neue"/>
                <a:ea typeface="Helvetica Neue"/>
                <a:cs typeface="Helvetica Neue"/>
              </a:rPr>
              <a:t>Resume versions</a:t>
            </a:r>
            <a:endParaRPr sz="1400"/>
          </a:p>
        </p:txBody>
      </p:sp>
      <p:sp>
        <p:nvSpPr>
          <p:cNvPr id="31" name="Shape 28">
            <a:extLst xmlns:a="http://schemas.openxmlformats.org/drawingml/2006/main">
              <a:ext uri="{FF2B5EF4-FFF2-40B4-BE49-F238E27FC236}">
                <a16:creationId xmlns:a16="http://schemas.microsoft.com/office/drawing/2014/main" id="{96846BE5-869C-4460-9309-9C6C9697A0E0}"/>
              </a:ext>
            </a:extLst>
          </p:cNvPr>
          <p:cNvSpPr>
            <a:spLocks xmlns:a="http://schemas.openxmlformats.org/drawingml/2006/main" noGrp="1"/>
          </p:cNvSpPr>
          <p:nvPr/>
        </p:nvSpPr>
        <p:spPr>
          <a:xfrm xmlns:a="http://schemas.openxmlformats.org/drawingml/2006/main">
            <a:off x="9393083" y="3680460"/>
            <a:ext cx="292608" cy="0"/>
          </a:xfrm>
          <a:prstGeom xmlns:a="http://schemas.openxmlformats.org/drawingml/2006/main" prst="line">
            <a:avLst/>
          </a:prstGeom>
          <a:noFill xmlns:a="http://schemas.openxmlformats.org/drawingml/2006/main"/>
          <a:ln xmlns:a="http://schemas.openxmlformats.org/drawingml/2006/main" w="28575">
            <a:solidFill>
              <a:srgbClr val="52677F"/>
            </a:solidFill>
            <a:prstDash val="solid"/>
            <a:tailEnd type="triangle"/>
          </a:ln>
        </p:spPr>
      </p:sp>
      <p:sp>
        <p:nvSpPr>
          <p:cNvPr id="32" name="Shape 29">
            <a:extLst xmlns:a="http://schemas.openxmlformats.org/drawingml/2006/main">
              <a:ext uri="{FF2B5EF4-FFF2-40B4-BE49-F238E27FC236}">
                <a16:creationId xmlns:a16="http://schemas.microsoft.com/office/drawing/2014/main" id="{29A2FBE9-C4D7-42A8-9BD3-DC6674B5880D}"/>
              </a:ext>
            </a:extLst>
          </p:cNvPr>
          <p:cNvSpPr>
            <a:spLocks xmlns:a="http://schemas.openxmlformats.org/drawingml/2006/main" noGrp="1"/>
          </p:cNvSpPr>
          <p:nvPr/>
        </p:nvSpPr>
        <p:spPr>
          <a:xfrm xmlns:a="http://schemas.openxmlformats.org/drawingml/2006/main">
            <a:off x="9731411" y="3017520"/>
            <a:ext cx="1911645" cy="1325880"/>
          </a:xfrm>
          <a:prstGeom xmlns:a="http://schemas.openxmlformats.org/drawingml/2006/main" prst="roundRect">
            <a:avLst>
              <a:gd name="adj" fmla="val 5517"/>
            </a:avLst>
          </a:prstGeom>
          <a:solidFill xmlns:a="http://schemas.openxmlformats.org/drawingml/2006/main">
            <a:srgbClr val="0B2545"/>
          </a:solidFill>
          <a:ln xmlns:a="http://schemas.openxmlformats.org/drawingml/2006/main" w="15875">
            <a:solidFill>
              <a:srgbClr val="0B2545"/>
            </a:solidFill>
            <a:prstDash val="solid"/>
          </a:ln>
        </p:spPr>
      </p:sp>
      <p:sp>
        <p:nvSpPr>
          <p:cNvPr id="33" name="Text 30">
            <a:extLst xmlns:a="http://schemas.openxmlformats.org/drawingml/2006/main">
              <a:ext uri="{FF2B5EF4-FFF2-40B4-BE49-F238E27FC236}">
                <a16:creationId xmlns:a16="http://schemas.microsoft.com/office/drawing/2014/main" id="{457FE9B3-562C-4C4B-ADFA-4E3543FF2643}"/>
              </a:ext>
            </a:extLst>
          </p:cNvPr>
          <p:cNvSpPr>
            <a:spLocks xmlns:a="http://schemas.openxmlformats.org/drawingml/2006/main" noGrp="1"/>
          </p:cNvSpPr>
          <p:nvPr/>
        </p:nvSpPr>
        <p:spPr>
          <a:xfrm xmlns:a="http://schemas.openxmlformats.org/drawingml/2006/main">
            <a:off x="9859427" y="3145536"/>
            <a:ext cx="165561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spc="80">
                <a:solidFill>
                  <a:srgbClr val="C6D5E8"/>
                </a:solidFill>
                <a:latin typeface="Helvetica Neue"/>
                <a:ea typeface="Helvetica Neue"/>
                <a:cs typeface="Helvetica Neue"/>
              </a:rPr>
              <a:t>3:25</a:t>
            </a:r>
            <a:endParaRPr sz="1250"/>
          </a:p>
        </p:txBody>
      </p:sp>
      <p:sp>
        <p:nvSpPr>
          <p:cNvPr id="34" name="Text 31">
            <a:extLst xmlns:a="http://schemas.openxmlformats.org/drawingml/2006/main">
              <a:ext uri="{FF2B5EF4-FFF2-40B4-BE49-F238E27FC236}">
                <a16:creationId xmlns:a16="http://schemas.microsoft.com/office/drawing/2014/main" id="{00E9DDB7-A824-4998-8C34-3C1AADFFE82C}"/>
              </a:ext>
            </a:extLst>
          </p:cNvPr>
          <p:cNvSpPr>
            <a:spLocks xmlns:a="http://schemas.openxmlformats.org/drawingml/2006/main" noGrp="1"/>
          </p:cNvSpPr>
          <p:nvPr/>
        </p:nvSpPr>
        <p:spPr>
          <a:xfrm xmlns:a="http://schemas.openxmlformats.org/drawingml/2006/main">
            <a:off x="9859427" y="3451289"/>
            <a:ext cx="1655613" cy="764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624"/>
              </a:lnSpc>
              <a:buNone/>
            </a:pPr>
            <a:r>
              <a:rPr sz="1400" b="1">
                <a:solidFill>
                  <a:srgbClr val="FFFFFF"/>
                </a:solidFill>
                <a:latin typeface="Helvetica Neue"/>
                <a:ea typeface="Helvetica Neue"/>
                <a:cs typeface="Helvetica Neue"/>
              </a:rPr>
              <a:t>Job review, then tracker</a:t>
            </a:r>
            <a:endParaRPr sz="1400"/>
          </a:p>
        </p:txBody>
      </p:sp>
      <p:sp>
        <p:nvSpPr>
          <p:cNvPr id="35" name="Shape 32">
            <a:extLst xmlns:a="http://schemas.openxmlformats.org/drawingml/2006/main">
              <a:ext uri="{FF2B5EF4-FFF2-40B4-BE49-F238E27FC236}">
                <a16:creationId xmlns:a16="http://schemas.microsoft.com/office/drawing/2014/main" id="{704021B4-FBC9-4E77-999C-239CAD0E5E64}"/>
              </a:ext>
            </a:extLst>
          </p:cNvPr>
          <p:cNvSpPr>
            <a:spLocks xmlns:a="http://schemas.openxmlformats.org/drawingml/2006/main" noGrp="1"/>
          </p:cNvSpPr>
          <p:nvPr/>
        </p:nvSpPr>
        <p:spPr>
          <a:xfrm xmlns:a="http://schemas.openxmlformats.org/drawingml/2006/main">
            <a:off x="548640" y="4572000"/>
            <a:ext cx="11094415" cy="1417320"/>
          </a:xfrm>
          <a:prstGeom xmlns:a="http://schemas.openxmlformats.org/drawingml/2006/main" prst="roundRect">
            <a:avLst>
              <a:gd name="adj" fmla="val 5161"/>
            </a:avLst>
          </a:prstGeom>
          <a:solidFill xmlns:a="http://schemas.openxmlformats.org/drawingml/2006/main">
            <a:srgbClr val="F3F6FB"/>
          </a:solidFill>
          <a:ln xmlns:a="http://schemas.openxmlformats.org/drawingml/2006/main" w="9525">
            <a:solidFill>
              <a:srgbClr val="C9D6E8"/>
            </a:solidFill>
            <a:prstDash val="solid"/>
          </a:ln>
        </p:spPr>
      </p:sp>
      <p:sp>
        <p:nvSpPr>
          <p:cNvPr id="36" name="Shape 33">
            <a:extLst xmlns:a="http://schemas.openxmlformats.org/drawingml/2006/main">
              <a:ext uri="{FF2B5EF4-FFF2-40B4-BE49-F238E27FC236}">
                <a16:creationId xmlns:a16="http://schemas.microsoft.com/office/drawing/2014/main" id="{391354FC-D984-45E5-9195-0D707616C422}"/>
              </a:ext>
            </a:extLst>
          </p:cNvPr>
          <p:cNvSpPr>
            <a:spLocks xmlns:a="http://schemas.openxmlformats.org/drawingml/2006/main" noGrp="1"/>
          </p:cNvSpPr>
          <p:nvPr/>
        </p:nvSpPr>
        <p:spPr>
          <a:xfrm xmlns:a="http://schemas.openxmlformats.org/drawingml/2006/main">
            <a:off x="557784" y="4681728"/>
            <a:ext cx="54864" cy="119786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7" name="Text 34">
            <a:extLst xmlns:a="http://schemas.openxmlformats.org/drawingml/2006/main">
              <a:ext uri="{FF2B5EF4-FFF2-40B4-BE49-F238E27FC236}">
                <a16:creationId xmlns:a16="http://schemas.microsoft.com/office/drawing/2014/main" id="{7B41A54E-2996-4102-8CFF-3F8E113BFED3}"/>
              </a:ext>
            </a:extLst>
          </p:cNvPr>
          <p:cNvSpPr>
            <a:spLocks xmlns:a="http://schemas.openxmlformats.org/drawingml/2006/main" noGrp="1"/>
          </p:cNvSpPr>
          <p:nvPr/>
        </p:nvSpPr>
        <p:spPr>
          <a:xfrm xmlns:a="http://schemas.openxmlformats.org/drawingml/2006/main">
            <a:off x="841248" y="4718304"/>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spc="120">
                <a:solidFill>
                  <a:srgbClr val="52677F"/>
                </a:solidFill>
                <a:latin typeface="Helvetica Neue"/>
                <a:ea typeface="Helvetica Neue"/>
                <a:cs typeface="Helvetica Neue"/>
              </a:rPr>
              <a:t>THEN SHOW THESE FIVE THINGS</a:t>
            </a:r>
            <a:endParaRPr sz="1050"/>
          </a:p>
        </p:txBody>
      </p:sp>
      <p:sp>
        <p:nvSpPr>
          <p:cNvPr id="38" name="Shape 35">
            <a:extLst xmlns:a="http://schemas.openxmlformats.org/drawingml/2006/main">
              <a:ext uri="{FF2B5EF4-FFF2-40B4-BE49-F238E27FC236}">
                <a16:creationId xmlns:a16="http://schemas.microsoft.com/office/drawing/2014/main" id="{C10EC3E8-840C-475F-BA2B-08919EA6DB54}"/>
              </a:ext>
            </a:extLst>
          </p:cNvPr>
          <p:cNvSpPr>
            <a:spLocks xmlns:a="http://schemas.openxmlformats.org/drawingml/2006/main" noGrp="1"/>
          </p:cNvSpPr>
          <p:nvPr/>
        </p:nvSpPr>
        <p:spPr>
          <a:xfrm xmlns:a="http://schemas.openxmlformats.org/drawingml/2006/main">
            <a:off x="841248" y="513778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9" name="Text 36">
            <a:extLst xmlns:a="http://schemas.openxmlformats.org/drawingml/2006/main">
              <a:ext uri="{FF2B5EF4-FFF2-40B4-BE49-F238E27FC236}">
                <a16:creationId xmlns:a16="http://schemas.microsoft.com/office/drawing/2014/main" id="{2C11516B-B303-46D9-860D-0280F2527576}"/>
              </a:ext>
            </a:extLst>
          </p:cNvPr>
          <p:cNvSpPr>
            <a:spLocks xmlns:a="http://schemas.openxmlformats.org/drawingml/2006/main" noGrp="1"/>
          </p:cNvSpPr>
          <p:nvPr/>
        </p:nvSpPr>
        <p:spPr>
          <a:xfrm xmlns:a="http://schemas.openxmlformats.org/drawingml/2006/main">
            <a:off x="1060704" y="5047488"/>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Choose a skill the customer wants to explain.</a:t>
            </a:r>
            <a:endParaRPr sz="1350"/>
          </a:p>
        </p:txBody>
      </p:sp>
      <p:sp>
        <p:nvSpPr>
          <p:cNvPr id="40" name="Shape 37">
            <a:extLst xmlns:a="http://schemas.openxmlformats.org/drawingml/2006/main">
              <a:ext uri="{FF2B5EF4-FFF2-40B4-BE49-F238E27FC236}">
                <a16:creationId xmlns:a16="http://schemas.microsoft.com/office/drawing/2014/main" id="{BA3A4695-E0F4-4ED7-8C04-DB62A6748387}"/>
              </a:ext>
            </a:extLst>
          </p:cNvPr>
          <p:cNvSpPr>
            <a:spLocks xmlns:a="http://schemas.openxmlformats.org/drawingml/2006/main" noGrp="1"/>
          </p:cNvSpPr>
          <p:nvPr/>
        </p:nvSpPr>
        <p:spPr>
          <a:xfrm xmlns:a="http://schemas.openxmlformats.org/drawingml/2006/main">
            <a:off x="841248" y="5466969"/>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1" name="Text 38">
            <a:extLst xmlns:a="http://schemas.openxmlformats.org/drawingml/2006/main">
              <a:ext uri="{FF2B5EF4-FFF2-40B4-BE49-F238E27FC236}">
                <a16:creationId xmlns:a16="http://schemas.microsoft.com/office/drawing/2014/main" id="{F06E4BB2-E23E-4A52-8A8A-59B0739FF2F9}"/>
              </a:ext>
            </a:extLst>
          </p:cNvPr>
          <p:cNvSpPr>
            <a:spLocks xmlns:a="http://schemas.openxmlformats.org/drawingml/2006/main" noGrp="1"/>
          </p:cNvSpPr>
          <p:nvPr/>
        </p:nvSpPr>
        <p:spPr>
          <a:xfrm xmlns:a="http://schemas.openxmlformats.org/drawingml/2006/main">
            <a:off x="1060704" y="5376672"/>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Show tasks, tools, help and a real example.</a:t>
            </a:r>
            <a:endParaRPr sz="1350"/>
          </a:p>
        </p:txBody>
      </p:sp>
      <p:sp>
        <p:nvSpPr>
          <p:cNvPr id="42" name="Shape 39">
            <a:extLst xmlns:a="http://schemas.openxmlformats.org/drawingml/2006/main">
              <a:ext uri="{FF2B5EF4-FFF2-40B4-BE49-F238E27FC236}">
                <a16:creationId xmlns:a16="http://schemas.microsoft.com/office/drawing/2014/main" id="{EB9936E4-A4AE-4983-86B9-0AF0FA75062E}"/>
              </a:ext>
            </a:extLst>
          </p:cNvPr>
          <p:cNvSpPr>
            <a:spLocks xmlns:a="http://schemas.openxmlformats.org/drawingml/2006/main" noGrp="1"/>
          </p:cNvSpPr>
          <p:nvPr/>
        </p:nvSpPr>
        <p:spPr>
          <a:xfrm xmlns:a="http://schemas.openxmlformats.org/drawingml/2006/main">
            <a:off x="841248" y="5796153"/>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3" name="Text 40">
            <a:extLst xmlns:a="http://schemas.openxmlformats.org/drawingml/2006/main">
              <a:ext uri="{FF2B5EF4-FFF2-40B4-BE49-F238E27FC236}">
                <a16:creationId xmlns:a16="http://schemas.microsoft.com/office/drawing/2014/main" id="{CFAA825B-FA83-421E-B336-AD987FE4066B}"/>
              </a:ext>
            </a:extLst>
          </p:cNvPr>
          <p:cNvSpPr>
            <a:spLocks xmlns:a="http://schemas.openxmlformats.org/drawingml/2006/main" noGrp="1"/>
          </p:cNvSpPr>
          <p:nvPr/>
        </p:nvSpPr>
        <p:spPr>
          <a:xfrm xmlns:a="http://schemas.openxmlformats.org/drawingml/2006/main">
            <a:off x="1060704" y="5705856"/>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Explain one job match and one gap.</a:t>
            </a:r>
            <a:endParaRPr sz="1350"/>
          </a:p>
        </p:txBody>
      </p:sp>
      <p:sp>
        <p:nvSpPr>
          <p:cNvPr id="44" name="Shape 41">
            <a:extLst xmlns:a="http://schemas.openxmlformats.org/drawingml/2006/main">
              <a:ext uri="{FF2B5EF4-FFF2-40B4-BE49-F238E27FC236}">
                <a16:creationId xmlns:a16="http://schemas.microsoft.com/office/drawing/2014/main" id="{CEB1853D-7DD9-44E9-B1E6-FE848E466F3B}"/>
              </a:ext>
            </a:extLst>
          </p:cNvPr>
          <p:cNvSpPr>
            <a:spLocks xmlns:a="http://schemas.openxmlformats.org/drawingml/2006/main" noGrp="1"/>
          </p:cNvSpPr>
          <p:nvPr/>
        </p:nvSpPr>
        <p:spPr>
          <a:xfrm xmlns:a="http://schemas.openxmlformats.org/drawingml/2006/main">
            <a:off x="6242152" y="5137785"/>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5" name="Text 42">
            <a:extLst xmlns:a="http://schemas.openxmlformats.org/drawingml/2006/main">
              <a:ext uri="{FF2B5EF4-FFF2-40B4-BE49-F238E27FC236}">
                <a16:creationId xmlns:a16="http://schemas.microsoft.com/office/drawing/2014/main" id="{4EF4248A-9047-4037-9A67-5885936C7F9B}"/>
              </a:ext>
            </a:extLst>
          </p:cNvPr>
          <p:cNvSpPr>
            <a:spLocks xmlns:a="http://schemas.openxmlformats.org/drawingml/2006/main" noGrp="1"/>
          </p:cNvSpPr>
          <p:nvPr/>
        </p:nvSpPr>
        <p:spPr>
          <a:xfrm xmlns:a="http://schemas.openxmlformats.org/drawingml/2006/main">
            <a:off x="6461608" y="5047488"/>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Record the next step in the tracker.</a:t>
            </a:r>
            <a:endParaRPr sz="1350"/>
          </a:p>
        </p:txBody>
      </p:sp>
      <p:sp>
        <p:nvSpPr>
          <p:cNvPr id="46" name="Shape 43">
            <a:extLst xmlns:a="http://schemas.openxmlformats.org/drawingml/2006/main">
              <a:ext uri="{FF2B5EF4-FFF2-40B4-BE49-F238E27FC236}">
                <a16:creationId xmlns:a16="http://schemas.microsoft.com/office/drawing/2014/main" id="{8B324D81-FF0E-49BB-A5D6-5E1055101B17}"/>
              </a:ext>
            </a:extLst>
          </p:cNvPr>
          <p:cNvSpPr>
            <a:spLocks xmlns:a="http://schemas.openxmlformats.org/drawingml/2006/main" noGrp="1"/>
          </p:cNvSpPr>
          <p:nvPr/>
        </p:nvSpPr>
        <p:spPr>
          <a:xfrm xmlns:a="http://schemas.openxmlformats.org/drawingml/2006/main">
            <a:off x="6242152" y="5466969"/>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47" name="Text 44">
            <a:extLst xmlns:a="http://schemas.openxmlformats.org/drawingml/2006/main">
              <a:ext uri="{FF2B5EF4-FFF2-40B4-BE49-F238E27FC236}">
                <a16:creationId xmlns:a16="http://schemas.microsoft.com/office/drawing/2014/main" id="{107A3608-111F-4C4C-BCCE-15E8E5F77985}"/>
              </a:ext>
            </a:extLst>
          </p:cNvPr>
          <p:cNvSpPr>
            <a:spLocks xmlns:a="http://schemas.openxmlformats.org/drawingml/2006/main" noGrp="1"/>
          </p:cNvSpPr>
          <p:nvPr/>
        </p:nvSpPr>
        <p:spPr>
          <a:xfrm xmlns:a="http://schemas.openxmlformats.org/drawingml/2006/main">
            <a:off x="6461608" y="5376672"/>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47"/>
              </a:lnSpc>
              <a:buNone/>
            </a:pPr>
            <a:r>
              <a:rPr sz="1350">
                <a:solidFill>
                  <a:srgbClr val="171717"/>
                </a:solidFill>
                <a:latin typeface="Helvetica Neue"/>
                <a:ea typeface="Helvetica Neue"/>
                <a:cs typeface="Helvetica Neue"/>
              </a:rPr>
              <a:t>Connect the example to a resume claim.</a:t>
            </a:r>
            <a:endParaRPr sz="1350"/>
          </a:p>
        </p:txBody>
      </p:sp>
    </p:spTree>
    <p:extLst>
      <p:ext uri="{BB962C8B-B14F-4D97-AF65-F5344CB8AC3E}">
        <p14:creationId xmlns:p14="http://schemas.microsoft.com/office/powerpoint/2010/main" val="23966106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703B1EE8-517A-4B38-904F-4E783F2D4325}"/>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C2410C"/>
                </a:solidFill>
                <a:latin typeface="Helvetica Neue"/>
                <a:ea typeface="Helvetica Neue"/>
                <a:cs typeface="Helvetica Neue"/>
              </a:rPr>
              <a:t>PART 3 · HOW TO PILOT AND SELL IT</a:t>
            </a:r>
            <a:endParaRPr sz="1100"/>
          </a:p>
        </p:txBody>
      </p:sp>
      <p:sp>
        <p:nvSpPr>
          <p:cNvPr id="4" name="Shape 1">
            <a:extLst xmlns:a="http://schemas.openxmlformats.org/drawingml/2006/main">
              <a:ext uri="{FF2B5EF4-FFF2-40B4-BE49-F238E27FC236}">
                <a16:creationId xmlns:a16="http://schemas.microsoft.com/office/drawing/2014/main" id="{C50D3FAA-A5DC-4613-BFE6-EE8B886FD564}"/>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12700">
            <a:solidFill>
              <a:srgbClr val="C2410C"/>
            </a:solidFill>
            <a:prstDash val="solid"/>
          </a:ln>
        </p:spPr>
      </p:sp>
      <p:sp>
        <p:nvSpPr>
          <p:cNvPr id="5" name="Text 2">
            <a:extLst xmlns:a="http://schemas.openxmlformats.org/drawingml/2006/main">
              <a:ext uri="{FF2B5EF4-FFF2-40B4-BE49-F238E27FC236}">
                <a16:creationId xmlns:a16="http://schemas.microsoft.com/office/drawing/2014/main" id="{998A888E-D9C4-4C7C-8B6E-6D485EF90C99}"/>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5B9A070A-A2E4-4E27-9D1E-E5AB2BA39A74}"/>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Packaging and pricing experiments</a:t>
            </a:r>
            <a:endParaRPr sz="3000"/>
          </a:p>
        </p:txBody>
      </p:sp>
      <p:sp>
        <p:nvSpPr>
          <p:cNvPr id="7" name="Text 4">
            <a:extLst xmlns:a="http://schemas.openxmlformats.org/drawingml/2006/main">
              <a:ext uri="{FF2B5EF4-FFF2-40B4-BE49-F238E27FC236}">
                <a16:creationId xmlns:a16="http://schemas.microsoft.com/office/drawing/2014/main" id="{30CCAC2E-4717-4ABF-86BF-21910E43B285}"/>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Sell the reviewed profile and the organized search. Prices remain a decision after pilot evidence.</a:t>
            </a:r>
            <a:endParaRPr sz="1500"/>
          </a:p>
        </p:txBody>
      </p:sp>
      <p:sp>
        <p:nvSpPr>
          <p:cNvPr id="8" name="Shape 5">
            <a:extLst xmlns:a="http://schemas.openxmlformats.org/drawingml/2006/main">
              <a:ext uri="{FF2B5EF4-FFF2-40B4-BE49-F238E27FC236}">
                <a16:creationId xmlns:a16="http://schemas.microsoft.com/office/drawing/2014/main" id="{F798045A-56EE-4694-ACAE-4F27AF515970}"/>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37979918-3678-4433-8617-DEC69AC9BC86}"/>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27B43D94-761D-4B67-8B88-E0AB7A6BF840}"/>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27 / 29</a:t>
            </a:r>
            <a:endParaRPr sz="900"/>
          </a:p>
        </p:txBody>
      </p:sp>
      <p:sp>
        <p:nvSpPr>
          <p:cNvPr id="11" name="Shape 8">
            <a:extLst xmlns:a="http://schemas.openxmlformats.org/drawingml/2006/main">
              <a:ext uri="{FF2B5EF4-FFF2-40B4-BE49-F238E27FC236}">
                <a16:creationId xmlns:a16="http://schemas.microsoft.com/office/drawing/2014/main" id="{B50C4B1C-F410-44AF-8DE4-97F2EB9DA052}"/>
              </a:ext>
            </a:extLst>
          </p:cNvPr>
          <p:cNvSpPr>
            <a:spLocks xmlns:a="http://schemas.openxmlformats.org/drawingml/2006/main" noGrp="1"/>
          </p:cNvSpPr>
          <p:nvPr/>
        </p:nvSpPr>
        <p:spPr>
          <a:xfrm xmlns:a="http://schemas.openxmlformats.org/drawingml/2006/main">
            <a:off x="548640" y="1554480"/>
            <a:ext cx="5432908" cy="3474720"/>
          </a:xfrm>
          <a:prstGeom xmlns:a="http://schemas.openxmlformats.org/drawingml/2006/main" prst="roundRect">
            <a:avLst>
              <a:gd name="adj" fmla="val 2105"/>
            </a:avLst>
          </a:prstGeom>
          <a:solidFill xmlns:a="http://schemas.openxmlformats.org/drawingml/2006/main">
            <a:srgbClr val="F3F6FB"/>
          </a:solidFill>
          <a:ln xmlns:a="http://schemas.openxmlformats.org/drawingml/2006/main" w="9525">
            <a:solidFill>
              <a:srgbClr val="C9D6E8"/>
            </a:solidFill>
            <a:prstDash val="solid"/>
          </a:ln>
        </p:spPr>
      </p:sp>
      <p:sp>
        <p:nvSpPr>
          <p:cNvPr id="12" name="Shape 9">
            <a:extLst xmlns:a="http://schemas.openxmlformats.org/drawingml/2006/main">
              <a:ext uri="{FF2B5EF4-FFF2-40B4-BE49-F238E27FC236}">
                <a16:creationId xmlns:a16="http://schemas.microsoft.com/office/drawing/2014/main" id="{C85C03BD-2B66-49E1-8639-146D64B118AB}"/>
              </a:ext>
            </a:extLst>
          </p:cNvPr>
          <p:cNvSpPr>
            <a:spLocks xmlns:a="http://schemas.openxmlformats.org/drawingml/2006/main" noGrp="1"/>
          </p:cNvSpPr>
          <p:nvPr/>
        </p:nvSpPr>
        <p:spPr>
          <a:xfrm xmlns:a="http://schemas.openxmlformats.org/drawingml/2006/main">
            <a:off x="548640" y="1554480"/>
            <a:ext cx="5432908" cy="420624"/>
          </a:xfrm>
          <a:prstGeom xmlns:a="http://schemas.openxmlformats.org/drawingml/2006/main" prst="roundRect">
            <a:avLst>
              <a:gd name="adj" fmla="val 17391"/>
            </a:avLst>
          </a:prstGeom>
          <a:solidFill xmlns:a="http://schemas.openxmlformats.org/drawingml/2006/main">
            <a:srgbClr val="C2410C"/>
          </a:solidFill>
          <a:ln xmlns:a="http://schemas.openxmlformats.org/drawingml/2006/main" w="12700">
            <a:solidFill>
              <a:srgbClr val="C2410C"/>
            </a:solidFill>
            <a:prstDash val="solid"/>
          </a:ln>
        </p:spPr>
      </p:sp>
      <p:sp>
        <p:nvSpPr>
          <p:cNvPr id="13" name="Text 10">
            <a:extLst xmlns:a="http://schemas.openxmlformats.org/drawingml/2006/main">
              <a:ext uri="{FF2B5EF4-FFF2-40B4-BE49-F238E27FC236}">
                <a16:creationId xmlns:a16="http://schemas.microsoft.com/office/drawing/2014/main" id="{5B4ECB1D-3345-4E7D-8D44-E34D2B73B5C5}"/>
              </a:ext>
            </a:extLst>
          </p:cNvPr>
          <p:cNvSpPr>
            <a:spLocks xmlns:a="http://schemas.openxmlformats.org/drawingml/2006/main" noGrp="1"/>
          </p:cNvSpPr>
          <p:nvPr/>
        </p:nvSpPr>
        <p:spPr>
          <a:xfrm xmlns:a="http://schemas.openxmlformats.org/drawingml/2006/main">
            <a:off x="804672" y="1659636"/>
            <a:ext cx="49208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20">
                <a:solidFill>
                  <a:srgbClr val="FFFFFF"/>
                </a:solidFill>
                <a:latin typeface="Helvetica Neue"/>
                <a:ea typeface="Helvetica Neue"/>
                <a:cs typeface="Helvetica Neue"/>
              </a:rPr>
              <a:t>EXPERIMENT A</a:t>
            </a:r>
            <a:endParaRPr sz="1200"/>
          </a:p>
        </p:txBody>
      </p:sp>
      <p:sp>
        <p:nvSpPr>
          <p:cNvPr id="14" name="Text 11">
            <a:extLst xmlns:a="http://schemas.openxmlformats.org/drawingml/2006/main">
              <a:ext uri="{FF2B5EF4-FFF2-40B4-BE49-F238E27FC236}">
                <a16:creationId xmlns:a16="http://schemas.microsoft.com/office/drawing/2014/main" id="{68C3018A-C1B6-4B61-983C-28EE9F9F5568}"/>
              </a:ext>
            </a:extLst>
          </p:cNvPr>
          <p:cNvSpPr>
            <a:spLocks xmlns:a="http://schemas.openxmlformats.org/drawingml/2006/main" noGrp="1"/>
          </p:cNvSpPr>
          <p:nvPr/>
        </p:nvSpPr>
        <p:spPr>
          <a:xfrm xmlns:a="http://schemas.openxmlformats.org/drawingml/2006/main">
            <a:off x="804672" y="2194560"/>
            <a:ext cx="49208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100"/>
              </a:lnSpc>
              <a:buNone/>
            </a:pPr>
            <a:r>
              <a:rPr sz="1550" b="1">
                <a:solidFill>
                  <a:srgbClr val="0B2545"/>
                </a:solidFill>
                <a:latin typeface="Helvetica Neue"/>
                <a:ea typeface="Helvetica Neue"/>
                <a:cs typeface="Helvetica Neue"/>
              </a:rPr>
              <a:t>A monthly plan for an active search, with a stated AI allowance and clear cancellation terms.</a:t>
            </a:r>
            <a:endParaRPr sz="1550"/>
          </a:p>
        </p:txBody>
      </p:sp>
      <p:sp>
        <p:nvSpPr>
          <p:cNvPr id="15" name="Text 12">
            <a:extLst xmlns:a="http://schemas.openxmlformats.org/drawingml/2006/main">
              <a:ext uri="{FF2B5EF4-FFF2-40B4-BE49-F238E27FC236}">
                <a16:creationId xmlns:a16="http://schemas.microsoft.com/office/drawing/2014/main" id="{9DB6764C-A8B9-4CB5-AF62-4BF8793F2C2E}"/>
              </a:ext>
            </a:extLst>
          </p:cNvPr>
          <p:cNvSpPr>
            <a:spLocks xmlns:a="http://schemas.openxmlformats.org/drawingml/2006/main" noGrp="1"/>
          </p:cNvSpPr>
          <p:nvPr/>
        </p:nvSpPr>
        <p:spPr>
          <a:xfrm xmlns:a="http://schemas.openxmlformats.org/drawingml/2006/main">
            <a:off x="804672" y="3291840"/>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WHAT IT TESTS</a:t>
            </a:r>
            <a:endParaRPr sz="1100"/>
          </a:p>
        </p:txBody>
      </p:sp>
      <p:sp>
        <p:nvSpPr>
          <p:cNvPr id="16" name="Shape 13">
            <a:extLst xmlns:a="http://schemas.openxmlformats.org/drawingml/2006/main">
              <a:ext uri="{FF2B5EF4-FFF2-40B4-BE49-F238E27FC236}">
                <a16:creationId xmlns:a16="http://schemas.microsoft.com/office/drawing/2014/main" id="{C42C8420-3AC0-49B1-A9D0-F084142A45A2}"/>
              </a:ext>
            </a:extLst>
          </p:cNvPr>
          <p:cNvSpPr>
            <a:spLocks xmlns:a="http://schemas.openxmlformats.org/drawingml/2006/main" noGrp="1"/>
          </p:cNvSpPr>
          <p:nvPr/>
        </p:nvSpPr>
        <p:spPr>
          <a:xfrm xmlns:a="http://schemas.openxmlformats.org/drawingml/2006/main">
            <a:off x="804672" y="3713988"/>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17" name="Text 14">
            <a:extLst xmlns:a="http://schemas.openxmlformats.org/drawingml/2006/main">
              <a:ext uri="{FF2B5EF4-FFF2-40B4-BE49-F238E27FC236}">
                <a16:creationId xmlns:a16="http://schemas.microsoft.com/office/drawing/2014/main" id="{44526069-06DF-4EBE-A8DF-4C45960F7835}"/>
              </a:ext>
            </a:extLst>
          </p:cNvPr>
          <p:cNvSpPr>
            <a:spLocks xmlns:a="http://schemas.openxmlformats.org/drawingml/2006/main" noGrp="1"/>
          </p:cNvSpPr>
          <p:nvPr/>
        </p:nvSpPr>
        <p:spPr>
          <a:xfrm xmlns:a="http://schemas.openxmlformats.org/drawingml/2006/main">
            <a:off x="1024128" y="362102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Whether the offer is understood.</a:t>
            </a:r>
            <a:endParaRPr sz="1400"/>
          </a:p>
        </p:txBody>
      </p:sp>
      <p:sp>
        <p:nvSpPr>
          <p:cNvPr id="18" name="Shape 15">
            <a:extLst xmlns:a="http://schemas.openxmlformats.org/drawingml/2006/main">
              <a:ext uri="{FF2B5EF4-FFF2-40B4-BE49-F238E27FC236}">
                <a16:creationId xmlns:a16="http://schemas.microsoft.com/office/drawing/2014/main" id="{AC8AD0C8-AD84-456F-9F80-BD324902DEE8}"/>
              </a:ext>
            </a:extLst>
          </p:cNvPr>
          <p:cNvSpPr>
            <a:spLocks xmlns:a="http://schemas.openxmlformats.org/drawingml/2006/main" noGrp="1"/>
          </p:cNvSpPr>
          <p:nvPr/>
        </p:nvSpPr>
        <p:spPr>
          <a:xfrm xmlns:a="http://schemas.openxmlformats.org/drawingml/2006/main">
            <a:off x="804672" y="4116324"/>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19" name="Text 16">
            <a:extLst xmlns:a="http://schemas.openxmlformats.org/drawingml/2006/main">
              <a:ext uri="{FF2B5EF4-FFF2-40B4-BE49-F238E27FC236}">
                <a16:creationId xmlns:a16="http://schemas.microsoft.com/office/drawing/2014/main" id="{F3421B61-A111-41CC-979A-9F7EEEA45A3E}"/>
              </a:ext>
            </a:extLst>
          </p:cNvPr>
          <p:cNvSpPr>
            <a:spLocks xmlns:a="http://schemas.openxmlformats.org/drawingml/2006/main" noGrp="1"/>
          </p:cNvSpPr>
          <p:nvPr/>
        </p:nvSpPr>
        <p:spPr>
          <a:xfrm xmlns:a="http://schemas.openxmlformats.org/drawingml/2006/main">
            <a:off x="1024128" y="4023360"/>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Willingness to pay and repeat use.</a:t>
            </a:r>
            <a:endParaRPr sz="1400"/>
          </a:p>
        </p:txBody>
      </p:sp>
      <p:sp>
        <p:nvSpPr>
          <p:cNvPr id="20" name="Shape 17">
            <a:extLst xmlns:a="http://schemas.openxmlformats.org/drawingml/2006/main">
              <a:ext uri="{FF2B5EF4-FFF2-40B4-BE49-F238E27FC236}">
                <a16:creationId xmlns:a16="http://schemas.microsoft.com/office/drawing/2014/main" id="{8A957E28-EE78-453F-BE1B-33E0094AAA38}"/>
              </a:ext>
            </a:extLst>
          </p:cNvPr>
          <p:cNvSpPr>
            <a:spLocks xmlns:a="http://schemas.openxmlformats.org/drawingml/2006/main" noGrp="1"/>
          </p:cNvSpPr>
          <p:nvPr/>
        </p:nvSpPr>
        <p:spPr>
          <a:xfrm xmlns:a="http://schemas.openxmlformats.org/drawingml/2006/main">
            <a:off x="804672" y="4518660"/>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21" name="Text 18">
            <a:extLst xmlns:a="http://schemas.openxmlformats.org/drawingml/2006/main">
              <a:ext uri="{FF2B5EF4-FFF2-40B4-BE49-F238E27FC236}">
                <a16:creationId xmlns:a16="http://schemas.microsoft.com/office/drawing/2014/main" id="{2B2FF4C3-80D3-4407-A6A7-D5D1DA8DB833}"/>
              </a:ext>
            </a:extLst>
          </p:cNvPr>
          <p:cNvSpPr>
            <a:spLocks xmlns:a="http://schemas.openxmlformats.org/drawingml/2006/main" noGrp="1"/>
          </p:cNvSpPr>
          <p:nvPr/>
        </p:nvSpPr>
        <p:spPr>
          <a:xfrm xmlns:a="http://schemas.openxmlformats.org/drawingml/2006/main">
            <a:off x="1024128" y="4425696"/>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Reasons for cancelling.</a:t>
            </a:r>
            <a:endParaRPr sz="1400"/>
          </a:p>
        </p:txBody>
      </p:sp>
      <p:sp>
        <p:nvSpPr>
          <p:cNvPr id="22" name="Shape 19">
            <a:extLst xmlns:a="http://schemas.openxmlformats.org/drawingml/2006/main">
              <a:ext uri="{FF2B5EF4-FFF2-40B4-BE49-F238E27FC236}">
                <a16:creationId xmlns:a16="http://schemas.microsoft.com/office/drawing/2014/main" id="{CA9587ED-8385-4FC8-A6E7-1FB73B7756F0}"/>
              </a:ext>
            </a:extLst>
          </p:cNvPr>
          <p:cNvSpPr>
            <a:spLocks xmlns:a="http://schemas.openxmlformats.org/drawingml/2006/main" noGrp="1"/>
          </p:cNvSpPr>
          <p:nvPr/>
        </p:nvSpPr>
        <p:spPr>
          <a:xfrm xmlns:a="http://schemas.openxmlformats.org/drawingml/2006/main">
            <a:off x="6210148" y="1554480"/>
            <a:ext cx="5432908" cy="3474720"/>
          </a:xfrm>
          <a:prstGeom xmlns:a="http://schemas.openxmlformats.org/drawingml/2006/main" prst="roundRect">
            <a:avLst>
              <a:gd name="adj" fmla="val 2105"/>
            </a:avLst>
          </a:prstGeom>
          <a:solidFill xmlns:a="http://schemas.openxmlformats.org/drawingml/2006/main">
            <a:srgbClr val="F3F6FB"/>
          </a:solidFill>
          <a:ln xmlns:a="http://schemas.openxmlformats.org/drawingml/2006/main" w="9525">
            <a:solidFill>
              <a:srgbClr val="C9D6E8"/>
            </a:solidFill>
            <a:prstDash val="solid"/>
          </a:ln>
        </p:spPr>
      </p:sp>
      <p:sp>
        <p:nvSpPr>
          <p:cNvPr id="23" name="Shape 20">
            <a:extLst xmlns:a="http://schemas.openxmlformats.org/drawingml/2006/main">
              <a:ext uri="{FF2B5EF4-FFF2-40B4-BE49-F238E27FC236}">
                <a16:creationId xmlns:a16="http://schemas.microsoft.com/office/drawing/2014/main" id="{190C69AD-6EEB-499B-AB2F-D7F36691BCAC}"/>
              </a:ext>
            </a:extLst>
          </p:cNvPr>
          <p:cNvSpPr>
            <a:spLocks xmlns:a="http://schemas.openxmlformats.org/drawingml/2006/main" noGrp="1"/>
          </p:cNvSpPr>
          <p:nvPr/>
        </p:nvSpPr>
        <p:spPr>
          <a:xfrm xmlns:a="http://schemas.openxmlformats.org/drawingml/2006/main">
            <a:off x="6210148" y="1554480"/>
            <a:ext cx="5432908" cy="420624"/>
          </a:xfrm>
          <a:prstGeom xmlns:a="http://schemas.openxmlformats.org/drawingml/2006/main" prst="roundRect">
            <a:avLst>
              <a:gd name="adj" fmla="val 17391"/>
            </a:avLst>
          </a:prstGeom>
          <a:solidFill xmlns:a="http://schemas.openxmlformats.org/drawingml/2006/main">
            <a:srgbClr val="C2410C"/>
          </a:solidFill>
          <a:ln xmlns:a="http://schemas.openxmlformats.org/drawingml/2006/main" w="12700">
            <a:solidFill>
              <a:srgbClr val="C2410C"/>
            </a:solidFill>
            <a:prstDash val="solid"/>
          </a:ln>
        </p:spPr>
      </p:sp>
      <p:sp>
        <p:nvSpPr>
          <p:cNvPr id="24" name="Text 21">
            <a:extLst xmlns:a="http://schemas.openxmlformats.org/drawingml/2006/main">
              <a:ext uri="{FF2B5EF4-FFF2-40B4-BE49-F238E27FC236}">
                <a16:creationId xmlns:a16="http://schemas.microsoft.com/office/drawing/2014/main" id="{780CEACC-06B8-496E-9C24-8B6EAA69DE72}"/>
              </a:ext>
            </a:extLst>
          </p:cNvPr>
          <p:cNvSpPr>
            <a:spLocks xmlns:a="http://schemas.openxmlformats.org/drawingml/2006/main" noGrp="1"/>
          </p:cNvSpPr>
          <p:nvPr/>
        </p:nvSpPr>
        <p:spPr>
          <a:xfrm xmlns:a="http://schemas.openxmlformats.org/drawingml/2006/main">
            <a:off x="6466180" y="1659636"/>
            <a:ext cx="492084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120">
                <a:solidFill>
                  <a:srgbClr val="FFFFFF"/>
                </a:solidFill>
                <a:latin typeface="Helvetica Neue"/>
                <a:ea typeface="Helvetica Neue"/>
                <a:cs typeface="Helvetica Neue"/>
              </a:rPr>
              <a:t>EXPERIMENT B</a:t>
            </a:r>
            <a:endParaRPr sz="1200"/>
          </a:p>
        </p:txBody>
      </p:sp>
      <p:sp>
        <p:nvSpPr>
          <p:cNvPr id="25" name="Text 22">
            <a:extLst xmlns:a="http://schemas.openxmlformats.org/drawingml/2006/main">
              <a:ext uri="{FF2B5EF4-FFF2-40B4-BE49-F238E27FC236}">
                <a16:creationId xmlns:a16="http://schemas.microsoft.com/office/drawing/2014/main" id="{D5C6A3CD-5F81-4D68-B408-9B0844380D27}"/>
              </a:ext>
            </a:extLst>
          </p:cNvPr>
          <p:cNvSpPr>
            <a:spLocks xmlns:a="http://schemas.openxmlformats.org/drawingml/2006/main" noGrp="1"/>
          </p:cNvSpPr>
          <p:nvPr/>
        </p:nvSpPr>
        <p:spPr>
          <a:xfrm xmlns:a="http://schemas.openxmlformats.org/drawingml/2006/main">
            <a:off x="6466180" y="2194560"/>
            <a:ext cx="49208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100"/>
              </a:lnSpc>
              <a:buNone/>
            </a:pPr>
            <a:r>
              <a:rPr sz="1550" b="1">
                <a:solidFill>
                  <a:srgbClr val="0B2545"/>
                </a:solidFill>
                <a:latin typeface="Helvetica Neue"/>
                <a:ea typeface="Helvetica Neue"/>
                <a:cs typeface="Helvetica Neue"/>
              </a:rPr>
              <a:t>A fixed 30-day search package that starts with resume setup.</a:t>
            </a:r>
            <a:endParaRPr sz="1550"/>
          </a:p>
        </p:txBody>
      </p:sp>
      <p:sp>
        <p:nvSpPr>
          <p:cNvPr id="26" name="Text 23">
            <a:extLst xmlns:a="http://schemas.openxmlformats.org/drawingml/2006/main">
              <a:ext uri="{FF2B5EF4-FFF2-40B4-BE49-F238E27FC236}">
                <a16:creationId xmlns:a16="http://schemas.microsoft.com/office/drawing/2014/main" id="{58D4A998-252C-4F95-9954-CD9CB6DA6978}"/>
              </a:ext>
            </a:extLst>
          </p:cNvPr>
          <p:cNvSpPr>
            <a:spLocks xmlns:a="http://schemas.openxmlformats.org/drawingml/2006/main" noGrp="1"/>
          </p:cNvSpPr>
          <p:nvPr/>
        </p:nvSpPr>
        <p:spPr>
          <a:xfrm xmlns:a="http://schemas.openxmlformats.org/drawingml/2006/main">
            <a:off x="6466180" y="3291840"/>
            <a:ext cx="4572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20">
                <a:solidFill>
                  <a:srgbClr val="C2410C"/>
                </a:solidFill>
                <a:latin typeface="Helvetica Neue"/>
                <a:ea typeface="Helvetica Neue"/>
                <a:cs typeface="Helvetica Neue"/>
              </a:rPr>
              <a:t>WHAT IT TESTS</a:t>
            </a:r>
            <a:endParaRPr sz="1100"/>
          </a:p>
        </p:txBody>
      </p:sp>
      <p:sp>
        <p:nvSpPr>
          <p:cNvPr id="27" name="Shape 24">
            <a:extLst xmlns:a="http://schemas.openxmlformats.org/drawingml/2006/main">
              <a:ext uri="{FF2B5EF4-FFF2-40B4-BE49-F238E27FC236}">
                <a16:creationId xmlns:a16="http://schemas.microsoft.com/office/drawing/2014/main" id="{2BD28137-B5A3-417B-AE92-1D4759ED5205}"/>
              </a:ext>
            </a:extLst>
          </p:cNvPr>
          <p:cNvSpPr>
            <a:spLocks xmlns:a="http://schemas.openxmlformats.org/drawingml/2006/main" noGrp="1"/>
          </p:cNvSpPr>
          <p:nvPr/>
        </p:nvSpPr>
        <p:spPr>
          <a:xfrm xmlns:a="http://schemas.openxmlformats.org/drawingml/2006/main">
            <a:off x="6466180" y="3713988"/>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28" name="Text 25">
            <a:extLst xmlns:a="http://schemas.openxmlformats.org/drawingml/2006/main">
              <a:ext uri="{FF2B5EF4-FFF2-40B4-BE49-F238E27FC236}">
                <a16:creationId xmlns:a16="http://schemas.microsoft.com/office/drawing/2014/main" id="{5EB2B968-6D7F-47AA-B05D-DFC3C57125AB}"/>
              </a:ext>
            </a:extLst>
          </p:cNvPr>
          <p:cNvSpPr>
            <a:spLocks xmlns:a="http://schemas.openxmlformats.org/drawingml/2006/main" noGrp="1"/>
          </p:cNvSpPr>
          <p:nvPr/>
        </p:nvSpPr>
        <p:spPr>
          <a:xfrm xmlns:a="http://schemas.openxmlformats.org/drawingml/2006/main">
            <a:off x="6685636" y="3621024"/>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Completion of a first approved resume.</a:t>
            </a:r>
            <a:endParaRPr sz="1400"/>
          </a:p>
        </p:txBody>
      </p:sp>
      <p:sp>
        <p:nvSpPr>
          <p:cNvPr id="29" name="Shape 26">
            <a:extLst xmlns:a="http://schemas.openxmlformats.org/drawingml/2006/main">
              <a:ext uri="{FF2B5EF4-FFF2-40B4-BE49-F238E27FC236}">
                <a16:creationId xmlns:a16="http://schemas.microsoft.com/office/drawing/2014/main" id="{974520FB-C3BE-480E-8118-E4943D1E5CA2}"/>
              </a:ext>
            </a:extLst>
          </p:cNvPr>
          <p:cNvSpPr>
            <a:spLocks xmlns:a="http://schemas.openxmlformats.org/drawingml/2006/main" noGrp="1"/>
          </p:cNvSpPr>
          <p:nvPr/>
        </p:nvSpPr>
        <p:spPr>
          <a:xfrm xmlns:a="http://schemas.openxmlformats.org/drawingml/2006/main">
            <a:off x="6466180" y="4116324"/>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0" name="Text 27">
            <a:extLst xmlns:a="http://schemas.openxmlformats.org/drawingml/2006/main">
              <a:ext uri="{FF2B5EF4-FFF2-40B4-BE49-F238E27FC236}">
                <a16:creationId xmlns:a16="http://schemas.microsoft.com/office/drawing/2014/main" id="{976922E7-C98C-43F3-92FF-DDB9A9080B4E}"/>
              </a:ext>
            </a:extLst>
          </p:cNvPr>
          <p:cNvSpPr>
            <a:spLocks xmlns:a="http://schemas.openxmlformats.org/drawingml/2006/main" noGrp="1"/>
          </p:cNvSpPr>
          <p:nvPr/>
        </p:nvSpPr>
        <p:spPr>
          <a:xfrm xmlns:a="http://schemas.openxmlformats.org/drawingml/2006/main">
            <a:off x="6685636" y="4023360"/>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Preference tied to expected search length.</a:t>
            </a:r>
            <a:endParaRPr sz="1400"/>
          </a:p>
        </p:txBody>
      </p:sp>
      <p:sp>
        <p:nvSpPr>
          <p:cNvPr id="31" name="Shape 28">
            <a:extLst xmlns:a="http://schemas.openxmlformats.org/drawingml/2006/main">
              <a:ext uri="{FF2B5EF4-FFF2-40B4-BE49-F238E27FC236}">
                <a16:creationId xmlns:a16="http://schemas.microsoft.com/office/drawing/2014/main" id="{B3AA844C-1355-48A5-89A7-62958A03292F}"/>
              </a:ext>
            </a:extLst>
          </p:cNvPr>
          <p:cNvSpPr>
            <a:spLocks xmlns:a="http://schemas.openxmlformats.org/drawingml/2006/main" noGrp="1"/>
          </p:cNvSpPr>
          <p:nvPr/>
        </p:nvSpPr>
        <p:spPr>
          <a:xfrm xmlns:a="http://schemas.openxmlformats.org/drawingml/2006/main">
            <a:off x="6466180" y="4518660"/>
            <a:ext cx="77724" cy="77724"/>
          </a:xfrm>
          <a:prstGeom xmlns:a="http://schemas.openxmlformats.org/drawingml/2006/main" prst="rect">
            <a:avLst/>
          </a:prstGeom>
          <a:solidFill xmlns:a="http://schemas.openxmlformats.org/drawingml/2006/main">
            <a:srgbClr val="C2410C"/>
          </a:solidFill>
          <a:ln xmlns:a="http://schemas.openxmlformats.org/drawingml/2006/main" w="12700">
            <a:solidFill>
              <a:srgbClr val="C2410C"/>
            </a:solidFill>
            <a:prstDash val="solid"/>
          </a:ln>
        </p:spPr>
      </p:sp>
      <p:sp>
        <p:nvSpPr>
          <p:cNvPr id="32" name="Text 29">
            <a:extLst xmlns:a="http://schemas.openxmlformats.org/drawingml/2006/main">
              <a:ext uri="{FF2B5EF4-FFF2-40B4-BE49-F238E27FC236}">
                <a16:creationId xmlns:a16="http://schemas.microsoft.com/office/drawing/2014/main" id="{34FCF127-2F9C-4ECD-98CE-A99ACCFCF7BE}"/>
              </a:ext>
            </a:extLst>
          </p:cNvPr>
          <p:cNvSpPr>
            <a:spLocks xmlns:a="http://schemas.openxmlformats.org/drawingml/2006/main" noGrp="1"/>
          </p:cNvSpPr>
          <p:nvPr/>
        </p:nvSpPr>
        <p:spPr>
          <a:xfrm xmlns:a="http://schemas.openxmlformats.org/drawingml/2006/main">
            <a:off x="6685636" y="4425696"/>
            <a:ext cx="470138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8"/>
              </a:lnSpc>
              <a:buNone/>
            </a:pPr>
            <a:r>
              <a:rPr sz="1400">
                <a:solidFill>
                  <a:srgbClr val="171717"/>
                </a:solidFill>
                <a:latin typeface="Helvetica Neue"/>
                <a:ea typeface="Helvetica Neue"/>
                <a:cs typeface="Helvetica Neue"/>
              </a:rPr>
              <a:t>Support demand per customer.</a:t>
            </a:r>
            <a:endParaRPr sz="1400"/>
          </a:p>
        </p:txBody>
      </p:sp>
      <p:sp>
        <p:nvSpPr>
          <p:cNvPr id="33" name="Shape 30">
            <a:extLst xmlns:a="http://schemas.openxmlformats.org/drawingml/2006/main">
              <a:ext uri="{FF2B5EF4-FFF2-40B4-BE49-F238E27FC236}">
                <a16:creationId xmlns:a16="http://schemas.microsoft.com/office/drawing/2014/main" id="{C4C2879E-CBE3-4111-8191-61C377586B3C}"/>
              </a:ext>
            </a:extLst>
          </p:cNvPr>
          <p:cNvSpPr>
            <a:spLocks xmlns:a="http://schemas.openxmlformats.org/drawingml/2006/main" noGrp="1"/>
          </p:cNvSpPr>
          <p:nvPr/>
        </p:nvSpPr>
        <p:spPr>
          <a:xfrm xmlns:a="http://schemas.openxmlformats.org/drawingml/2006/main">
            <a:off x="548640" y="5303520"/>
            <a:ext cx="11094415" cy="566928"/>
          </a:xfrm>
          <a:prstGeom xmlns:a="http://schemas.openxmlformats.org/drawingml/2006/main" prst="roundRect">
            <a:avLst>
              <a:gd name="adj" fmla="val 12903"/>
            </a:avLst>
          </a:prstGeom>
          <a:solidFill xmlns:a="http://schemas.openxmlformats.org/drawingml/2006/main">
            <a:srgbClr val="FDECEC"/>
          </a:solidFill>
          <a:ln xmlns:a="http://schemas.openxmlformats.org/drawingml/2006/main" w="9525">
            <a:solidFill>
              <a:srgbClr val="F3C4C4"/>
            </a:solidFill>
            <a:prstDash val="solid"/>
          </a:ln>
        </p:spPr>
      </p:sp>
      <p:sp>
        <p:nvSpPr>
          <p:cNvPr id="34" name="Text 31">
            <a:extLst xmlns:a="http://schemas.openxmlformats.org/drawingml/2006/main">
              <a:ext uri="{FF2B5EF4-FFF2-40B4-BE49-F238E27FC236}">
                <a16:creationId xmlns:a16="http://schemas.microsoft.com/office/drawing/2014/main" id="{4149219A-2FD6-4643-B6A4-0E61678C69E6}"/>
              </a:ext>
            </a:extLst>
          </p:cNvPr>
          <p:cNvSpPr>
            <a:spLocks xmlns:a="http://schemas.openxmlformats.org/drawingml/2006/main" noGrp="1"/>
          </p:cNvSpPr>
          <p:nvPr/>
        </p:nvSpPr>
        <p:spPr>
          <a:xfrm xmlns:a="http://schemas.openxmlformats.org/drawingml/2006/main">
            <a:off x="804672" y="5394960"/>
            <a:ext cx="1058235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50" b="1">
                <a:solidFill>
                  <a:srgbClr val="B42318"/>
                </a:solidFill>
                <a:latin typeface="Helvetica Neue"/>
                <a:ea typeface="Helvetica Neue"/>
                <a:cs typeface="Helvetica Neue"/>
              </a:rPr>
              <a:t>Billing is not built. Hosting, AI, job data, processing and support remain operator costs until pilot evidence sets a price.</a:t>
            </a:r>
            <a:endParaRPr sz="1350"/>
          </a:p>
        </p:txBody>
      </p:sp>
    </p:spTree>
    <p:extLst>
      <p:ext uri="{BB962C8B-B14F-4D97-AF65-F5344CB8AC3E}">
        <p14:creationId xmlns:p14="http://schemas.microsoft.com/office/powerpoint/2010/main" val="208461157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1D095D13-15DB-437F-AA0E-9DFA0D8037BE}"/>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C2410C"/>
                </a:solidFill>
                <a:latin typeface="Helvetica Neue"/>
                <a:ea typeface="Helvetica Neue"/>
                <a:cs typeface="Helvetica Neue"/>
              </a:rPr>
              <a:t>PART 3 · HOW TO PILOT AND SELL IT</a:t>
            </a:r>
            <a:endParaRPr sz="1100"/>
          </a:p>
        </p:txBody>
      </p:sp>
      <p:sp>
        <p:nvSpPr>
          <p:cNvPr id="4" name="Shape 1">
            <a:extLst xmlns:a="http://schemas.openxmlformats.org/drawingml/2006/main">
              <a:ext uri="{FF2B5EF4-FFF2-40B4-BE49-F238E27FC236}">
                <a16:creationId xmlns:a16="http://schemas.microsoft.com/office/drawing/2014/main" id="{6699B9EC-1CD5-40BD-AD8F-DB0AFD70593E}"/>
              </a:ext>
            </a:extLst>
          </p:cNvPr>
          <p:cNvSpPr>
            <a:spLocks xmlns:a="http://schemas.openxmlformats.org/drawingml/2006/main" noGrp="1"/>
          </p:cNvSpPr>
          <p:nvPr/>
        </p:nvSpPr>
        <p:spPr>
          <a:xfrm xmlns:a="http://schemas.openxmlformats.org/drawingml/2006/main">
            <a:off x="10212019" y="365760"/>
            <a:ext cx="1431036" cy="274320"/>
          </a:xfrm>
          <a:prstGeom xmlns:a="http://schemas.openxmlformats.org/drawingml/2006/main" prst="roundRect">
            <a:avLst>
              <a:gd name="adj" fmla="val 50000"/>
            </a:avLst>
          </a:prstGeom>
          <a:solidFill xmlns:a="http://schemas.openxmlformats.org/drawingml/2006/main">
            <a:srgbClr val="C2410C"/>
          </a:solidFill>
          <a:ln xmlns:a="http://schemas.openxmlformats.org/drawingml/2006/main" w="12700">
            <a:solidFill>
              <a:srgbClr val="C2410C"/>
            </a:solidFill>
            <a:prstDash val="solid"/>
          </a:ln>
        </p:spPr>
      </p:sp>
      <p:sp>
        <p:nvSpPr>
          <p:cNvPr id="5" name="Text 2">
            <a:extLst xmlns:a="http://schemas.openxmlformats.org/drawingml/2006/main">
              <a:ext uri="{FF2B5EF4-FFF2-40B4-BE49-F238E27FC236}">
                <a16:creationId xmlns:a16="http://schemas.microsoft.com/office/drawing/2014/main" id="{917FE921-4F77-44B3-A3ED-28DE5773F1C1}"/>
              </a:ext>
            </a:extLst>
          </p:cNvPr>
          <p:cNvSpPr>
            <a:spLocks xmlns:a="http://schemas.openxmlformats.org/drawingml/2006/main" noGrp="1"/>
          </p:cNvSpPr>
          <p:nvPr/>
        </p:nvSpPr>
        <p:spPr>
          <a:xfrm xmlns:a="http://schemas.openxmlformats.org/drawingml/2006/main">
            <a:off x="10212019" y="425196"/>
            <a:ext cx="14310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PRODUCT OWNER</a:t>
            </a:r>
            <a:endParaRPr sz="1000"/>
          </a:p>
        </p:txBody>
      </p:sp>
      <p:sp>
        <p:nvSpPr>
          <p:cNvPr id="6" name="Text 3">
            <a:extLst xmlns:a="http://schemas.openxmlformats.org/drawingml/2006/main">
              <a:ext uri="{FF2B5EF4-FFF2-40B4-BE49-F238E27FC236}">
                <a16:creationId xmlns:a16="http://schemas.microsoft.com/office/drawing/2014/main" id="{1A2F4666-5426-4D25-BD8C-FAC76C85445D}"/>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0B2545"/>
                </a:solidFill>
                <a:latin typeface="Helvetica Neue"/>
                <a:ea typeface="Helvetica Neue"/>
                <a:cs typeface="Helvetica Neue"/>
              </a:rPr>
              <a:t>Measures for the pilot decision</a:t>
            </a:r>
            <a:endParaRPr sz="3000"/>
          </a:p>
        </p:txBody>
      </p:sp>
      <p:sp>
        <p:nvSpPr>
          <p:cNvPr id="7" name="Text 4">
            <a:extLst xmlns:a="http://schemas.openxmlformats.org/drawingml/2006/main">
              <a:ext uri="{FF2B5EF4-FFF2-40B4-BE49-F238E27FC236}">
                <a16:creationId xmlns:a16="http://schemas.microsoft.com/office/drawing/2014/main" id="{96D5F13F-8A2E-43EF-A4D9-0CA8A4C83737}"/>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52677F"/>
                </a:solidFill>
                <a:latin typeface="Helvetica Neue"/>
                <a:ea typeface="Helvetica Neue"/>
                <a:cs typeface="Helvetica Neue"/>
              </a:rPr>
              <a:t>Proposed instrumentation and research measures, not current product analytics.</a:t>
            </a:r>
            <a:endParaRPr sz="1500"/>
          </a:p>
        </p:txBody>
      </p:sp>
      <p:sp>
        <p:nvSpPr>
          <p:cNvPr id="8" name="Shape 5">
            <a:extLst xmlns:a="http://schemas.openxmlformats.org/drawingml/2006/main">
              <a:ext uri="{FF2B5EF4-FFF2-40B4-BE49-F238E27FC236}">
                <a16:creationId xmlns:a16="http://schemas.microsoft.com/office/drawing/2014/main" id="{826A3C4C-0BD5-4CA0-8422-F7BCA93B0949}"/>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C9D6E8"/>
            </a:solidFill>
            <a:prstDash val="solid"/>
          </a:ln>
        </p:spPr>
      </p:sp>
      <p:sp>
        <p:nvSpPr>
          <p:cNvPr id="9" name="Text 6">
            <a:extLst xmlns:a="http://schemas.openxmlformats.org/drawingml/2006/main">
              <a:ext uri="{FF2B5EF4-FFF2-40B4-BE49-F238E27FC236}">
                <a16:creationId xmlns:a16="http://schemas.microsoft.com/office/drawing/2014/main" id="{6F2E0667-45E8-4777-9696-003A8B829197}"/>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52677F"/>
                </a:solidFill>
                <a:latin typeface="Helvetica Neue"/>
                <a:ea typeface="Helvetica Neue"/>
                <a:cs typeface="Helvetica Neue"/>
              </a:rPr>
              <a:t>Career Studio · Product handoff · September 9, 2026</a:t>
            </a:r>
            <a:endParaRPr sz="900"/>
          </a:p>
        </p:txBody>
      </p:sp>
      <p:sp>
        <p:nvSpPr>
          <p:cNvPr id="10" name="Text 7">
            <a:extLst xmlns:a="http://schemas.openxmlformats.org/drawingml/2006/main">
              <a:ext uri="{FF2B5EF4-FFF2-40B4-BE49-F238E27FC236}">
                <a16:creationId xmlns:a16="http://schemas.microsoft.com/office/drawing/2014/main" id="{E6373A28-6F32-47AA-8061-F6480B5453D1}"/>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52677F"/>
                </a:solidFill>
                <a:latin typeface="Helvetica Neue"/>
                <a:ea typeface="Helvetica Neue"/>
                <a:cs typeface="Helvetica Neue"/>
              </a:rPr>
              <a:t>28 / 29</a:t>
            </a:r>
            <a:endParaRPr sz="900"/>
          </a:p>
        </p:txBody>
      </p:sp>
      <p:graphicFrame>
        <p:nvGraphicFramePr>
          <p:cNvPr id="20" name="Table 0"/>
          <p:cNvGraphicFramePr/>
          <p:nvPr/>
        </p:nvGraphicFramePr>
        <p:xfrm>
          <a:off xmlns:a="http://schemas.openxmlformats.org/drawingml/2006/main" x="548640" y="1737360"/>
          <a:ext xmlns:a="http://schemas.openxmlformats.org/drawingml/2006/main" cx="11094415" cy="914400"/>
        </p:xfrm>
        <a:graphic xmlns:a="http://schemas.openxmlformats.org/drawingml/2006/main">
          <a:graphicData uri="http://schemas.openxmlformats.org/drawingml/2006/table">
            <a:tbl>
              <a:tblPr/>
              <a:tblGrid>
                <a:gridCol w="3108960"/>
                <a:gridCol w="7985455"/>
              </a:tblGrid>
              <a:tr h="530352">
                <a:tc>
                  <a:txBody>
                    <a:bodyPr/>
                    <a:lstStyle/>
                    <a:p>
                      <a:pPr marL="0" indent="0">
                        <a:buNone/>
                      </a:pPr>
                      <a:r>
                        <a:rPr sz="1200" b="1">
                          <a:solidFill>
                            <a:srgbClr val="FFFFFF"/>
                          </a:solidFill>
                          <a:latin typeface="Helvetica Neue"/>
                          <a:ea typeface="Helvetica Neue"/>
                          <a:cs typeface="Helvetica Neue"/>
                        </a:rPr>
                        <a:t>MEASURE</a:t>
                      </a:r>
                      <a:endParaRPr sz="12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0B2545"/>
                    </a:solidFill>
                  </a:tcPr>
                </a:tc>
                <a:tc>
                  <a:txBody>
                    <a:bodyPr/>
                    <a:lstStyle/>
                    <a:p>
                      <a:pPr marL="0" indent="0">
                        <a:buNone/>
                      </a:pPr>
                      <a:r>
                        <a:rPr sz="1200" b="1">
                          <a:solidFill>
                            <a:srgbClr val="FFFFFF"/>
                          </a:solidFill>
                          <a:latin typeface="Helvetica Neue"/>
                          <a:ea typeface="Helvetica Neue"/>
                          <a:cs typeface="Helvetica Neue"/>
                        </a:rPr>
                        <a:t>WHAT IT RECORDS</a:t>
                      </a:r>
                      <a:endParaRPr sz="12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0B2545"/>
                    </a:solidFill>
                  </a:tcPr>
                </a:tc>
              </a:tr>
              <a:tr h="530352">
                <a:tc>
                  <a:txBody>
                    <a:bodyPr/>
                    <a:lstStyle/>
                    <a:p>
                      <a:pPr marL="0" indent="0">
                        <a:buNone/>
                      </a:pPr>
                      <a:r>
                        <a:rPr sz="1500" b="1">
                          <a:solidFill>
                            <a:srgbClr val="C2410C"/>
                          </a:solidFill>
                          <a:latin typeface="Helvetica Neue"/>
                          <a:ea typeface="Helvetica Neue"/>
                          <a:cs typeface="Helvetica Neue"/>
                        </a:rPr>
                        <a:t>Activation</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Approved resume + useful saved opportunity</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C2410C"/>
                          </a:solidFill>
                          <a:latin typeface="Helvetica Neue"/>
                          <a:ea typeface="Helvetica Neue"/>
                          <a:cs typeface="Helvetica Neue"/>
                        </a:rPr>
                        <a:t>Time to value</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Time and help needed to complete that journey</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r h="530352">
                <a:tc>
                  <a:txBody>
                    <a:bodyPr/>
                    <a:lstStyle/>
                    <a:p>
                      <a:pPr marL="0" indent="0">
                        <a:buNone/>
                      </a:pPr>
                      <a:r>
                        <a:rPr sz="1500" b="1">
                          <a:solidFill>
                            <a:srgbClr val="C2410C"/>
                          </a:solidFill>
                          <a:latin typeface="Helvetica Neue"/>
                          <a:ea typeface="Helvetica Neue"/>
                          <a:cs typeface="Helvetica Neue"/>
                        </a:rPr>
                        <a:t>Accuracy</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Corrections to proposed claims and skill levels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C2410C"/>
                          </a:solidFill>
                          <a:latin typeface="Helvetica Neue"/>
                          <a:ea typeface="Helvetica Neue"/>
                          <a:cs typeface="Helvetica Neue"/>
                        </a:rPr>
                        <a:t>Search usefulness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Saved opportunities the customer would pursue</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r h="530352">
                <a:tc>
                  <a:txBody>
                    <a:bodyPr/>
                    <a:lstStyle/>
                    <a:p>
                      <a:pPr marL="0" indent="0">
                        <a:buNone/>
                      </a:pPr>
                      <a:r>
                        <a:rPr sz="1500" b="1">
                          <a:solidFill>
                            <a:srgbClr val="C2410C"/>
                          </a:solidFill>
                          <a:latin typeface="Helvetica Neue"/>
                          <a:ea typeface="Helvetica Neue"/>
                          <a:cs typeface="Helvetica Neue"/>
                        </a:rPr>
                        <a:t>Return use</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c>
                  <a:txBody>
                    <a:bodyPr/>
                    <a:lstStyle/>
                    <a:p>
                      <a:pPr marL="0" indent="0">
                        <a:buNone/>
                      </a:pPr>
                      <a:r>
                        <a:rPr sz="1500">
                          <a:solidFill>
                            <a:srgbClr val="171717"/>
                          </a:solidFill>
                          <a:latin typeface="Helvetica Neue"/>
                          <a:ea typeface="Helvetica Neue"/>
                          <a:cs typeface="Helvetica Neue"/>
                        </a:rPr>
                        <a:t>Customers who update the tracker next week</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FFFFF"/>
                    </a:solidFill>
                  </a:tcPr>
                </a:tc>
              </a:tr>
              <a:tr h="530352">
                <a:tc>
                  <a:txBody>
                    <a:bodyPr/>
                    <a:lstStyle/>
                    <a:p>
                      <a:pPr marL="0" indent="0">
                        <a:buNone/>
                      </a:pPr>
                      <a:r>
                        <a:rPr sz="1500" b="1">
                          <a:solidFill>
                            <a:srgbClr val="C2410C"/>
                          </a:solidFill>
                          <a:latin typeface="Helvetica Neue"/>
                          <a:ea typeface="Helvetica Neue"/>
                          <a:cs typeface="Helvetica Neue"/>
                        </a:rPr>
                        <a:t>Economics</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c>
                  <a:txBody>
                    <a:bodyPr/>
                    <a:lstStyle/>
                    <a:p>
                      <a:pPr marL="0" indent="0">
                        <a:buNone/>
                      </a:pPr>
                      <a:r>
                        <a:rPr sz="1500">
                          <a:solidFill>
                            <a:srgbClr val="171717"/>
                          </a:solidFill>
                          <a:latin typeface="Helvetica Neue"/>
                          <a:ea typeface="Helvetica Neue"/>
                          <a:cs typeface="Helvetica Neue"/>
                        </a:rPr>
                        <a:t>AI usage, support time and willingness to pay</a:t>
                      </a:r>
                      <a:endParaRPr sz="1500">
                        <a:latin typeface="Helvetica Neue"/>
                        <a:ea typeface="Helvetica Neue"/>
                        <a:cs typeface="Helvetica Neue"/>
                      </a:endParaRPr>
                    </a:p>
                  </a:txBody>
                  <a:tcPr marL="152400" marR="152400" marT="152400" marB="152400" anchor="ctr">
                    <a:lnL w="9525" cmpd="sng">
                      <a:solidFill>
                        <a:srgbClr val="C9D6E8"/>
                      </a:solidFill>
                      <a:prstDash val="solid"/>
                    </a:lnL>
                    <a:lnR w="9525" cmpd="sng">
                      <a:solidFill>
                        <a:srgbClr val="C9D6E8"/>
                      </a:solidFill>
                      <a:prstDash val="solid"/>
                    </a:lnR>
                    <a:lnT w="9525" cmpd="sng">
                      <a:solidFill>
                        <a:srgbClr val="C9D6E8"/>
                      </a:solidFill>
                      <a:prstDash val="solid"/>
                    </a:lnT>
                    <a:lnB w="9525" cmpd="sng">
                      <a:solidFill>
                        <a:srgbClr val="C9D6E8"/>
                      </a:solidFill>
                      <a:prstDash val="solid"/>
                    </a:lnB>
                    <a:solidFill>
                      <a:srgbClr val="F3F6FB"/>
                    </a:solidFill>
                  </a:tcPr>
                </a:tc>
              </a:tr>
            </a:tbl>
          </a:graphicData>
        </a:graphic>
      </p:graphicFrame>
    </p:spTree>
    <p:extLst>
      <p:ext uri="{BB962C8B-B14F-4D97-AF65-F5344CB8AC3E}">
        <p14:creationId xmlns:p14="http://schemas.microsoft.com/office/powerpoint/2010/main" val="915122568"/>
      </p:ext>
    </p:extLst>
  </p:cSld>
</p:sld>
</file>

<file path=ppt/slides/slide29.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3" name="Text 0">
            <a:extLst xmlns:a="http://schemas.openxmlformats.org/drawingml/2006/main">
              <a:ext uri="{FF2B5EF4-FFF2-40B4-BE49-F238E27FC236}">
                <a16:creationId xmlns:a16="http://schemas.microsoft.com/office/drawing/2014/main" id="{3C5A6CFB-F242-431B-9753-966BC65508B8}"/>
              </a:ext>
            </a:extLst>
          </p:cNvPr>
          <p:cNvSpPr>
            <a:spLocks xmlns:a="http://schemas.openxmlformats.org/drawingml/2006/main" noGrp="1"/>
          </p:cNvSpPr>
          <p:nvPr/>
        </p:nvSpPr>
        <p:spPr>
          <a:xfrm xmlns:a="http://schemas.openxmlformats.org/drawingml/2006/main">
            <a:off x="548640" y="384048"/>
            <a:ext cx="74980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40">
                <a:solidFill>
                  <a:srgbClr val="8FA6C4"/>
                </a:solidFill>
                <a:latin typeface="Helvetica Neue"/>
                <a:ea typeface="Helvetica Neue"/>
                <a:cs typeface="Helvetica Neue"/>
              </a:rPr>
              <a:t>CAREER STUDIO · PRODUCT HANDOFF</a:t>
            </a:r>
            <a:endParaRPr sz="1100"/>
          </a:p>
        </p:txBody>
      </p:sp>
      <p:sp>
        <p:nvSpPr>
          <p:cNvPr id="4" name="Shape 1">
            <a:extLst xmlns:a="http://schemas.openxmlformats.org/drawingml/2006/main">
              <a:ext uri="{FF2B5EF4-FFF2-40B4-BE49-F238E27FC236}">
                <a16:creationId xmlns:a16="http://schemas.microsoft.com/office/drawing/2014/main" id="{11DDA6E2-1EE8-45D4-8A35-B6322411614B}"/>
              </a:ext>
            </a:extLst>
          </p:cNvPr>
          <p:cNvSpPr>
            <a:spLocks xmlns:a="http://schemas.openxmlformats.org/drawingml/2006/main" noGrp="1"/>
          </p:cNvSpPr>
          <p:nvPr/>
        </p:nvSpPr>
        <p:spPr>
          <a:xfrm xmlns:a="http://schemas.openxmlformats.org/drawingml/2006/main">
            <a:off x="10600639" y="365760"/>
            <a:ext cx="1042416" cy="274320"/>
          </a:xfrm>
          <a:prstGeom xmlns:a="http://schemas.openxmlformats.org/drawingml/2006/main" prst="roundRect">
            <a:avLst>
              <a:gd name="adj" fmla="val 50000"/>
            </a:avLst>
          </a:prstGeom>
          <a:solidFill xmlns:a="http://schemas.openxmlformats.org/drawingml/2006/main">
            <a:srgbClr val="54667C"/>
          </a:solidFill>
          <a:ln xmlns:a="http://schemas.openxmlformats.org/drawingml/2006/main" w="12700">
            <a:solidFill>
              <a:srgbClr val="54667C"/>
            </a:solidFill>
            <a:prstDash val="solid"/>
          </a:ln>
        </p:spPr>
      </p:sp>
      <p:sp>
        <p:nvSpPr>
          <p:cNvPr id="5" name="Text 2">
            <a:extLst xmlns:a="http://schemas.openxmlformats.org/drawingml/2006/main">
              <a:ext uri="{FF2B5EF4-FFF2-40B4-BE49-F238E27FC236}">
                <a16:creationId xmlns:a16="http://schemas.microsoft.com/office/drawing/2014/main" id="{CE2204DA-29C5-4D95-B53E-6930EEB7C7F2}"/>
              </a:ext>
            </a:extLst>
          </p:cNvPr>
          <p:cNvSpPr>
            <a:spLocks xmlns:a="http://schemas.openxmlformats.org/drawingml/2006/main" noGrp="1"/>
          </p:cNvSpPr>
          <p:nvPr/>
        </p:nvSpPr>
        <p:spPr>
          <a:xfrm xmlns:a="http://schemas.openxmlformats.org/drawingml/2006/main">
            <a:off x="10600639" y="425196"/>
            <a:ext cx="10424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b="1" spc="100">
                <a:solidFill>
                  <a:srgbClr val="FFFFFF"/>
                </a:solidFill>
                <a:latin typeface="Helvetica Neue"/>
                <a:ea typeface="Helvetica Neue"/>
                <a:cs typeface="Helvetica Neue"/>
              </a:rPr>
              <a:t>EVERYONE</a:t>
            </a:r>
            <a:endParaRPr sz="1000"/>
          </a:p>
        </p:txBody>
      </p:sp>
      <p:sp>
        <p:nvSpPr>
          <p:cNvPr id="6" name="Text 3">
            <a:extLst xmlns:a="http://schemas.openxmlformats.org/drawingml/2006/main">
              <a:ext uri="{FF2B5EF4-FFF2-40B4-BE49-F238E27FC236}">
                <a16:creationId xmlns:a16="http://schemas.microsoft.com/office/drawing/2014/main" id="{8A511012-B4B7-4084-AA4A-BE59A13A5B6B}"/>
              </a:ext>
            </a:extLst>
          </p:cNvPr>
          <p:cNvSpPr>
            <a:spLocks xmlns:a="http://schemas.openxmlformats.org/drawingml/2006/main" noGrp="1"/>
          </p:cNvSpPr>
          <p:nvPr/>
        </p:nvSpPr>
        <p:spPr>
          <a:xfrm xmlns:a="http://schemas.openxmlformats.org/drawingml/2006/main">
            <a:off x="548640" y="658368"/>
            <a:ext cx="1109441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FFFFFF"/>
                </a:solidFill>
                <a:latin typeface="Helvetica Neue"/>
                <a:ea typeface="Helvetica Neue"/>
                <a:cs typeface="Helvetica Neue"/>
              </a:rPr>
              <a:t>A verified pilot is the next milestone</a:t>
            </a:r>
            <a:endParaRPr sz="3000"/>
          </a:p>
        </p:txBody>
      </p:sp>
      <p:sp>
        <p:nvSpPr>
          <p:cNvPr id="7" name="Text 4">
            <a:extLst xmlns:a="http://schemas.openxmlformats.org/drawingml/2006/main">
              <a:ext uri="{FF2B5EF4-FFF2-40B4-BE49-F238E27FC236}">
                <a16:creationId xmlns:a16="http://schemas.microsoft.com/office/drawing/2014/main" id="{022ED393-094D-464B-94DF-275A27AB5AF6}"/>
              </a:ext>
            </a:extLst>
          </p:cNvPr>
          <p:cNvSpPr>
            <a:spLocks xmlns:a="http://schemas.openxmlformats.org/drawingml/2006/main" noGrp="1"/>
          </p:cNvSpPr>
          <p:nvPr/>
        </p:nvSpPr>
        <p:spPr>
          <a:xfrm xmlns:a="http://schemas.openxmlformats.org/drawingml/2006/main">
            <a:off x="548640" y="1106424"/>
            <a:ext cx="1082009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rgbClr val="C6D5E8"/>
                </a:solidFill>
                <a:latin typeface="Helvetica Neue"/>
                <a:ea typeface="Helvetica Neue"/>
                <a:cs typeface="Helvetica Neue"/>
              </a:rPr>
              <a:t>Two week-one instruction flows, one for each reader.</a:t>
            </a:r>
            <a:endParaRPr sz="1500"/>
          </a:p>
        </p:txBody>
      </p:sp>
      <p:sp>
        <p:nvSpPr>
          <p:cNvPr id="8" name="Shape 5">
            <a:extLst xmlns:a="http://schemas.openxmlformats.org/drawingml/2006/main">
              <a:ext uri="{FF2B5EF4-FFF2-40B4-BE49-F238E27FC236}">
                <a16:creationId xmlns:a16="http://schemas.microsoft.com/office/drawing/2014/main" id="{3DCA518C-AE2C-4D3B-BD82-ADBB2663020A}"/>
              </a:ext>
            </a:extLst>
          </p:cNvPr>
          <p:cNvSpPr>
            <a:spLocks xmlns:a="http://schemas.openxmlformats.org/drawingml/2006/main" noGrp="1"/>
          </p:cNvSpPr>
          <p:nvPr/>
        </p:nvSpPr>
        <p:spPr>
          <a:xfrm xmlns:a="http://schemas.openxmlformats.org/drawingml/2006/main">
            <a:off x="548640" y="1371600"/>
            <a:ext cx="11094415" cy="0"/>
          </a:xfrm>
          <a:prstGeom xmlns:a="http://schemas.openxmlformats.org/drawingml/2006/main" prst="line">
            <a:avLst/>
          </a:prstGeom>
          <a:noFill xmlns:a="http://schemas.openxmlformats.org/drawingml/2006/main"/>
          <a:ln xmlns:a="http://schemas.openxmlformats.org/drawingml/2006/main" w="12700">
            <a:solidFill>
              <a:srgbClr val="54667C"/>
            </a:solidFill>
            <a:prstDash val="solid"/>
          </a:ln>
        </p:spPr>
      </p:sp>
      <p:sp>
        <p:nvSpPr>
          <p:cNvPr id="9" name="Text 6">
            <a:extLst xmlns:a="http://schemas.openxmlformats.org/drawingml/2006/main">
              <a:ext uri="{FF2B5EF4-FFF2-40B4-BE49-F238E27FC236}">
                <a16:creationId xmlns:a16="http://schemas.microsoft.com/office/drawing/2014/main" id="{AF488C80-27AD-4EA5-A589-ADE949C436E4}"/>
              </a:ext>
            </a:extLst>
          </p:cNvPr>
          <p:cNvSpPr>
            <a:spLocks xmlns:a="http://schemas.openxmlformats.org/drawingml/2006/main" noGrp="1"/>
          </p:cNvSpPr>
          <p:nvPr/>
        </p:nvSpPr>
        <p:spPr>
          <a:xfrm xmlns:a="http://schemas.openxmlformats.org/drawingml/2006/main">
            <a:off x="548640" y="1591056"/>
            <a:ext cx="4937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30">
                <a:solidFill>
                  <a:srgbClr val="86B0FF"/>
                </a:solidFill>
                <a:latin typeface="Helvetica Neue"/>
                <a:ea typeface="Helvetica Neue"/>
                <a:cs typeface="Helvetica Neue"/>
              </a:rPr>
              <a:t>ENGINEER, WEEK ONE</a:t>
            </a:r>
            <a:endParaRPr sz="1100"/>
          </a:p>
        </p:txBody>
      </p:sp>
      <p:sp>
        <p:nvSpPr>
          <p:cNvPr id="10" name="Text 7">
            <a:extLst xmlns:a="http://schemas.openxmlformats.org/drawingml/2006/main">
              <a:ext uri="{FF2B5EF4-FFF2-40B4-BE49-F238E27FC236}">
                <a16:creationId xmlns:a16="http://schemas.microsoft.com/office/drawing/2014/main" id="{00975755-8C75-42E4-9CC7-7C1C8EE2B14B}"/>
              </a:ext>
            </a:extLst>
          </p:cNvPr>
          <p:cNvSpPr>
            <a:spLocks xmlns:a="http://schemas.openxmlformats.org/drawingml/2006/main" noGrp="1"/>
          </p:cNvSpPr>
          <p:nvPr/>
        </p:nvSpPr>
        <p:spPr>
          <a:xfrm xmlns:a="http://schemas.openxmlformats.org/drawingml/2006/main">
            <a:off x="7071055" y="1591056"/>
            <a:ext cx="4572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50">
                <a:solidFill>
                  <a:srgbClr val="8FA6C4"/>
                </a:solidFill>
                <a:latin typeface="Helvetica Neue"/>
                <a:ea typeface="Helvetica Neue"/>
                <a:cs typeface="Helvetica Neue"/>
              </a:rPr>
              <a:t>Guide: docs/ENGINEERING_HANDOFF.md</a:t>
            </a:r>
            <a:endParaRPr sz="1150"/>
          </a:p>
        </p:txBody>
      </p:sp>
      <p:sp>
        <p:nvSpPr>
          <p:cNvPr id="11" name="Shape 8">
            <a:extLst xmlns:a="http://schemas.openxmlformats.org/drawingml/2006/main">
              <a:ext uri="{FF2B5EF4-FFF2-40B4-BE49-F238E27FC236}">
                <a16:creationId xmlns:a16="http://schemas.microsoft.com/office/drawing/2014/main" id="{247E3828-1787-44D4-8B1C-3EAEF7F1436C}"/>
              </a:ext>
            </a:extLst>
          </p:cNvPr>
          <p:cNvSpPr>
            <a:spLocks xmlns:a="http://schemas.openxmlformats.org/drawingml/2006/main" noGrp="1"/>
          </p:cNvSpPr>
          <p:nvPr/>
        </p:nvSpPr>
        <p:spPr>
          <a:xfrm xmlns:a="http://schemas.openxmlformats.org/drawingml/2006/main">
            <a:off x="548640" y="1938528"/>
            <a:ext cx="1365460" cy="1719072"/>
          </a:xfrm>
          <a:prstGeom xmlns:a="http://schemas.openxmlformats.org/drawingml/2006/main" prst="roundRect">
            <a:avLst>
              <a:gd name="adj" fmla="val 5357"/>
            </a:avLst>
          </a:prstGeom>
          <a:solidFill xmlns:a="http://schemas.openxmlformats.org/drawingml/2006/main">
            <a:srgbClr val="175CD4"/>
          </a:solidFill>
          <a:ln xmlns:a="http://schemas.openxmlformats.org/drawingml/2006/main" w="15875">
            <a:solidFill>
              <a:srgbClr val="175CD4"/>
            </a:solidFill>
            <a:prstDash val="solid"/>
          </a:ln>
        </p:spPr>
      </p:sp>
      <p:sp>
        <p:nvSpPr>
          <p:cNvPr id="12" name="Text 9">
            <a:extLst xmlns:a="http://schemas.openxmlformats.org/drawingml/2006/main">
              <a:ext uri="{FF2B5EF4-FFF2-40B4-BE49-F238E27FC236}">
                <a16:creationId xmlns:a16="http://schemas.microsoft.com/office/drawing/2014/main" id="{6B085E5D-E98A-45A8-A905-30F4421C0BCB}"/>
              </a:ext>
            </a:extLst>
          </p:cNvPr>
          <p:cNvSpPr>
            <a:spLocks xmlns:a="http://schemas.openxmlformats.org/drawingml/2006/main" noGrp="1"/>
          </p:cNvSpPr>
          <p:nvPr/>
        </p:nvSpPr>
        <p:spPr>
          <a:xfrm xmlns:a="http://schemas.openxmlformats.org/drawingml/2006/main">
            <a:off x="676656"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Unzip the source</a:t>
            </a:r>
            <a:endParaRPr sz="1250"/>
          </a:p>
        </p:txBody>
      </p:sp>
      <p:sp>
        <p:nvSpPr>
          <p:cNvPr id="13" name="Shape 10">
            <a:extLst xmlns:a="http://schemas.openxmlformats.org/drawingml/2006/main">
              <a:ext uri="{FF2B5EF4-FFF2-40B4-BE49-F238E27FC236}">
                <a16:creationId xmlns:a16="http://schemas.microsoft.com/office/drawing/2014/main" id="{3E52F8E9-7394-44A1-8C7A-6E249347082D}"/>
              </a:ext>
            </a:extLst>
          </p:cNvPr>
          <p:cNvSpPr>
            <a:spLocks xmlns:a="http://schemas.openxmlformats.org/drawingml/2006/main" noGrp="1"/>
          </p:cNvSpPr>
          <p:nvPr/>
        </p:nvSpPr>
        <p:spPr>
          <a:xfrm xmlns:a="http://schemas.openxmlformats.org/drawingml/2006/main">
            <a:off x="1959820"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14" name="Shape 11">
            <a:extLst xmlns:a="http://schemas.openxmlformats.org/drawingml/2006/main">
              <a:ext uri="{FF2B5EF4-FFF2-40B4-BE49-F238E27FC236}">
                <a16:creationId xmlns:a16="http://schemas.microsoft.com/office/drawing/2014/main" id="{7ED27476-577B-4452-BE59-FFFBB5B88379}"/>
              </a:ext>
            </a:extLst>
          </p:cNvPr>
          <p:cNvSpPr>
            <a:spLocks xmlns:a="http://schemas.openxmlformats.org/drawingml/2006/main" noGrp="1"/>
          </p:cNvSpPr>
          <p:nvPr/>
        </p:nvSpPr>
        <p:spPr>
          <a:xfrm xmlns:a="http://schemas.openxmlformats.org/drawingml/2006/main">
            <a:off x="2170132" y="1938528"/>
            <a:ext cx="1365460" cy="1719072"/>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875">
            <a:solidFill>
              <a:srgbClr val="FFFFFF"/>
            </a:solidFill>
            <a:prstDash val="solid"/>
          </a:ln>
        </p:spPr>
      </p:sp>
      <p:sp>
        <p:nvSpPr>
          <p:cNvPr id="15" name="Text 12">
            <a:extLst xmlns:a="http://schemas.openxmlformats.org/drawingml/2006/main">
              <a:ext uri="{FF2B5EF4-FFF2-40B4-BE49-F238E27FC236}">
                <a16:creationId xmlns:a16="http://schemas.microsoft.com/office/drawing/2014/main" id="{97393D7B-D921-4311-AE89-0EE1FA2BE3A4}"/>
              </a:ext>
            </a:extLst>
          </p:cNvPr>
          <p:cNvSpPr>
            <a:spLocks xmlns:a="http://schemas.openxmlformats.org/drawingml/2006/main" noGrp="1"/>
          </p:cNvSpPr>
          <p:nvPr/>
        </p:nvSpPr>
        <p:spPr>
          <a:xfrm xmlns:a="http://schemas.openxmlformats.org/drawingml/2006/main">
            <a:off x="2298148"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npm ci</a:t>
            </a:r>
            <a:endParaRPr sz="1250"/>
          </a:p>
        </p:txBody>
      </p:sp>
      <p:sp>
        <p:nvSpPr>
          <p:cNvPr id="16" name="Shape 13">
            <a:extLst xmlns:a="http://schemas.openxmlformats.org/drawingml/2006/main">
              <a:ext uri="{FF2B5EF4-FFF2-40B4-BE49-F238E27FC236}">
                <a16:creationId xmlns:a16="http://schemas.microsoft.com/office/drawing/2014/main" id="{DF105455-11E7-4F11-ABC5-173E9B56A2B3}"/>
              </a:ext>
            </a:extLst>
          </p:cNvPr>
          <p:cNvSpPr>
            <a:spLocks xmlns:a="http://schemas.openxmlformats.org/drawingml/2006/main" noGrp="1"/>
          </p:cNvSpPr>
          <p:nvPr/>
        </p:nvSpPr>
        <p:spPr>
          <a:xfrm xmlns:a="http://schemas.openxmlformats.org/drawingml/2006/main">
            <a:off x="3581313"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17" name="Shape 14">
            <a:extLst xmlns:a="http://schemas.openxmlformats.org/drawingml/2006/main">
              <a:ext uri="{FF2B5EF4-FFF2-40B4-BE49-F238E27FC236}">
                <a16:creationId xmlns:a16="http://schemas.microsoft.com/office/drawing/2014/main" id="{5C28DCAB-F647-4D8F-963E-41B263B6E1B9}"/>
              </a:ext>
            </a:extLst>
          </p:cNvPr>
          <p:cNvSpPr>
            <a:spLocks xmlns:a="http://schemas.openxmlformats.org/drawingml/2006/main" noGrp="1"/>
          </p:cNvSpPr>
          <p:nvPr/>
        </p:nvSpPr>
        <p:spPr>
          <a:xfrm xmlns:a="http://schemas.openxmlformats.org/drawingml/2006/main">
            <a:off x="3791625" y="1938528"/>
            <a:ext cx="1365460" cy="1719072"/>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875">
            <a:solidFill>
              <a:srgbClr val="FFFFFF"/>
            </a:solidFill>
            <a:prstDash val="solid"/>
          </a:ln>
        </p:spPr>
      </p:sp>
      <p:sp>
        <p:nvSpPr>
          <p:cNvPr id="18" name="Text 15">
            <a:extLst xmlns:a="http://schemas.openxmlformats.org/drawingml/2006/main">
              <a:ext uri="{FF2B5EF4-FFF2-40B4-BE49-F238E27FC236}">
                <a16:creationId xmlns:a16="http://schemas.microsoft.com/office/drawing/2014/main" id="{3758D84A-F6FA-4F40-853E-2EF9A52EFDA1}"/>
              </a:ext>
            </a:extLst>
          </p:cNvPr>
          <p:cNvSpPr>
            <a:spLocks xmlns:a="http://schemas.openxmlformats.org/drawingml/2006/main" noGrp="1"/>
          </p:cNvSpPr>
          <p:nvPr/>
        </p:nvSpPr>
        <p:spPr>
          <a:xfrm xmlns:a="http://schemas.openxmlformats.org/drawingml/2006/main">
            <a:off x="3919641"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Copy</a:t>
            </a:r>
            <a:endParaRPr sz="1250"/>
          </a:p>
          <a:p xmlns:a="http://schemas.openxmlformats.org/drawingml/2006/main">
            <a:pPr marL="0" indent="0" algn="ctr">
              <a:lnSpc>
                <a:spcPts val="1450"/>
              </a:lnSpc>
              <a:buNone/>
            </a:pPr>
            <a:r>
              <a:rPr sz="1250" b="1">
                <a:solidFill>
                  <a:srgbClr val="0B2545"/>
                </a:solidFill>
                <a:latin typeface="Helvetica Neue"/>
                <a:ea typeface="Helvetica Neue"/>
                <a:cs typeface="Helvetica Neue"/>
              </a:rPr>
              <a:t>.env.example</a:t>
            </a:r>
            <a:endParaRPr sz="1250"/>
          </a:p>
          <a:p xmlns:a="http://schemas.openxmlformats.org/drawingml/2006/main">
            <a:pPr marL="0" indent="0" algn="ctr">
              <a:lnSpc>
                <a:spcPts val="1450"/>
              </a:lnSpc>
              <a:buNone/>
            </a:pPr>
            <a:r>
              <a:rPr sz="1250" b="1">
                <a:solidFill>
                  <a:srgbClr val="0B2545"/>
                </a:solidFill>
                <a:latin typeface="Helvetica Neue"/>
                <a:ea typeface="Helvetica Neue"/>
                <a:cs typeface="Helvetica Neue"/>
              </a:rPr>
              <a:t>to .env</a:t>
            </a:r>
            <a:endParaRPr sz="1250"/>
          </a:p>
        </p:txBody>
      </p:sp>
      <p:sp>
        <p:nvSpPr>
          <p:cNvPr id="19" name="Shape 16">
            <a:extLst xmlns:a="http://schemas.openxmlformats.org/drawingml/2006/main">
              <a:ext uri="{FF2B5EF4-FFF2-40B4-BE49-F238E27FC236}">
                <a16:creationId xmlns:a16="http://schemas.microsoft.com/office/drawing/2014/main" id="{C1116334-8969-4D84-8A7D-256B4E414C69}"/>
              </a:ext>
            </a:extLst>
          </p:cNvPr>
          <p:cNvSpPr>
            <a:spLocks xmlns:a="http://schemas.openxmlformats.org/drawingml/2006/main" noGrp="1"/>
          </p:cNvSpPr>
          <p:nvPr/>
        </p:nvSpPr>
        <p:spPr>
          <a:xfrm xmlns:a="http://schemas.openxmlformats.org/drawingml/2006/main">
            <a:off x="5202805"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20" name="Shape 17">
            <a:extLst xmlns:a="http://schemas.openxmlformats.org/drawingml/2006/main">
              <a:ext uri="{FF2B5EF4-FFF2-40B4-BE49-F238E27FC236}">
                <a16:creationId xmlns:a16="http://schemas.microsoft.com/office/drawing/2014/main" id="{C97BFE90-70A8-42C5-AB5E-A6B89CE001D7}"/>
              </a:ext>
            </a:extLst>
          </p:cNvPr>
          <p:cNvSpPr>
            <a:spLocks xmlns:a="http://schemas.openxmlformats.org/drawingml/2006/main" noGrp="1"/>
          </p:cNvSpPr>
          <p:nvPr/>
        </p:nvSpPr>
        <p:spPr>
          <a:xfrm xmlns:a="http://schemas.openxmlformats.org/drawingml/2006/main">
            <a:off x="5413117" y="1938528"/>
            <a:ext cx="1365460" cy="1719072"/>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875">
            <a:solidFill>
              <a:srgbClr val="FFFFFF"/>
            </a:solidFill>
            <a:prstDash val="solid"/>
          </a:ln>
        </p:spPr>
      </p:sp>
      <p:sp>
        <p:nvSpPr>
          <p:cNvPr id="21" name="Text 18">
            <a:extLst xmlns:a="http://schemas.openxmlformats.org/drawingml/2006/main">
              <a:ext uri="{FF2B5EF4-FFF2-40B4-BE49-F238E27FC236}">
                <a16:creationId xmlns:a16="http://schemas.microsoft.com/office/drawing/2014/main" id="{539D778D-5FEE-483E-8152-09FE1D8ABB45}"/>
              </a:ext>
            </a:extLst>
          </p:cNvPr>
          <p:cNvSpPr>
            <a:spLocks xmlns:a="http://schemas.openxmlformats.org/drawingml/2006/main" noGrp="1"/>
          </p:cNvSpPr>
          <p:nvPr/>
        </p:nvSpPr>
        <p:spPr>
          <a:xfrm xmlns:a="http://schemas.openxmlformats.org/drawingml/2006/main">
            <a:off x="5541133"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npm run check and npm test</a:t>
            </a:r>
            <a:endParaRPr sz="1250"/>
          </a:p>
        </p:txBody>
      </p:sp>
      <p:sp>
        <p:nvSpPr>
          <p:cNvPr id="22" name="Shape 19">
            <a:extLst xmlns:a="http://schemas.openxmlformats.org/drawingml/2006/main">
              <a:ext uri="{FF2B5EF4-FFF2-40B4-BE49-F238E27FC236}">
                <a16:creationId xmlns:a16="http://schemas.microsoft.com/office/drawing/2014/main" id="{79D37F37-46D2-4704-9AE6-1147950AD0FC}"/>
              </a:ext>
            </a:extLst>
          </p:cNvPr>
          <p:cNvSpPr>
            <a:spLocks xmlns:a="http://schemas.openxmlformats.org/drawingml/2006/main" noGrp="1"/>
          </p:cNvSpPr>
          <p:nvPr/>
        </p:nvSpPr>
        <p:spPr>
          <a:xfrm xmlns:a="http://schemas.openxmlformats.org/drawingml/2006/main">
            <a:off x="6824298"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23" name="Shape 20">
            <a:extLst xmlns:a="http://schemas.openxmlformats.org/drawingml/2006/main">
              <a:ext uri="{FF2B5EF4-FFF2-40B4-BE49-F238E27FC236}">
                <a16:creationId xmlns:a16="http://schemas.microsoft.com/office/drawing/2014/main" id="{D62AF64F-5A7F-44BB-A928-57E44F92C3BE}"/>
              </a:ext>
            </a:extLst>
          </p:cNvPr>
          <p:cNvSpPr>
            <a:spLocks xmlns:a="http://schemas.openxmlformats.org/drawingml/2006/main" noGrp="1"/>
          </p:cNvSpPr>
          <p:nvPr/>
        </p:nvSpPr>
        <p:spPr>
          <a:xfrm xmlns:a="http://schemas.openxmlformats.org/drawingml/2006/main">
            <a:off x="7034610" y="1938528"/>
            <a:ext cx="1365460" cy="1719072"/>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875">
            <a:solidFill>
              <a:srgbClr val="FFFFFF"/>
            </a:solidFill>
            <a:prstDash val="solid"/>
          </a:ln>
        </p:spPr>
      </p:sp>
      <p:sp>
        <p:nvSpPr>
          <p:cNvPr id="24" name="Text 21">
            <a:extLst xmlns:a="http://schemas.openxmlformats.org/drawingml/2006/main">
              <a:ext uri="{FF2B5EF4-FFF2-40B4-BE49-F238E27FC236}">
                <a16:creationId xmlns:a16="http://schemas.microsoft.com/office/drawing/2014/main" id="{90A3FA36-D23E-4260-A12D-093D1CDB0ABD}"/>
              </a:ext>
            </a:extLst>
          </p:cNvPr>
          <p:cNvSpPr>
            <a:spLocks xmlns:a="http://schemas.openxmlformats.org/drawingml/2006/main" noGrp="1"/>
          </p:cNvSpPr>
          <p:nvPr/>
        </p:nvSpPr>
        <p:spPr>
          <a:xfrm xmlns:a="http://schemas.openxmlformats.org/drawingml/2006/main">
            <a:off x="7162626"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npm start</a:t>
            </a:r>
            <a:endParaRPr sz="1250"/>
          </a:p>
        </p:txBody>
      </p:sp>
      <p:sp>
        <p:nvSpPr>
          <p:cNvPr id="25" name="Shape 22">
            <a:extLst xmlns:a="http://schemas.openxmlformats.org/drawingml/2006/main">
              <a:ext uri="{FF2B5EF4-FFF2-40B4-BE49-F238E27FC236}">
                <a16:creationId xmlns:a16="http://schemas.microsoft.com/office/drawing/2014/main" id="{359629A3-A11A-4701-9670-A4E466370CD3}"/>
              </a:ext>
            </a:extLst>
          </p:cNvPr>
          <p:cNvSpPr>
            <a:spLocks xmlns:a="http://schemas.openxmlformats.org/drawingml/2006/main" noGrp="1"/>
          </p:cNvSpPr>
          <p:nvPr/>
        </p:nvSpPr>
        <p:spPr>
          <a:xfrm xmlns:a="http://schemas.openxmlformats.org/drawingml/2006/main">
            <a:off x="8445790"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26" name="Shape 23">
            <a:extLst xmlns:a="http://schemas.openxmlformats.org/drawingml/2006/main">
              <a:ext uri="{FF2B5EF4-FFF2-40B4-BE49-F238E27FC236}">
                <a16:creationId xmlns:a16="http://schemas.microsoft.com/office/drawing/2014/main" id="{C80119C1-669A-464D-AA69-35AE894452ED}"/>
              </a:ext>
            </a:extLst>
          </p:cNvPr>
          <p:cNvSpPr>
            <a:spLocks xmlns:a="http://schemas.openxmlformats.org/drawingml/2006/main" noGrp="1"/>
          </p:cNvSpPr>
          <p:nvPr/>
        </p:nvSpPr>
        <p:spPr>
          <a:xfrm xmlns:a="http://schemas.openxmlformats.org/drawingml/2006/main">
            <a:off x="8656102" y="1938528"/>
            <a:ext cx="1365460" cy="1719072"/>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15875">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1109A722-F5C3-4BF8-9350-875B45A7E791}"/>
              </a:ext>
            </a:extLst>
          </p:cNvPr>
          <p:cNvSpPr>
            <a:spLocks xmlns:a="http://schemas.openxmlformats.org/drawingml/2006/main" noGrp="1"/>
          </p:cNvSpPr>
          <p:nvPr/>
        </p:nvSpPr>
        <p:spPr>
          <a:xfrm xmlns:a="http://schemas.openxmlformats.org/drawingml/2006/main">
            <a:off x="8784118"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Open /demo</a:t>
            </a:r>
            <a:endParaRPr sz="1250"/>
          </a:p>
        </p:txBody>
      </p:sp>
      <p:sp>
        <p:nvSpPr>
          <p:cNvPr id="28" name="Shape 25">
            <a:extLst xmlns:a="http://schemas.openxmlformats.org/drawingml/2006/main">
              <a:ext uri="{FF2B5EF4-FFF2-40B4-BE49-F238E27FC236}">
                <a16:creationId xmlns:a16="http://schemas.microsoft.com/office/drawing/2014/main" id="{68E206DE-55F9-4911-A975-A81FE2757387}"/>
              </a:ext>
            </a:extLst>
          </p:cNvPr>
          <p:cNvSpPr>
            <a:spLocks xmlns:a="http://schemas.openxmlformats.org/drawingml/2006/main" noGrp="1"/>
          </p:cNvSpPr>
          <p:nvPr/>
        </p:nvSpPr>
        <p:spPr>
          <a:xfrm xmlns:a="http://schemas.openxmlformats.org/drawingml/2006/main">
            <a:off x="10067283" y="2798064"/>
            <a:ext cx="164592"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29" name="Shape 26">
            <a:extLst xmlns:a="http://schemas.openxmlformats.org/drawingml/2006/main">
              <a:ext uri="{FF2B5EF4-FFF2-40B4-BE49-F238E27FC236}">
                <a16:creationId xmlns:a16="http://schemas.microsoft.com/office/drawing/2014/main" id="{0CB8759D-7DD9-4031-AD8B-F3A7A4DC7E57}"/>
              </a:ext>
            </a:extLst>
          </p:cNvPr>
          <p:cNvSpPr>
            <a:spLocks xmlns:a="http://schemas.openxmlformats.org/drawingml/2006/main" noGrp="1"/>
          </p:cNvSpPr>
          <p:nvPr/>
        </p:nvSpPr>
        <p:spPr>
          <a:xfrm xmlns:a="http://schemas.openxmlformats.org/drawingml/2006/main">
            <a:off x="10277595" y="1938528"/>
            <a:ext cx="1365460" cy="1719072"/>
          </a:xfrm>
          <a:prstGeom xmlns:a="http://schemas.openxmlformats.org/drawingml/2006/main" prst="roundRect">
            <a:avLst>
              <a:gd name="adj" fmla="val 5357"/>
            </a:avLst>
          </a:prstGeom>
          <a:solidFill xmlns:a="http://schemas.openxmlformats.org/drawingml/2006/main">
            <a:srgbClr val="86B0FF"/>
          </a:solidFill>
          <a:ln xmlns:a="http://schemas.openxmlformats.org/drawingml/2006/main" w="15875">
            <a:solidFill>
              <a:srgbClr val="86B0FF"/>
            </a:solidFill>
            <a:prstDash val="solid"/>
          </a:ln>
        </p:spPr>
      </p:sp>
      <p:sp>
        <p:nvSpPr>
          <p:cNvPr id="30" name="Text 27">
            <a:extLst xmlns:a="http://schemas.openxmlformats.org/drawingml/2006/main">
              <a:ext uri="{FF2B5EF4-FFF2-40B4-BE49-F238E27FC236}">
                <a16:creationId xmlns:a16="http://schemas.microsoft.com/office/drawing/2014/main" id="{3652A480-BF9C-469B-8184-6556F91DDEFF}"/>
              </a:ext>
            </a:extLst>
          </p:cNvPr>
          <p:cNvSpPr>
            <a:spLocks xmlns:a="http://schemas.openxmlformats.org/drawingml/2006/main" noGrp="1"/>
          </p:cNvSpPr>
          <p:nvPr/>
        </p:nvSpPr>
        <p:spPr>
          <a:xfrm xmlns:a="http://schemas.openxmlformats.org/drawingml/2006/main">
            <a:off x="10405611" y="2066544"/>
            <a:ext cx="110942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Follow gate 01</a:t>
            </a:r>
            <a:endParaRPr sz="1250"/>
          </a:p>
        </p:txBody>
      </p:sp>
      <p:sp>
        <p:nvSpPr>
          <p:cNvPr id="31" name="Text 28">
            <a:extLst xmlns:a="http://schemas.openxmlformats.org/drawingml/2006/main">
              <a:ext uri="{FF2B5EF4-FFF2-40B4-BE49-F238E27FC236}">
                <a16:creationId xmlns:a16="http://schemas.microsoft.com/office/drawing/2014/main" id="{B2478439-33C0-4360-AFF2-61AA6FB8B3FD}"/>
              </a:ext>
            </a:extLst>
          </p:cNvPr>
          <p:cNvSpPr>
            <a:spLocks xmlns:a="http://schemas.openxmlformats.org/drawingml/2006/main" noGrp="1"/>
          </p:cNvSpPr>
          <p:nvPr/>
        </p:nvSpPr>
        <p:spPr>
          <a:xfrm xmlns:a="http://schemas.openxmlformats.org/drawingml/2006/main">
            <a:off x="548640" y="3986784"/>
            <a:ext cx="4937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spc="130">
                <a:solidFill>
                  <a:srgbClr val="F0956A"/>
                </a:solidFill>
                <a:latin typeface="Helvetica Neue"/>
                <a:ea typeface="Helvetica Neue"/>
                <a:cs typeface="Helvetica Neue"/>
              </a:rPr>
              <a:t>PRODUCT OWNER, WEEK ONE</a:t>
            </a:r>
            <a:endParaRPr sz="1100"/>
          </a:p>
        </p:txBody>
      </p:sp>
      <p:sp>
        <p:nvSpPr>
          <p:cNvPr id="32" name="Text 29">
            <a:extLst xmlns:a="http://schemas.openxmlformats.org/drawingml/2006/main">
              <a:ext uri="{FF2B5EF4-FFF2-40B4-BE49-F238E27FC236}">
                <a16:creationId xmlns:a16="http://schemas.microsoft.com/office/drawing/2014/main" id="{D2044F8F-FBC1-430C-9A4F-214FBCEF2F2F}"/>
              </a:ext>
            </a:extLst>
          </p:cNvPr>
          <p:cNvSpPr>
            <a:spLocks xmlns:a="http://schemas.openxmlformats.org/drawingml/2006/main" noGrp="1"/>
          </p:cNvSpPr>
          <p:nvPr/>
        </p:nvSpPr>
        <p:spPr>
          <a:xfrm xmlns:a="http://schemas.openxmlformats.org/drawingml/2006/main">
            <a:off x="7071055" y="3986784"/>
            <a:ext cx="4572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50">
                <a:solidFill>
                  <a:srgbClr val="8FA6C4"/>
                </a:solidFill>
                <a:latin typeface="Helvetica Neue"/>
                <a:ea typeface="Helvetica Neue"/>
                <a:cs typeface="Helvetica Neue"/>
              </a:rPr>
              <a:t>Guide: docs/SALES_PLAYBOOK.md</a:t>
            </a:r>
            <a:endParaRPr sz="1150"/>
          </a:p>
        </p:txBody>
      </p:sp>
      <p:sp>
        <p:nvSpPr>
          <p:cNvPr id="33" name="Shape 30">
            <a:extLst xmlns:a="http://schemas.openxmlformats.org/drawingml/2006/main">
              <a:ext uri="{FF2B5EF4-FFF2-40B4-BE49-F238E27FC236}">
                <a16:creationId xmlns:a16="http://schemas.microsoft.com/office/drawing/2014/main" id="{2019C58E-246A-4E6D-8018-A0AA02D153FD}"/>
              </a:ext>
            </a:extLst>
          </p:cNvPr>
          <p:cNvSpPr>
            <a:spLocks xmlns:a="http://schemas.openxmlformats.org/drawingml/2006/main" noGrp="1"/>
          </p:cNvSpPr>
          <p:nvPr/>
        </p:nvSpPr>
        <p:spPr>
          <a:xfrm xmlns:a="http://schemas.openxmlformats.org/drawingml/2006/main">
            <a:off x="548640" y="4334256"/>
            <a:ext cx="1970166" cy="1719072"/>
          </a:xfrm>
          <a:prstGeom xmlns:a="http://schemas.openxmlformats.org/drawingml/2006/main" prst="roundRect">
            <a:avLst>
              <a:gd name="adj" fmla="val 4255"/>
            </a:avLst>
          </a:prstGeom>
          <a:solidFill xmlns:a="http://schemas.openxmlformats.org/drawingml/2006/main">
            <a:srgbClr val="C2410C"/>
          </a:solidFill>
          <a:ln xmlns:a="http://schemas.openxmlformats.org/drawingml/2006/main" w="15875">
            <a:solidFill>
              <a:srgbClr val="C2410C"/>
            </a:solidFill>
            <a:prstDash val="solid"/>
          </a:ln>
        </p:spPr>
      </p:sp>
      <p:sp>
        <p:nvSpPr>
          <p:cNvPr id="34" name="Text 31">
            <a:extLst xmlns:a="http://schemas.openxmlformats.org/drawingml/2006/main">
              <a:ext uri="{FF2B5EF4-FFF2-40B4-BE49-F238E27FC236}">
                <a16:creationId xmlns:a16="http://schemas.microsoft.com/office/drawing/2014/main" id="{5C010248-6EE4-43BC-9270-439A0E4B6454}"/>
              </a:ext>
            </a:extLst>
          </p:cNvPr>
          <p:cNvSpPr>
            <a:spLocks xmlns:a="http://schemas.openxmlformats.org/drawingml/2006/main" noGrp="1"/>
          </p:cNvSpPr>
          <p:nvPr/>
        </p:nvSpPr>
        <p:spPr>
          <a:xfrm xmlns:a="http://schemas.openxmlformats.org/drawingml/2006/main">
            <a:off x="676656" y="4462272"/>
            <a:ext cx="17141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FFFFFF"/>
                </a:solidFill>
                <a:latin typeface="Helvetica Neue"/>
                <a:ea typeface="Helvetica Neue"/>
                <a:cs typeface="Helvetica Neue"/>
              </a:rPr>
              <a:t>Pick the pilot audience</a:t>
            </a:r>
            <a:endParaRPr sz="1250"/>
          </a:p>
        </p:txBody>
      </p:sp>
      <p:sp>
        <p:nvSpPr>
          <p:cNvPr id="35" name="Shape 32">
            <a:extLst xmlns:a="http://schemas.openxmlformats.org/drawingml/2006/main">
              <a:ext uri="{FF2B5EF4-FFF2-40B4-BE49-F238E27FC236}">
                <a16:creationId xmlns:a16="http://schemas.microsoft.com/office/drawing/2014/main" id="{5C4A61D0-DBAE-4108-8B12-AD92B66C93D4}"/>
              </a:ext>
            </a:extLst>
          </p:cNvPr>
          <p:cNvSpPr>
            <a:spLocks xmlns:a="http://schemas.openxmlformats.org/drawingml/2006/main" noGrp="1"/>
          </p:cNvSpPr>
          <p:nvPr/>
        </p:nvSpPr>
        <p:spPr>
          <a:xfrm xmlns:a="http://schemas.openxmlformats.org/drawingml/2006/main">
            <a:off x="2564526" y="5193792"/>
            <a:ext cx="219456"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36" name="Shape 33">
            <a:extLst xmlns:a="http://schemas.openxmlformats.org/drawingml/2006/main">
              <a:ext uri="{FF2B5EF4-FFF2-40B4-BE49-F238E27FC236}">
                <a16:creationId xmlns:a16="http://schemas.microsoft.com/office/drawing/2014/main" id="{106EA838-D7A4-42E1-90A0-4AF4C417F294}"/>
              </a:ext>
            </a:extLst>
          </p:cNvPr>
          <p:cNvSpPr>
            <a:spLocks xmlns:a="http://schemas.openxmlformats.org/drawingml/2006/main" noGrp="1"/>
          </p:cNvSpPr>
          <p:nvPr/>
        </p:nvSpPr>
        <p:spPr>
          <a:xfrm xmlns:a="http://schemas.openxmlformats.org/drawingml/2006/main">
            <a:off x="2829702" y="4334256"/>
            <a:ext cx="1970166" cy="1719072"/>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5875">
            <a:solidFill>
              <a:srgbClr val="FFFFFF"/>
            </a:solidFill>
            <a:prstDash val="solid"/>
          </a:ln>
        </p:spPr>
      </p:sp>
      <p:sp>
        <p:nvSpPr>
          <p:cNvPr id="37" name="Text 34">
            <a:extLst xmlns:a="http://schemas.openxmlformats.org/drawingml/2006/main">
              <a:ext uri="{FF2B5EF4-FFF2-40B4-BE49-F238E27FC236}">
                <a16:creationId xmlns:a16="http://schemas.microsoft.com/office/drawing/2014/main" id="{7E44848D-F0B9-43FB-9231-FCCFF8D3542F}"/>
              </a:ext>
            </a:extLst>
          </p:cNvPr>
          <p:cNvSpPr>
            <a:spLocks xmlns:a="http://schemas.openxmlformats.org/drawingml/2006/main" noGrp="1"/>
          </p:cNvSpPr>
          <p:nvPr/>
        </p:nvSpPr>
        <p:spPr>
          <a:xfrm xmlns:a="http://schemas.openxmlformats.org/drawingml/2006/main">
            <a:off x="2957718" y="4462272"/>
            <a:ext cx="17141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Write privacy and support commitments</a:t>
            </a:r>
            <a:endParaRPr sz="1250"/>
          </a:p>
        </p:txBody>
      </p:sp>
      <p:sp>
        <p:nvSpPr>
          <p:cNvPr id="38" name="Shape 35">
            <a:extLst xmlns:a="http://schemas.openxmlformats.org/drawingml/2006/main">
              <a:ext uri="{FF2B5EF4-FFF2-40B4-BE49-F238E27FC236}">
                <a16:creationId xmlns:a16="http://schemas.microsoft.com/office/drawing/2014/main" id="{0EA0E60E-7AEE-47A0-BEF2-B3757E9B0743}"/>
              </a:ext>
            </a:extLst>
          </p:cNvPr>
          <p:cNvSpPr>
            <a:spLocks xmlns:a="http://schemas.openxmlformats.org/drawingml/2006/main" noGrp="1"/>
          </p:cNvSpPr>
          <p:nvPr/>
        </p:nvSpPr>
        <p:spPr>
          <a:xfrm xmlns:a="http://schemas.openxmlformats.org/drawingml/2006/main">
            <a:off x="4845588" y="5193792"/>
            <a:ext cx="219456"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39" name="Shape 36">
            <a:extLst xmlns:a="http://schemas.openxmlformats.org/drawingml/2006/main">
              <a:ext uri="{FF2B5EF4-FFF2-40B4-BE49-F238E27FC236}">
                <a16:creationId xmlns:a16="http://schemas.microsoft.com/office/drawing/2014/main" id="{C0B83BC2-4A27-459A-AB0D-3FD2F09F3B00}"/>
              </a:ext>
            </a:extLst>
          </p:cNvPr>
          <p:cNvSpPr>
            <a:spLocks xmlns:a="http://schemas.openxmlformats.org/drawingml/2006/main" noGrp="1"/>
          </p:cNvSpPr>
          <p:nvPr/>
        </p:nvSpPr>
        <p:spPr>
          <a:xfrm xmlns:a="http://schemas.openxmlformats.org/drawingml/2006/main">
            <a:off x="5110764" y="4334256"/>
            <a:ext cx="1970166" cy="1719072"/>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5875">
            <a:solidFill>
              <a:srgbClr val="FFFFFF"/>
            </a:solidFill>
            <a:prstDash val="solid"/>
          </a:ln>
        </p:spPr>
      </p:sp>
      <p:sp>
        <p:nvSpPr>
          <p:cNvPr id="40" name="Text 37">
            <a:extLst xmlns:a="http://schemas.openxmlformats.org/drawingml/2006/main">
              <a:ext uri="{FF2B5EF4-FFF2-40B4-BE49-F238E27FC236}">
                <a16:creationId xmlns:a16="http://schemas.microsoft.com/office/drawing/2014/main" id="{268730F2-1C4A-4400-B483-77D5B2CC2DE7}"/>
              </a:ext>
            </a:extLst>
          </p:cNvPr>
          <p:cNvSpPr>
            <a:spLocks xmlns:a="http://schemas.openxmlformats.org/drawingml/2006/main" noGrp="1"/>
          </p:cNvSpPr>
          <p:nvPr/>
        </p:nvSpPr>
        <p:spPr>
          <a:xfrm xmlns:a="http://schemas.openxmlformats.org/drawingml/2006/main">
            <a:off x="5238780" y="4462272"/>
            <a:ext cx="17141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Recruit 8–12 invitees</a:t>
            </a:r>
            <a:endParaRPr sz="1250"/>
          </a:p>
        </p:txBody>
      </p:sp>
      <p:sp>
        <p:nvSpPr>
          <p:cNvPr id="41" name="Shape 38">
            <a:extLst xmlns:a="http://schemas.openxmlformats.org/drawingml/2006/main">
              <a:ext uri="{FF2B5EF4-FFF2-40B4-BE49-F238E27FC236}">
                <a16:creationId xmlns:a16="http://schemas.microsoft.com/office/drawing/2014/main" id="{070CD08A-BA80-4F13-98BE-92C96EA6B2A4}"/>
              </a:ext>
            </a:extLst>
          </p:cNvPr>
          <p:cNvSpPr>
            <a:spLocks xmlns:a="http://schemas.openxmlformats.org/drawingml/2006/main" noGrp="1"/>
          </p:cNvSpPr>
          <p:nvPr/>
        </p:nvSpPr>
        <p:spPr>
          <a:xfrm xmlns:a="http://schemas.openxmlformats.org/drawingml/2006/main">
            <a:off x="7126651" y="5193792"/>
            <a:ext cx="219456"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42" name="Shape 39">
            <a:extLst xmlns:a="http://schemas.openxmlformats.org/drawingml/2006/main">
              <a:ext uri="{FF2B5EF4-FFF2-40B4-BE49-F238E27FC236}">
                <a16:creationId xmlns:a16="http://schemas.microsoft.com/office/drawing/2014/main" id="{4CF3BAA1-FD9F-49A6-A407-05BAD488FED8}"/>
              </a:ext>
            </a:extLst>
          </p:cNvPr>
          <p:cNvSpPr>
            <a:spLocks xmlns:a="http://schemas.openxmlformats.org/drawingml/2006/main" noGrp="1"/>
          </p:cNvSpPr>
          <p:nvPr/>
        </p:nvSpPr>
        <p:spPr>
          <a:xfrm xmlns:a="http://schemas.openxmlformats.org/drawingml/2006/main">
            <a:off x="7391827" y="4334256"/>
            <a:ext cx="1970166" cy="1719072"/>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5875">
            <a:solidFill>
              <a:srgbClr val="FFFFFF"/>
            </a:solidFill>
            <a:prstDash val="solid"/>
          </a:ln>
        </p:spPr>
      </p:sp>
      <p:sp>
        <p:nvSpPr>
          <p:cNvPr id="43" name="Text 40">
            <a:extLst xmlns:a="http://schemas.openxmlformats.org/drawingml/2006/main">
              <a:ext uri="{FF2B5EF4-FFF2-40B4-BE49-F238E27FC236}">
                <a16:creationId xmlns:a16="http://schemas.microsoft.com/office/drawing/2014/main" id="{00CAEB8C-4F87-40B2-A085-08F92A283127}"/>
              </a:ext>
            </a:extLst>
          </p:cNvPr>
          <p:cNvSpPr>
            <a:spLocks xmlns:a="http://schemas.openxmlformats.org/drawingml/2006/main" noGrp="1"/>
          </p:cNvSpPr>
          <p:nvPr/>
        </p:nvSpPr>
        <p:spPr>
          <a:xfrm xmlns:a="http://schemas.openxmlformats.org/drawingml/2006/main">
            <a:off x="7519843" y="4462272"/>
            <a:ext cx="17141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Observe one session each</a:t>
            </a:r>
            <a:endParaRPr sz="1250"/>
          </a:p>
        </p:txBody>
      </p:sp>
      <p:sp>
        <p:nvSpPr>
          <p:cNvPr id="44" name="Shape 41">
            <a:extLst xmlns:a="http://schemas.openxmlformats.org/drawingml/2006/main">
              <a:ext uri="{FF2B5EF4-FFF2-40B4-BE49-F238E27FC236}">
                <a16:creationId xmlns:a16="http://schemas.microsoft.com/office/drawing/2014/main" id="{2CD7D2B8-5836-4903-B809-1BF7DE7008C6}"/>
              </a:ext>
            </a:extLst>
          </p:cNvPr>
          <p:cNvSpPr>
            <a:spLocks xmlns:a="http://schemas.openxmlformats.org/drawingml/2006/main" noGrp="1"/>
          </p:cNvSpPr>
          <p:nvPr/>
        </p:nvSpPr>
        <p:spPr>
          <a:xfrm xmlns:a="http://schemas.openxmlformats.org/drawingml/2006/main">
            <a:off x="9407713" y="5193792"/>
            <a:ext cx="219456" cy="0"/>
          </a:xfrm>
          <a:prstGeom xmlns:a="http://schemas.openxmlformats.org/drawingml/2006/main" prst="line">
            <a:avLst/>
          </a:prstGeom>
          <a:noFill xmlns:a="http://schemas.openxmlformats.org/drawingml/2006/main"/>
          <a:ln xmlns:a="http://schemas.openxmlformats.org/drawingml/2006/main" w="28575">
            <a:solidFill>
              <a:srgbClr val="8FA6C4"/>
            </a:solidFill>
            <a:prstDash val="solid"/>
            <a:tailEnd type="triangle"/>
          </a:ln>
        </p:spPr>
      </p:sp>
      <p:sp>
        <p:nvSpPr>
          <p:cNvPr id="45" name="Shape 42">
            <a:extLst xmlns:a="http://schemas.openxmlformats.org/drawingml/2006/main">
              <a:ext uri="{FF2B5EF4-FFF2-40B4-BE49-F238E27FC236}">
                <a16:creationId xmlns:a16="http://schemas.microsoft.com/office/drawing/2014/main" id="{19C60723-0152-4A28-9D9D-BC634EB69A98}"/>
              </a:ext>
            </a:extLst>
          </p:cNvPr>
          <p:cNvSpPr>
            <a:spLocks xmlns:a="http://schemas.openxmlformats.org/drawingml/2006/main" noGrp="1"/>
          </p:cNvSpPr>
          <p:nvPr/>
        </p:nvSpPr>
        <p:spPr>
          <a:xfrm xmlns:a="http://schemas.openxmlformats.org/drawingml/2006/main">
            <a:off x="9672889" y="4334256"/>
            <a:ext cx="1970166" cy="1719072"/>
          </a:xfrm>
          <a:prstGeom xmlns:a="http://schemas.openxmlformats.org/drawingml/2006/main" prst="roundRect">
            <a:avLst>
              <a:gd name="adj" fmla="val 4255"/>
            </a:avLst>
          </a:prstGeom>
          <a:solidFill xmlns:a="http://schemas.openxmlformats.org/drawingml/2006/main">
            <a:srgbClr val="F0956A"/>
          </a:solidFill>
          <a:ln xmlns:a="http://schemas.openxmlformats.org/drawingml/2006/main" w="15875">
            <a:solidFill>
              <a:srgbClr val="F0956A"/>
            </a:solidFill>
            <a:prstDash val="solid"/>
          </a:ln>
        </p:spPr>
      </p:sp>
      <p:sp>
        <p:nvSpPr>
          <p:cNvPr id="46" name="Text 43">
            <a:extLst xmlns:a="http://schemas.openxmlformats.org/drawingml/2006/main">
              <a:ext uri="{FF2B5EF4-FFF2-40B4-BE49-F238E27FC236}">
                <a16:creationId xmlns:a16="http://schemas.microsoft.com/office/drawing/2014/main" id="{4268C867-11D4-4BE9-A22F-E419EB6A43C4}"/>
              </a:ext>
            </a:extLst>
          </p:cNvPr>
          <p:cNvSpPr>
            <a:spLocks xmlns:a="http://schemas.openxmlformats.org/drawingml/2006/main" noGrp="1"/>
          </p:cNvSpPr>
          <p:nvPr/>
        </p:nvSpPr>
        <p:spPr>
          <a:xfrm xmlns:a="http://schemas.openxmlformats.org/drawingml/2006/main">
            <a:off x="9800905" y="4462272"/>
            <a:ext cx="17141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250" b="1">
                <a:solidFill>
                  <a:srgbClr val="0B2545"/>
                </a:solidFill>
                <a:latin typeface="Helvetica Neue"/>
                <a:ea typeface="Helvetica Neue"/>
                <a:cs typeface="Helvetica Neue"/>
              </a:rPr>
              <a:t>Decide</a:t>
            </a:r>
            <a:endParaRPr sz="1250"/>
          </a:p>
        </p:txBody>
      </p:sp>
      <p:sp>
        <p:nvSpPr>
          <p:cNvPr id="47" name="Text 44">
            <a:extLst xmlns:a="http://schemas.openxmlformats.org/drawingml/2006/main">
              <a:ext uri="{FF2B5EF4-FFF2-40B4-BE49-F238E27FC236}">
                <a16:creationId xmlns:a16="http://schemas.microsoft.com/office/drawing/2014/main" id="{DD75F5DD-5E4E-4D7E-9CC1-C8B65FE61B2B}"/>
              </a:ext>
            </a:extLst>
          </p:cNvPr>
          <p:cNvSpPr>
            <a:spLocks xmlns:a="http://schemas.openxmlformats.org/drawingml/2006/main" noGrp="1"/>
          </p:cNvSpPr>
          <p:nvPr/>
        </p:nvSpPr>
        <p:spPr>
          <a:xfrm xmlns:a="http://schemas.openxmlformats.org/drawingml/2006/main">
            <a:off x="548640" y="6382512"/>
            <a:ext cx="3657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8FA6C4"/>
                </a:solidFill>
                <a:latin typeface="Helvetica Neue"/>
                <a:ea typeface="Helvetica Neue"/>
                <a:cs typeface="Helvetica Neue"/>
              </a:rPr>
              <a:t>Career Studio · Product handoff · September 9, 2026</a:t>
            </a:r>
            <a:endParaRPr sz="900"/>
          </a:p>
        </p:txBody>
      </p:sp>
      <p:sp>
        <p:nvSpPr>
          <p:cNvPr id="48" name="Text 45">
            <a:extLst xmlns:a="http://schemas.openxmlformats.org/drawingml/2006/main">
              <a:ext uri="{FF2B5EF4-FFF2-40B4-BE49-F238E27FC236}">
                <a16:creationId xmlns:a16="http://schemas.microsoft.com/office/drawing/2014/main" id="{6AABD94A-4BCD-43D5-9AD4-BFAAAF910AD0}"/>
              </a:ext>
            </a:extLst>
          </p:cNvPr>
          <p:cNvSpPr>
            <a:spLocks xmlns:a="http://schemas.openxmlformats.org/drawingml/2006/main" noGrp="1"/>
          </p:cNvSpPr>
          <p:nvPr/>
        </p:nvSpPr>
        <p:spPr>
          <a:xfrm xmlns:a="http://schemas.openxmlformats.org/drawingml/2006/main">
            <a:off x="10058400" y="6382512"/>
            <a:ext cx="158465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00">
                <a:solidFill>
                  <a:srgbClr val="8FA6C4"/>
                </a:solidFill>
                <a:latin typeface="Helvetica Neue"/>
                <a:ea typeface="Helvetica Neue"/>
                <a:cs typeface="Helvetica Neue"/>
              </a:rPr>
              <a:t>29 / 29</a:t>
            </a:r>
            <a:endParaRPr sz="900"/>
          </a:p>
        </p:txBody>
      </p:sp>
    </p:spTree>
    <p:extLst>
      <p:ext uri="{BB962C8B-B14F-4D97-AF65-F5344CB8AC3E}">
        <p14:creationId xmlns:p14="http://schemas.microsoft.com/office/powerpoint/2010/main" val="1717295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2026-09-09T14:32:48.1390000Z</dcterms:created>
  <dcterms:modified xsi:type="dcterms:W3CDTF">2026-09-09T14:32:48.1390000Z</dcterms:modified>
</coreProperties>
</file>